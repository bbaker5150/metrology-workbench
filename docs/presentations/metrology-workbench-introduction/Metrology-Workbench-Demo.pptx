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011c67f121432c" /><Relationship Type="http://schemas.openxmlformats.org/officeDocument/2006/relationships/extended-properties" Target="/docProps/app.xml" Id="Rd30affff6a8e44f9" /><Relationship Type="http://schemas.openxmlformats.org/officeDocument/2006/relationships/officeDocument" Target="/ppt/presentation.xml" Id="Rd9ab7cf91e8e46f9" /></Relationships>
</file>

<file path=ppt/presentation.xml><?xml version="1.0" encoding="utf-8"?>
<p:presentation xmlns:p="http://schemas.openxmlformats.org/presentationml/2006/main">
  <p:sldMasterIdLst>
    <p:sldMasterId xmlns:r="http://schemas.openxmlformats.org/officeDocument/2006/relationships" id="2147483648" r:id="Re5e8bb107d0142f6"/>
  </p:sldMasterIdLst>
  <p:notesMasterIdLst>
    <p:notesMasterId xmlns:r="http://schemas.openxmlformats.org/officeDocument/2006/relationships" r:id="Raebdf23119e841b6"/>
  </p:notesMasterIdLst>
  <p:sldIdLst>
    <p:sldId xmlns:r="http://schemas.openxmlformats.org/officeDocument/2006/relationships" id="256" r:id="R97ab1773eedd4229"/>
    <p:sldId xmlns:r="http://schemas.openxmlformats.org/officeDocument/2006/relationships" id="257" r:id="Rb11137c96d484593"/>
    <p:sldId xmlns:r="http://schemas.openxmlformats.org/officeDocument/2006/relationships" id="258" r:id="Re651b531c6754eeb"/>
    <p:sldId xmlns:r="http://schemas.openxmlformats.org/officeDocument/2006/relationships" id="259" r:id="R36e79a6125f7423c"/>
    <p:sldId xmlns:r="http://schemas.openxmlformats.org/officeDocument/2006/relationships" id="260" r:id="R291e88acdc634b51"/>
    <p:sldId xmlns:r="http://schemas.openxmlformats.org/officeDocument/2006/relationships" id="261" r:id="R0fbac6a127134db6"/>
    <p:sldId xmlns:r="http://schemas.openxmlformats.org/officeDocument/2006/relationships" id="262" r:id="R989ad3a8eaea48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6bc24a31494d18" /><Relationship Type="http://schemas.openxmlformats.org/officeDocument/2006/relationships/slideMaster" Target="/ppt/slideMasters/slideMaster1.xml" Id="Re5e8bb107d0142f6" /><Relationship Type="http://schemas.openxmlformats.org/officeDocument/2006/relationships/notesMaster" Target="/ppt/notesMasters/notesMaster1.xml" Id="Raebdf23119e841b6" /><Relationship Type="http://schemas.openxmlformats.org/officeDocument/2006/relationships/presProps" Target="/ppt/presProps.xml" Id="Rf58a086d7b8f4ca8" /><Relationship Type="http://schemas.openxmlformats.org/officeDocument/2006/relationships/tableStyles" Target="/ppt/tableStyles.xml" Id="Rddd227dd3d7f4785" /><Relationship Type="http://schemas.openxmlformats.org/officeDocument/2006/relationships/slide" Target="/ppt/slides/slide1.xml" Id="R97ab1773eedd4229" /><Relationship Type="http://schemas.openxmlformats.org/officeDocument/2006/relationships/slide" Target="/ppt/slides/slide2.xml" Id="Rb11137c96d484593" /><Relationship Type="http://schemas.openxmlformats.org/officeDocument/2006/relationships/slide" Target="/ppt/slides/slide3.xml" Id="Re651b531c6754eeb" /><Relationship Type="http://schemas.openxmlformats.org/officeDocument/2006/relationships/slide" Target="/ppt/slides/slide4.xml" Id="R36e79a6125f7423c" /><Relationship Type="http://schemas.openxmlformats.org/officeDocument/2006/relationships/slide" Target="/ppt/slides/slide5.xml" Id="R291e88acdc634b51" /><Relationship Type="http://schemas.openxmlformats.org/officeDocument/2006/relationships/slide" Target="/ppt/slides/slide6.xml" Id="R0fbac6a127134db6" /><Relationship Type="http://schemas.openxmlformats.org/officeDocument/2006/relationships/slide" Target="/ppt/slides/slide7.xml" Id="R989ad3a8eaea48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810f522e8342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6e9f55000b460d" /><Relationship Type="http://schemas.openxmlformats.org/officeDocument/2006/relationships/notesMaster" Target="/ppt/notesMasters/notesMaster1.xml" Id="R8ea1e742c7f948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f07f54d7d74282" /><Relationship Type="http://schemas.openxmlformats.org/officeDocument/2006/relationships/notesMaster" Target="/ppt/notesMasters/notesMaster1.xml" Id="R67bc322695b444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7f79660459464c" /><Relationship Type="http://schemas.openxmlformats.org/officeDocument/2006/relationships/notesMaster" Target="/ppt/notesMasters/notesMaster1.xml" Id="Rb6a16c6f7cbb4d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838197e7ff423d" /><Relationship Type="http://schemas.openxmlformats.org/officeDocument/2006/relationships/notesMaster" Target="/ppt/notesMasters/notesMaster1.xml" Id="R5f890334ac3e49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6bd27c104d4385" /><Relationship Type="http://schemas.openxmlformats.org/officeDocument/2006/relationships/notesMaster" Target="/ppt/notesMasters/notesMaster1.xml" Id="R2d3435f6ff084f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be19eae9504df5" /><Relationship Type="http://schemas.openxmlformats.org/officeDocument/2006/relationships/notesMaster" Target="/ppt/notesMasters/notesMaster1.xml" Id="R81cb7b73b2eb43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d3f44e21ec4100" /><Relationship Type="http://schemas.openxmlformats.org/officeDocument/2006/relationships/notesMaster" Target="/ppt/notesMasters/notesMaster1.xml" Id="Rd5a502bb726947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center of this slide is a real screenshot of the running Metrology Workbench home page, cropped to emphasize the emblem, title and three module launchers. The descriptions beneath the screenshot are presentation annotations. The screenshot has not been redrawn. Introduce the suite from left to right: acquire measurements, analyze uncertainty and decision risk, then prepare a report.</a:t>
            </a:r>
          </a:p>
          <a:p xmlns:a="http://schemas.openxmlformats.org/drawingml/2006/main">
            <a:r>
              <a:t/>
            </a:r>
          </a:p>
          <a:p xmlns:a="http://schemas.openxmlformats.org/drawingml/2006/main">
            <a:r>
              <a:t>1. Metrology Workbench</a:t>
            </a:r>
          </a:p>
          <a:p xmlns:a="http://schemas.openxmlformats.org/drawingml/2006/main">
            <a:r>
              <a:t/>
            </a:r>
          </a:p>
          <a:p xmlns:a="http://schemas.openxmlformats.org/drawingml/2006/main">
            <a:r>
              <a:t>Metrology Workbench brings three complementary tools into one home screen. Run Calibration handles supported Y5020 and A40B calibration workflows. Uncertainty Budget carries saved Type A results into a wider analysis of measurement uncertainty and decision risk. Report of Calibration imports saved calibration results into an editable report. Users review instrument definitions, analysis assumptions and report metadata as part of their work. The architecture supports additional modules and calibration capabilities in the future.</a:t>
            </a:r>
          </a:p>
          <a:p xmlns:a="http://schemas.openxmlformats.org/drawingml/2006/main">
            <a:r>
              <a:t/>
            </a:r>
          </a:p>
          <a:p xmlns:a="http://schemas.openxmlformats.org/drawingml/2006/main">
            <a:r>
              <a:t>Sources: user-supplied Tasking.docx; Frontend/workbench/src/app/HomeLauncher.jsx; Frontend/workbench/src/app/moduleRegistry.jsx. Home layout follows the image in Tasking.docx. Calibration artwork is an AI illustration based on user-supplied Photo 1.jpg. Other visual elements are illustrative. The distribution is conceptual; the simplified sum of variances assumes uncorrelated contributions expressed in common output 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supports editable PowerPoint text and layout shapes. The equipment remains a separate replaceable raster image. All instrument display windows are black as requested. The reference-based illustration was generated from the user-supplied laboratory photo and the prior artwork; it is not an exact wiring diagram or an unmodified photograph. The module supports Y5020 and A40B measurement sessions, instrument settings, stability monitoring, saved results and Type A uncertainty. Type A is one contribution to a complete uncertainty budget.</a:t>
            </a:r>
          </a:p>
          <a:p xmlns:a="http://schemas.openxmlformats.org/drawingml/2006/main">
            <a:r>
              <a:t/>
            </a:r>
          </a:p>
          <a:p xmlns:a="http://schemas.openxmlformats.org/drawingml/2006/main">
            <a:r>
              <a:t>Sources: Tasking.docx; Photo 1.jpg; Frontend/workbench/src/modules/ac-shunt/components/session/SessionSetup.jsx; components/calibration/Calibration.jsx, LiveStabilityTracker.jsx, CycleStatisticsTracker.jsx and CalibrationResults.jsx.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browser screenshot from Run Calibration. The sample is the isolated [MOCK] UI Development session. The walkthrough selects a saved 1 A, 1 kHz point, opens Results and switches between chart and table. No physical instruments were operated. The sample values demonstrate interface behavior, not an instrument performance claim. Video: videos/01-calibration-walkthrough.webm.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text, diagram boxes and arrows on this slide are native editable PowerPoint objects. The diagram is conceptual, not a numerical result or a plot of measured data. Contributions are expressed in common output units through the measurement model, including sensitivity coefficients and correlations where applicable. Expanded uncertainty applies a coverage factor to combined standard uncertainty. The module can import saved Type A results, use shared instrument definitions, assess test uncertainty ratio and decision risk, and explore guardband options.</a:t>
            </a:r>
          </a:p>
          <a:p xmlns:a="http://schemas.openxmlformats.org/drawingml/2006/main">
            <a:r>
              <a:t/>
            </a:r>
          </a:p>
          <a:p xmlns:a="http://schemas.openxmlformats.org/drawingml/2006/main">
            <a:r>
              <a:t>Sources: Tasking.docx; Frontend/workbench/src/modules/uncertainty/components/tools/AcShuntImportTool.jsx; src/modules/uncertainty/App.jsx; src/modules/uncertainty/constants/constants.js. The adjacent actual-software slide and video use a separate synthetic voltage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browser screenshot from the Uncertainty Budget module (Uncertalytics). This separate synthetic voltage session contains three points and illustrative reference, repeatability and temperature contributions. Calculations shown are produced by the application. It is not the same dataset as the calibration recording and does not claim that an end-to-end shunt import was demonstrated. The contribution chart identifies the dominant term. PFA and PFR represent probability of false acceptance and false rejection under the configured assumptions. Video: videos/02-uncertainty-walkthrough.webm.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text, document shapes and the three-column table on this slide are native editable PowerPoint elements. The white document is a schematic report structure, not a screenshot or a valid certificate. The module imports saved calibration results and stored uncertainty values; users complete and review metadata, sections and statements before export. Current report import maps stored expanded uncertainty and coverage factor. Technical review remains part of the reporting workflow.</a:t>
            </a:r>
          </a:p>
          <a:p xmlns:a="http://schemas.openxmlformats.org/drawingml/2006/main">
            <a:r>
              <a:t/>
            </a:r>
          </a:p>
          <a:p xmlns:a="http://schemas.openxmlformats.org/drawingml/2006/main">
            <a:r>
              <a:t>Sources: Tasking.docx; Backend/ac_shunt/reports/services.py; Frontend/workbench/src/modules/reports/components/AcShuntImport.jsx, ReportBuilder.jsx and PDFPreview.jsx.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browser screenshot from Report of Calibration. The demonstration report was populated from the saved mock AC-shunt session and labeled DEMONSTRATION ONLY. Metadata and procedure text were entered for the demonstration. The clip selects the saved record, opens Report Sections and scrolls the PDF preview. Export controls provide Excel and PDF. This sample is not a valid calibration certificate. Video: videos/03-report-walkthrough.webm.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6726ef83b440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2492e8e1774e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8d495f5ba349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12747374e843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59795603ec94e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ea4544199744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A1E60A-95C0-40BB-A4C6-D7EF307E8F5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20B3FF-C486-4345-80C4-2412AD4DBB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BCDB477-3CB5-4522-B763-E3F4F440F68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B0FC10-37C0-49F9-A813-D5B14B51D0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91C0857-3E3E-4D3D-94FF-C16573D0ECF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F101BE-0F98-487A-9B50-D9B8D8974A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50F13D-CC83-4AED-A432-A061F8E67C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CFBF465-92E4-43FC-BEA8-A2781366FA1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3CA066-C84C-4B5E-B825-737B136B1C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C58B2A1-5591-4A25-A89F-2EC385689E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7e50f8f9694e9c" /><Relationship Type="http://schemas.openxmlformats.org/officeDocument/2006/relationships/slideLayout" Target="/ppt/slideLayouts/slideLayout1.xml" Id="Rda7da052047f4b18" /><Relationship Type="http://schemas.openxmlformats.org/officeDocument/2006/relationships/slideLayout" Target="/ppt/slideLayouts/slideLayout2.xml" Id="Rd4ebf68549ba4940" /><Relationship Type="http://schemas.openxmlformats.org/officeDocument/2006/relationships/slideLayout" Target="/ppt/slideLayouts/slideLayout3.xml" Id="R441f3b2f4db7432e" /><Relationship Type="http://schemas.openxmlformats.org/officeDocument/2006/relationships/slideLayout" Target="/ppt/slideLayouts/slideLayout4.xml" Id="R280ce60c5b20448e" /><Relationship Type="http://schemas.openxmlformats.org/officeDocument/2006/relationships/slideLayout" Target="/ppt/slideLayouts/slideLayout5.xml" Id="R3b31e75812564a6d" /><Relationship Type="http://schemas.openxmlformats.org/officeDocument/2006/relationships/slideLayout" Target="/ppt/slideLayouts/slideLayout6.xml" Id="R261a43094e3246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7da052047f4b18"/>
    <p:sldLayoutId xmlns:r="http://schemas.openxmlformats.org/officeDocument/2006/relationships" id="2147483650" r:id="Rd4ebf68549ba4940"/>
    <p:sldLayoutId xmlns:r="http://schemas.openxmlformats.org/officeDocument/2006/relationships" id="2147483651" r:id="R441f3b2f4db7432e"/>
    <p:sldLayoutId xmlns:r="http://schemas.openxmlformats.org/officeDocument/2006/relationships" id="2147483652" r:id="R280ce60c5b20448e"/>
    <p:sldLayoutId xmlns:r="http://schemas.openxmlformats.org/officeDocument/2006/relationships" id="2147483653" r:id="R3b31e75812564a6d"/>
    <p:sldLayoutId xmlns:r="http://schemas.openxmlformats.org/officeDocument/2006/relationships" id="2147483654" r:id="R261a43094e3246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2a810491a14f4d" /><Relationship Type="http://schemas.openxmlformats.org/officeDocument/2006/relationships/image" Target="/ppt/media/image.png" Id="R063a73b74b8b4be7" /><Relationship Type="http://schemas.openxmlformats.org/officeDocument/2006/relationships/notesSlide" Target="/ppt/notesSlides/notesSlide1.xml" Id="R3a3f7239590745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0afc165ff546a9" /><Relationship Type="http://schemas.openxmlformats.org/officeDocument/2006/relationships/image" Target="/ppt/media/image2.png" Id="Re97ed8e5c93642fb" /><Relationship Type="http://schemas.openxmlformats.org/officeDocument/2006/relationships/notesSlide" Target="/ppt/notesSlides/notesSlide2.xml" Id="R56a032f480364e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d766acc84ec4338" /><Relationship Type="http://schemas.openxmlformats.org/officeDocument/2006/relationships/image" Target="/ppt/media/image3.png" Id="R72665d0bf3d74ac8" /><Relationship Type="http://schemas.openxmlformats.org/officeDocument/2006/relationships/notesSlide" Target="/ppt/notesSlides/notesSlide3.xml" Id="Rb33f4a0d618847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01913c9c6924057" /><Relationship Type="http://schemas.openxmlformats.org/officeDocument/2006/relationships/notesSlide" Target="/ppt/notesSlides/notesSlide4.xml" Id="R3b6dc41cb97648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935b67365b4076" /><Relationship Type="http://schemas.openxmlformats.org/officeDocument/2006/relationships/image" Target="/ppt/media/image4.png" Id="R8c6e19fe54504656" /><Relationship Type="http://schemas.openxmlformats.org/officeDocument/2006/relationships/notesSlide" Target="/ppt/notesSlides/notesSlide5.xml" Id="R9f011952857044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446efabc064480" /><Relationship Type="http://schemas.openxmlformats.org/officeDocument/2006/relationships/notesSlide" Target="/ppt/notesSlides/notesSlide6.xml" Id="R10b68c8abb6349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9db463f60bd4656" /><Relationship Type="http://schemas.openxmlformats.org/officeDocument/2006/relationships/image" Target="/ppt/media/image5.png" Id="R0dd015ca305248ae" /><Relationship Type="http://schemas.openxmlformats.org/officeDocument/2006/relationships/notesSlide" Target="/ppt/notesSlides/notesSlide7.xml" Id="Ra1cfe181d28045ee" /></Relationships>
</file>

<file path=ppt/slides/slide1.xml><?xml version="1.0" encoding="utf-8"?>
<p:sld xmlns:p="http://schemas.openxmlformats.org/presentationml/2006/main">
  <p:cSld>
    <p:bg>
      <p:bgPr>
        <a:solidFill xmlns:a="http://schemas.openxmlformats.org/drawingml/2006/main">
          <a:srgbClr val="08142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9AD493F-E3BC-4EEC-A539-49D260614F22}"/>
              </a:ext>
            </a:extLst>
          </p:cNvPr>
          <p:cNvSpPr>
            <a:spLocks xmlns:a="http://schemas.openxmlformats.org/drawingml/2006/main" noGrp="1"/>
          </p:cNvSpPr>
          <p:nvPr/>
        </p:nvSpPr>
        <p:spPr>
          <a:xfrm xmlns:a="http://schemas.openxmlformats.org/drawingml/2006/main">
            <a:off x="495300" y="2476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25" b="1">
                <a:solidFill>
                  <a:srgbClr val="65D4EC"/>
                </a:solidFill>
              </a:defRPr>
            </a:defPPr>
            <a:lvl1pPr>
              <a:buNone/>
              <a:defRPr sz="1125" b="1">
                <a:solidFill>
                  <a:srgbClr val="65D4EC"/>
                </a:solidFill>
              </a:defRPr>
            </a:lvl1pPr>
            <a:lvl2pPr>
              <a:buNone/>
              <a:defRPr sz="1125" b="1">
                <a:solidFill>
                  <a:srgbClr val="65D4EC"/>
                </a:solidFill>
              </a:defRPr>
            </a:lvl2pPr>
            <a:lvl3pPr>
              <a:buNone/>
              <a:defRPr sz="1125" b="1">
                <a:solidFill>
                  <a:srgbClr val="65D4EC"/>
                </a:solidFill>
              </a:defRPr>
            </a:lvl3pPr>
            <a:lvl4pPr>
              <a:buNone/>
              <a:defRPr sz="1125" b="1">
                <a:solidFill>
                  <a:srgbClr val="65D4EC"/>
                </a:solidFill>
              </a:defRPr>
            </a:lvl4pPr>
            <a:lvl5pPr>
              <a:buNone/>
              <a:defRPr sz="1125" b="1">
                <a:solidFill>
                  <a:srgbClr val="65D4EC"/>
                </a:solidFill>
              </a:defRPr>
            </a:lvl5pPr>
            <a:lvl6pPr>
              <a:buNone/>
              <a:defRPr sz="1125" b="1">
                <a:solidFill>
                  <a:srgbClr val="65D4EC"/>
                </a:solidFill>
              </a:defRPr>
            </a:lvl6pPr>
            <a:lvl7pPr>
              <a:buNone/>
              <a:defRPr sz="1125" b="1">
                <a:solidFill>
                  <a:srgbClr val="65D4EC"/>
                </a:solidFill>
              </a:defRPr>
            </a:lvl7pPr>
            <a:lvl8pPr>
              <a:buNone/>
              <a:defRPr sz="1125" b="1">
                <a:solidFill>
                  <a:srgbClr val="65D4EC"/>
                </a:solidFill>
              </a:defRPr>
            </a:lvl8pPr>
            <a:lvl9pPr>
              <a:buNone/>
              <a:defRPr sz="1125" b="1">
                <a:solidFill>
                  <a:srgbClr val="65D4EC"/>
                </a:solidFill>
              </a:defRPr>
            </a:lvl9pPr>
          </a:lstStyle>
          <a:p xmlns:a="http://schemas.openxmlformats.org/drawingml/2006/main">
            <a:pPr>
              <a:buNone/>
              <a:defRPr sz="1125" b="1">
                <a:solidFill>
                  <a:srgbClr val="65D4EC"/>
                </a:solidFill>
              </a:defRPr>
            </a:pPr>
            <a:r>
              <a:rPr sz="1125" b="1">
                <a:solidFill>
                  <a:srgbClr val="65D4EC"/>
                </a:solidFill>
              </a:rPr>
              <a:t>NAVY PRIMARY STANDARDS LABORATORY</a:t>
            </a:r>
          </a:p>
        </p:txBody>
      </p:sp>
      <p:sp>
        <p:nvSpPr>
          <p:cNvPr id="2" name="">
            <a:extLst xmlns:a="http://schemas.openxmlformats.org/drawingml/2006/main">
              <a:ext uri="{FF2B5EF4-FFF2-40B4-BE49-F238E27FC236}">
                <a16:creationId xmlns:a16="http://schemas.microsoft.com/office/drawing/2014/main" id="{B993B4EC-63FD-497A-BFAE-EB37D96BCE34}"/>
              </a:ext>
            </a:extLst>
          </p:cNvPr>
          <p:cNvSpPr>
            <a:spLocks xmlns:a="http://schemas.openxmlformats.org/drawingml/2006/main" noGrp="1"/>
          </p:cNvSpPr>
          <p:nvPr/>
        </p:nvSpPr>
        <p:spPr>
          <a:xfrm xmlns:a="http://schemas.openxmlformats.org/drawingml/2006/main">
            <a:off x="495300" y="590550"/>
            <a:ext cx="11239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3300" b="1">
                <a:solidFill>
                  <a:srgbClr val="FFFFFF"/>
                </a:solidFill>
              </a:defRPr>
            </a:defPPr>
            <a:lvl1pPr>
              <a:buNone/>
              <a:defRPr sz="3300" b="1">
                <a:solidFill>
                  <a:srgbClr val="FFFFFF"/>
                </a:solidFill>
              </a:defRPr>
            </a:lvl1pPr>
            <a:lvl2pPr>
              <a:buNone/>
              <a:defRPr sz="3300" b="1">
                <a:solidFill>
                  <a:srgbClr val="FFFFFF"/>
                </a:solidFill>
              </a:defRPr>
            </a:lvl2pPr>
            <a:lvl3pPr>
              <a:buNone/>
              <a:defRPr sz="3300" b="1">
                <a:solidFill>
                  <a:srgbClr val="FFFFFF"/>
                </a:solidFill>
              </a:defRPr>
            </a:lvl3pPr>
            <a:lvl4pPr>
              <a:buNone/>
              <a:defRPr sz="3300" b="1">
                <a:solidFill>
                  <a:srgbClr val="FFFFFF"/>
                </a:solidFill>
              </a:defRPr>
            </a:lvl4pPr>
            <a:lvl5pPr>
              <a:buNone/>
              <a:defRPr sz="3300" b="1">
                <a:solidFill>
                  <a:srgbClr val="FFFFFF"/>
                </a:solidFill>
              </a:defRPr>
            </a:lvl5pPr>
            <a:lvl6pPr>
              <a:buNone/>
              <a:defRPr sz="3300" b="1">
                <a:solidFill>
                  <a:srgbClr val="FFFFFF"/>
                </a:solidFill>
              </a:defRPr>
            </a:lvl6pPr>
            <a:lvl7pPr>
              <a:buNone/>
              <a:defRPr sz="3300" b="1">
                <a:solidFill>
                  <a:srgbClr val="FFFFFF"/>
                </a:solidFill>
              </a:defRPr>
            </a:lvl7pPr>
            <a:lvl8pPr>
              <a:buNone/>
              <a:defRPr sz="3300" b="1">
                <a:solidFill>
                  <a:srgbClr val="FFFFFF"/>
                </a:solidFill>
              </a:defRPr>
            </a:lvl8pPr>
            <a:lvl9pPr>
              <a:buNone/>
              <a:defRPr sz="3300" b="1">
                <a:solidFill>
                  <a:srgbClr val="FFFFFF"/>
                </a:solidFill>
              </a:defRPr>
            </a:lvl9pPr>
          </a:lstStyle>
          <a:p xmlns:a="http://schemas.openxmlformats.org/drawingml/2006/main">
            <a:pPr>
              <a:buNone/>
              <a:defRPr sz="3300" b="1">
                <a:solidFill>
                  <a:srgbClr val="FFFFFF"/>
                </a:solidFill>
              </a:defRPr>
            </a:pPr>
            <a:r>
              <a:rPr sz="3300" b="1">
                <a:solidFill>
                  <a:srgbClr val="FFFFFF"/>
                </a:solidFill>
              </a:rPr>
              <a:t>Calibration. Uncertainty. Reporting.</a:t>
            </a:r>
          </a:p>
        </p:txBody>
      </p:sp>
      <p:sp>
        <p:nvSpPr>
          <p:cNvPr id="3" name="">
            <a:extLst xmlns:a="http://schemas.openxmlformats.org/drawingml/2006/main">
              <a:ext uri="{FF2B5EF4-FFF2-40B4-BE49-F238E27FC236}">
                <a16:creationId xmlns:a16="http://schemas.microsoft.com/office/drawing/2014/main" id="{6185FECB-B5B2-4C94-A37A-C63D9FF32E1B}"/>
              </a:ext>
            </a:extLst>
          </p:cNvPr>
          <p:cNvSpPr>
            <a:spLocks xmlns:a="http://schemas.openxmlformats.org/drawingml/2006/main" noGrp="1"/>
          </p:cNvSpPr>
          <p:nvPr/>
        </p:nvSpPr>
        <p:spPr>
          <a:xfrm xmlns:a="http://schemas.openxmlformats.org/drawingml/2006/main">
            <a:off x="495300" y="1152525"/>
            <a:ext cx="11239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650" b="0">
                <a:solidFill>
                  <a:srgbClr val="CAD6E8"/>
                </a:solidFill>
              </a:defRPr>
            </a:defPPr>
            <a:lvl1pPr>
              <a:buNone/>
              <a:defRPr sz="1650" b="0">
                <a:solidFill>
                  <a:srgbClr val="CAD6E8"/>
                </a:solidFill>
              </a:defRPr>
            </a:lvl1pPr>
            <a:lvl2pPr>
              <a:buNone/>
              <a:defRPr sz="1650" b="0">
                <a:solidFill>
                  <a:srgbClr val="CAD6E8"/>
                </a:solidFill>
              </a:defRPr>
            </a:lvl2pPr>
            <a:lvl3pPr>
              <a:buNone/>
              <a:defRPr sz="1650" b="0">
                <a:solidFill>
                  <a:srgbClr val="CAD6E8"/>
                </a:solidFill>
              </a:defRPr>
            </a:lvl3pPr>
            <a:lvl4pPr>
              <a:buNone/>
              <a:defRPr sz="1650" b="0">
                <a:solidFill>
                  <a:srgbClr val="CAD6E8"/>
                </a:solidFill>
              </a:defRPr>
            </a:lvl4pPr>
            <a:lvl5pPr>
              <a:buNone/>
              <a:defRPr sz="1650" b="0">
                <a:solidFill>
                  <a:srgbClr val="CAD6E8"/>
                </a:solidFill>
              </a:defRPr>
            </a:lvl5pPr>
            <a:lvl6pPr>
              <a:buNone/>
              <a:defRPr sz="1650" b="0">
                <a:solidFill>
                  <a:srgbClr val="CAD6E8"/>
                </a:solidFill>
              </a:defRPr>
            </a:lvl6pPr>
            <a:lvl7pPr>
              <a:buNone/>
              <a:defRPr sz="1650" b="0">
                <a:solidFill>
                  <a:srgbClr val="CAD6E8"/>
                </a:solidFill>
              </a:defRPr>
            </a:lvl7pPr>
            <a:lvl8pPr>
              <a:buNone/>
              <a:defRPr sz="1650" b="0">
                <a:solidFill>
                  <a:srgbClr val="CAD6E8"/>
                </a:solidFill>
              </a:defRPr>
            </a:lvl8pPr>
            <a:lvl9pPr>
              <a:buNone/>
              <a:defRPr sz="1650" b="0">
                <a:solidFill>
                  <a:srgbClr val="CAD6E8"/>
                </a:solidFill>
              </a:defRPr>
            </a:lvl9pPr>
          </a:lstStyle>
          <a:p xmlns:a="http://schemas.openxmlformats.org/drawingml/2006/main">
            <a:pPr>
              <a:buNone/>
              <a:defRPr sz="1650" b="0">
                <a:solidFill>
                  <a:srgbClr val="CAD6E8"/>
                </a:solidFill>
              </a:defRPr>
            </a:pPr>
            <a:r>
              <a:rPr sz="1650" b="0">
                <a:solidFill>
                  <a:srgbClr val="CAD6E8"/>
                </a:solidFill>
              </a:rPr>
              <a:t>Three connected modules. One starting point for the measurement workflow.</a:t>
            </a:r>
          </a:p>
        </p:txBody>
      </p:sp>
      <p:sp>
        <p:nvSpPr>
          <p:cNvPr id="4" name="">
            <a:extLst xmlns:a="http://schemas.openxmlformats.org/drawingml/2006/main">
              <a:ext uri="{FF2B5EF4-FFF2-40B4-BE49-F238E27FC236}">
                <a16:creationId xmlns:a16="http://schemas.microsoft.com/office/drawing/2014/main" id="{8DBF0D58-4FC2-4F1C-BAE1-CD9C572F1385}"/>
              </a:ext>
            </a:extLst>
          </p:cNvPr>
          <p:cNvSpPr>
            <a:spLocks xmlns:a="http://schemas.openxmlformats.org/drawingml/2006/main" noGrp="1"/>
          </p:cNvSpPr>
          <p:nvPr/>
        </p:nvSpPr>
        <p:spPr>
          <a:xfrm xmlns:a="http://schemas.openxmlformats.org/drawingml/2006/main">
            <a:off x="466725" y="1628775"/>
            <a:ext cx="11258550" cy="3524250"/>
          </a:xfrm>
          <a:prstGeom xmlns:a="http://schemas.openxmlformats.org/drawingml/2006/main" prst="rect">
            <a:avLst/>
          </a:prstGeom>
          <a:solidFill xmlns:a="http://schemas.openxmlformats.org/drawingml/2006/main">
            <a:srgbClr val="0D182A"/>
          </a:solidFill>
          <a:ln xmlns:a="http://schemas.openxmlformats.org/drawingml/2006/main" w="9525">
            <a:solidFill>
              <a:srgbClr val="294560"/>
            </a:solidFill>
          </a:ln>
        </p:spPr>
      </p:sp>
      <p:pic>
        <p:nvPicPr>
          <p:cNvPr id="5" name="">
            <a:extLst xmlns:a="http://schemas.openxmlformats.org/drawingml/2006/main">
              <a:ext uri="{FF2B5EF4-FFF2-40B4-BE49-F238E27FC236}">
                <a16:creationId xmlns:a16="http://schemas.microsoft.com/office/drawing/2014/main" id="{3027AF6F-3E37-40CF-B6FA-C0E21DD544AA}"/>
              </a:ext>
            </a:extLst>
          </p:cNvPr>
          <p:cNvPicPr>
            <a:picLocks xmlns:a="http://schemas.openxmlformats.org/drawingml/2006/main" noChangeAspect="1"/>
          </p:cNvPicPr>
          <p:nvPr/>
        </p:nvPicPr>
        <p:blipFill>
          <a:blip xmlns:r="http://schemas.openxmlformats.org/officeDocument/2006/relationships" xmlns:a="http://schemas.openxmlformats.org/drawingml/2006/main" r:embed="R063a73b74b8b4be7"/>
          <a:stretch xmlns:a="http://schemas.openxmlformats.org/drawingml/2006/main"/>
        </p:blipFill>
        <p:spPr>
          <a:xfrm xmlns:a="http://schemas.openxmlformats.org/drawingml/2006/main">
            <a:off x="490538" y="1657350"/>
            <a:ext cx="11210925" cy="34575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F0A7F7D-0279-491B-8764-57264F978257}"/>
              </a:ext>
            </a:extLst>
          </p:cNvPr>
          <p:cNvSpPr>
            <a:spLocks xmlns:a="http://schemas.openxmlformats.org/drawingml/2006/main" noGrp="1"/>
          </p:cNvSpPr>
          <p:nvPr/>
        </p:nvSpPr>
        <p:spPr>
          <a:xfrm xmlns:a="http://schemas.openxmlformats.org/drawingml/2006/main">
            <a:off x="495300" y="5324475"/>
            <a:ext cx="3524250" cy="28575"/>
          </a:xfrm>
          <a:prstGeom xmlns:a="http://schemas.openxmlformats.org/drawingml/2006/main" prst="rect">
            <a:avLst/>
          </a:prstGeom>
          <a:solidFill xmlns:a="http://schemas.openxmlformats.org/drawingml/2006/main">
            <a:srgbClr val="43D3E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81652A4-4B7E-4664-A902-B6ABE59DB4E1}"/>
              </a:ext>
            </a:extLst>
          </p:cNvPr>
          <p:cNvSpPr>
            <a:spLocks xmlns:a="http://schemas.openxmlformats.org/drawingml/2006/main" noGrp="1"/>
          </p:cNvSpPr>
          <p:nvPr/>
        </p:nvSpPr>
        <p:spPr>
          <a:xfrm xmlns:a="http://schemas.openxmlformats.org/drawingml/2006/main">
            <a:off x="495300" y="5467350"/>
            <a:ext cx="352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43D3EF"/>
                </a:solidFill>
              </a:defRPr>
            </a:defPPr>
            <a:lvl1pPr>
              <a:buNone/>
              <a:defRPr sz="1350" b="1">
                <a:solidFill>
                  <a:srgbClr val="43D3EF"/>
                </a:solidFill>
              </a:defRPr>
            </a:lvl1pPr>
            <a:lvl2pPr>
              <a:buNone/>
              <a:defRPr sz="1350" b="1">
                <a:solidFill>
                  <a:srgbClr val="43D3EF"/>
                </a:solidFill>
              </a:defRPr>
            </a:lvl2pPr>
            <a:lvl3pPr>
              <a:buNone/>
              <a:defRPr sz="1350" b="1">
                <a:solidFill>
                  <a:srgbClr val="43D3EF"/>
                </a:solidFill>
              </a:defRPr>
            </a:lvl3pPr>
            <a:lvl4pPr>
              <a:buNone/>
              <a:defRPr sz="1350" b="1">
                <a:solidFill>
                  <a:srgbClr val="43D3EF"/>
                </a:solidFill>
              </a:defRPr>
            </a:lvl4pPr>
            <a:lvl5pPr>
              <a:buNone/>
              <a:defRPr sz="1350" b="1">
                <a:solidFill>
                  <a:srgbClr val="43D3EF"/>
                </a:solidFill>
              </a:defRPr>
            </a:lvl5pPr>
            <a:lvl6pPr>
              <a:buNone/>
              <a:defRPr sz="1350" b="1">
                <a:solidFill>
                  <a:srgbClr val="43D3EF"/>
                </a:solidFill>
              </a:defRPr>
            </a:lvl6pPr>
            <a:lvl7pPr>
              <a:buNone/>
              <a:defRPr sz="1350" b="1">
                <a:solidFill>
                  <a:srgbClr val="43D3EF"/>
                </a:solidFill>
              </a:defRPr>
            </a:lvl7pPr>
            <a:lvl8pPr>
              <a:buNone/>
              <a:defRPr sz="1350" b="1">
                <a:solidFill>
                  <a:srgbClr val="43D3EF"/>
                </a:solidFill>
              </a:defRPr>
            </a:lvl8pPr>
            <a:lvl9pPr>
              <a:buNone/>
              <a:defRPr sz="1350" b="1">
                <a:solidFill>
                  <a:srgbClr val="43D3EF"/>
                </a:solidFill>
              </a:defRPr>
            </a:lvl9pPr>
          </a:lstStyle>
          <a:p xmlns:a="http://schemas.openxmlformats.org/drawingml/2006/main">
            <a:pPr>
              <a:buNone/>
              <a:defRPr sz="1350" b="1">
                <a:solidFill>
                  <a:srgbClr val="43D3EF"/>
                </a:solidFill>
              </a:defRPr>
            </a:pPr>
            <a:r>
              <a:rPr sz="1350" b="1">
                <a:solidFill>
                  <a:srgbClr val="43D3EF"/>
                </a:solidFill>
              </a:rPr>
              <a:t>RUN CALIBRATION</a:t>
            </a:r>
          </a:p>
        </p:txBody>
      </p:sp>
      <p:sp>
        <p:nvSpPr>
          <p:cNvPr id="8" name="">
            <a:extLst xmlns:a="http://schemas.openxmlformats.org/drawingml/2006/main">
              <a:ext uri="{FF2B5EF4-FFF2-40B4-BE49-F238E27FC236}">
                <a16:creationId xmlns:a16="http://schemas.microsoft.com/office/drawing/2014/main" id="{8D17B04C-C64C-4816-9E4F-22645487DE5B}"/>
              </a:ext>
            </a:extLst>
          </p:cNvPr>
          <p:cNvSpPr>
            <a:spLocks xmlns:a="http://schemas.openxmlformats.org/drawingml/2006/main" noGrp="1"/>
          </p:cNvSpPr>
          <p:nvPr/>
        </p:nvSpPr>
        <p:spPr>
          <a:xfrm xmlns:a="http://schemas.openxmlformats.org/drawingml/2006/main">
            <a:off x="495300" y="5810250"/>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CAD6E8"/>
                </a:solidFill>
              </a:defRPr>
            </a:defPPr>
            <a:lvl1pPr>
              <a:buNone/>
              <a:defRPr sz="1500" b="0">
                <a:solidFill>
                  <a:srgbClr val="CAD6E8"/>
                </a:solidFill>
              </a:defRPr>
            </a:lvl1pPr>
            <a:lvl2pPr>
              <a:buNone/>
              <a:defRPr sz="1500" b="0">
                <a:solidFill>
                  <a:srgbClr val="CAD6E8"/>
                </a:solidFill>
              </a:defRPr>
            </a:lvl2pPr>
            <a:lvl3pPr>
              <a:buNone/>
              <a:defRPr sz="1500" b="0">
                <a:solidFill>
                  <a:srgbClr val="CAD6E8"/>
                </a:solidFill>
              </a:defRPr>
            </a:lvl3pPr>
            <a:lvl4pPr>
              <a:buNone/>
              <a:defRPr sz="1500" b="0">
                <a:solidFill>
                  <a:srgbClr val="CAD6E8"/>
                </a:solidFill>
              </a:defRPr>
            </a:lvl4pPr>
            <a:lvl5pPr>
              <a:buNone/>
              <a:defRPr sz="1500" b="0">
                <a:solidFill>
                  <a:srgbClr val="CAD6E8"/>
                </a:solidFill>
              </a:defRPr>
            </a:lvl5pPr>
            <a:lvl6pPr>
              <a:buNone/>
              <a:defRPr sz="1500" b="0">
                <a:solidFill>
                  <a:srgbClr val="CAD6E8"/>
                </a:solidFill>
              </a:defRPr>
            </a:lvl6pPr>
            <a:lvl7pPr>
              <a:buNone/>
              <a:defRPr sz="1500" b="0">
                <a:solidFill>
                  <a:srgbClr val="CAD6E8"/>
                </a:solidFill>
              </a:defRPr>
            </a:lvl7pPr>
            <a:lvl8pPr>
              <a:buNone/>
              <a:defRPr sz="1500" b="0">
                <a:solidFill>
                  <a:srgbClr val="CAD6E8"/>
                </a:solidFill>
              </a:defRPr>
            </a:lvl8pPr>
            <a:lvl9pPr>
              <a:buNone/>
              <a:defRPr sz="1500" b="0">
                <a:solidFill>
                  <a:srgbClr val="CAD6E8"/>
                </a:solidFill>
              </a:defRPr>
            </a:lvl9pPr>
          </a:lstStyle>
          <a:p xmlns:a="http://schemas.openxmlformats.org/drawingml/2006/main">
            <a:pPr>
              <a:buNone/>
              <a:defRPr sz="1500" b="0">
                <a:solidFill>
                  <a:srgbClr val="CAD6E8"/>
                </a:solidFill>
              </a:defRPr>
            </a:pPr>
            <a:r>
              <a:rPr sz="1500" b="0">
                <a:solidFill>
                  <a:srgbClr val="CAD6E8"/>
                </a:solidFill>
              </a:rPr>
              <a:t>Automate Y5020 and A40B shunt workflows. Capture measurements and Type A uncertainty.</a:t>
            </a:r>
          </a:p>
        </p:txBody>
      </p:sp>
      <p:sp>
        <p:nvSpPr>
          <p:cNvPr id="9" name="">
            <a:extLst xmlns:a="http://schemas.openxmlformats.org/drawingml/2006/main">
              <a:ext uri="{FF2B5EF4-FFF2-40B4-BE49-F238E27FC236}">
                <a16:creationId xmlns:a16="http://schemas.microsoft.com/office/drawing/2014/main" id="{670D336F-FA80-4D39-8476-6471448579A3}"/>
              </a:ext>
            </a:extLst>
          </p:cNvPr>
          <p:cNvSpPr>
            <a:spLocks xmlns:a="http://schemas.openxmlformats.org/drawingml/2006/main" noGrp="1"/>
          </p:cNvSpPr>
          <p:nvPr/>
        </p:nvSpPr>
        <p:spPr>
          <a:xfrm xmlns:a="http://schemas.openxmlformats.org/drawingml/2006/main">
            <a:off x="4314825" y="5324475"/>
            <a:ext cx="3524250" cy="28575"/>
          </a:xfrm>
          <a:prstGeom xmlns:a="http://schemas.openxmlformats.org/drawingml/2006/main" prst="rect">
            <a:avLst/>
          </a:prstGeom>
          <a:solidFill xmlns:a="http://schemas.openxmlformats.org/drawingml/2006/main">
            <a:srgbClr val="67D9A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954CE18-6556-451B-8F4B-4274B12FF03C}"/>
              </a:ext>
            </a:extLst>
          </p:cNvPr>
          <p:cNvSpPr>
            <a:spLocks xmlns:a="http://schemas.openxmlformats.org/drawingml/2006/main" noGrp="1"/>
          </p:cNvSpPr>
          <p:nvPr/>
        </p:nvSpPr>
        <p:spPr>
          <a:xfrm xmlns:a="http://schemas.openxmlformats.org/drawingml/2006/main">
            <a:off x="4314825" y="5467350"/>
            <a:ext cx="352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67D9AF"/>
                </a:solidFill>
              </a:defRPr>
            </a:defPPr>
            <a:lvl1pPr>
              <a:buNone/>
              <a:defRPr sz="1350" b="1">
                <a:solidFill>
                  <a:srgbClr val="67D9AF"/>
                </a:solidFill>
              </a:defRPr>
            </a:lvl1pPr>
            <a:lvl2pPr>
              <a:buNone/>
              <a:defRPr sz="1350" b="1">
                <a:solidFill>
                  <a:srgbClr val="67D9AF"/>
                </a:solidFill>
              </a:defRPr>
            </a:lvl2pPr>
            <a:lvl3pPr>
              <a:buNone/>
              <a:defRPr sz="1350" b="1">
                <a:solidFill>
                  <a:srgbClr val="67D9AF"/>
                </a:solidFill>
              </a:defRPr>
            </a:lvl3pPr>
            <a:lvl4pPr>
              <a:buNone/>
              <a:defRPr sz="1350" b="1">
                <a:solidFill>
                  <a:srgbClr val="67D9AF"/>
                </a:solidFill>
              </a:defRPr>
            </a:lvl4pPr>
            <a:lvl5pPr>
              <a:buNone/>
              <a:defRPr sz="1350" b="1">
                <a:solidFill>
                  <a:srgbClr val="67D9AF"/>
                </a:solidFill>
              </a:defRPr>
            </a:lvl5pPr>
            <a:lvl6pPr>
              <a:buNone/>
              <a:defRPr sz="1350" b="1">
                <a:solidFill>
                  <a:srgbClr val="67D9AF"/>
                </a:solidFill>
              </a:defRPr>
            </a:lvl6pPr>
            <a:lvl7pPr>
              <a:buNone/>
              <a:defRPr sz="1350" b="1">
                <a:solidFill>
                  <a:srgbClr val="67D9AF"/>
                </a:solidFill>
              </a:defRPr>
            </a:lvl7pPr>
            <a:lvl8pPr>
              <a:buNone/>
              <a:defRPr sz="1350" b="1">
                <a:solidFill>
                  <a:srgbClr val="67D9AF"/>
                </a:solidFill>
              </a:defRPr>
            </a:lvl8pPr>
            <a:lvl9pPr>
              <a:buNone/>
              <a:defRPr sz="1350" b="1">
                <a:solidFill>
                  <a:srgbClr val="67D9AF"/>
                </a:solidFill>
              </a:defRPr>
            </a:lvl9pPr>
          </a:lstStyle>
          <a:p xmlns:a="http://schemas.openxmlformats.org/drawingml/2006/main">
            <a:pPr>
              <a:buNone/>
              <a:defRPr sz="1350" b="1">
                <a:solidFill>
                  <a:srgbClr val="67D9AF"/>
                </a:solidFill>
              </a:defRPr>
            </a:pPr>
            <a:r>
              <a:rPr sz="1350" b="1">
                <a:solidFill>
                  <a:srgbClr val="67D9AF"/>
                </a:solidFill>
              </a:rPr>
              <a:t>UNCERTAINTY BUDGET</a:t>
            </a:r>
          </a:p>
        </p:txBody>
      </p:sp>
      <p:sp>
        <p:nvSpPr>
          <p:cNvPr id="11" name="">
            <a:extLst xmlns:a="http://schemas.openxmlformats.org/drawingml/2006/main">
              <a:ext uri="{FF2B5EF4-FFF2-40B4-BE49-F238E27FC236}">
                <a16:creationId xmlns:a16="http://schemas.microsoft.com/office/drawing/2014/main" id="{61ED7CEB-D360-4417-91D5-48F273A888A9}"/>
              </a:ext>
            </a:extLst>
          </p:cNvPr>
          <p:cNvSpPr>
            <a:spLocks xmlns:a="http://schemas.openxmlformats.org/drawingml/2006/main" noGrp="1"/>
          </p:cNvSpPr>
          <p:nvPr/>
        </p:nvSpPr>
        <p:spPr>
          <a:xfrm xmlns:a="http://schemas.openxmlformats.org/drawingml/2006/main">
            <a:off x="4314825" y="5810250"/>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CAD6E8"/>
                </a:solidFill>
              </a:defRPr>
            </a:defPPr>
            <a:lvl1pPr>
              <a:buNone/>
              <a:defRPr sz="1500" b="0">
                <a:solidFill>
                  <a:srgbClr val="CAD6E8"/>
                </a:solidFill>
              </a:defRPr>
            </a:lvl1pPr>
            <a:lvl2pPr>
              <a:buNone/>
              <a:defRPr sz="1500" b="0">
                <a:solidFill>
                  <a:srgbClr val="CAD6E8"/>
                </a:solidFill>
              </a:defRPr>
            </a:lvl2pPr>
            <a:lvl3pPr>
              <a:buNone/>
              <a:defRPr sz="1500" b="0">
                <a:solidFill>
                  <a:srgbClr val="CAD6E8"/>
                </a:solidFill>
              </a:defRPr>
            </a:lvl3pPr>
            <a:lvl4pPr>
              <a:buNone/>
              <a:defRPr sz="1500" b="0">
                <a:solidFill>
                  <a:srgbClr val="CAD6E8"/>
                </a:solidFill>
              </a:defRPr>
            </a:lvl4pPr>
            <a:lvl5pPr>
              <a:buNone/>
              <a:defRPr sz="1500" b="0">
                <a:solidFill>
                  <a:srgbClr val="CAD6E8"/>
                </a:solidFill>
              </a:defRPr>
            </a:lvl5pPr>
            <a:lvl6pPr>
              <a:buNone/>
              <a:defRPr sz="1500" b="0">
                <a:solidFill>
                  <a:srgbClr val="CAD6E8"/>
                </a:solidFill>
              </a:defRPr>
            </a:lvl6pPr>
            <a:lvl7pPr>
              <a:buNone/>
              <a:defRPr sz="1500" b="0">
                <a:solidFill>
                  <a:srgbClr val="CAD6E8"/>
                </a:solidFill>
              </a:defRPr>
            </a:lvl7pPr>
            <a:lvl8pPr>
              <a:buNone/>
              <a:defRPr sz="1500" b="0">
                <a:solidFill>
                  <a:srgbClr val="CAD6E8"/>
                </a:solidFill>
              </a:defRPr>
            </a:lvl8pPr>
            <a:lvl9pPr>
              <a:buNone/>
              <a:defRPr sz="1500" b="0">
                <a:solidFill>
                  <a:srgbClr val="CAD6E8"/>
                </a:solidFill>
              </a:defRPr>
            </a:lvl9pPr>
          </a:lstStyle>
          <a:p xmlns:a="http://schemas.openxmlformats.org/drawingml/2006/main">
            <a:pPr>
              <a:buNone/>
              <a:defRPr sz="1500" b="0">
                <a:solidFill>
                  <a:srgbClr val="CAD6E8"/>
                </a:solidFill>
              </a:defRPr>
            </a:pPr>
            <a:r>
              <a:rPr sz="1500" b="0">
                <a:solidFill>
                  <a:srgbClr val="CAD6E8"/>
                </a:solidFill>
              </a:rPr>
              <a:t>Combine uncertainty contributors. Evaluate decision risk and guardband options.</a:t>
            </a:r>
          </a:p>
        </p:txBody>
      </p:sp>
      <p:sp>
        <p:nvSpPr>
          <p:cNvPr id="12" name="">
            <a:extLst xmlns:a="http://schemas.openxmlformats.org/drawingml/2006/main">
              <a:ext uri="{FF2B5EF4-FFF2-40B4-BE49-F238E27FC236}">
                <a16:creationId xmlns:a16="http://schemas.microsoft.com/office/drawing/2014/main" id="{F971EB2F-6CA5-4F15-A7FB-843D708E303E}"/>
              </a:ext>
            </a:extLst>
          </p:cNvPr>
          <p:cNvSpPr>
            <a:spLocks xmlns:a="http://schemas.openxmlformats.org/drawingml/2006/main" noGrp="1"/>
          </p:cNvSpPr>
          <p:nvPr/>
        </p:nvSpPr>
        <p:spPr>
          <a:xfrm xmlns:a="http://schemas.openxmlformats.org/drawingml/2006/main">
            <a:off x="8134350" y="5324475"/>
            <a:ext cx="3524250" cy="28575"/>
          </a:xfrm>
          <a:prstGeom xmlns:a="http://schemas.openxmlformats.org/drawingml/2006/main" prst="rect">
            <a:avLst/>
          </a:prstGeom>
          <a:solidFill xmlns:a="http://schemas.openxmlformats.org/drawingml/2006/main">
            <a:srgbClr val="F1BE6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D6DC57C-5F2C-477E-8BC1-05E0ECB74572}"/>
              </a:ext>
            </a:extLst>
          </p:cNvPr>
          <p:cNvSpPr>
            <a:spLocks xmlns:a="http://schemas.openxmlformats.org/drawingml/2006/main" noGrp="1"/>
          </p:cNvSpPr>
          <p:nvPr/>
        </p:nvSpPr>
        <p:spPr>
          <a:xfrm xmlns:a="http://schemas.openxmlformats.org/drawingml/2006/main">
            <a:off x="8134350" y="5467350"/>
            <a:ext cx="352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350" b="1">
                <a:solidFill>
                  <a:srgbClr val="F1BE62"/>
                </a:solidFill>
              </a:defRPr>
            </a:defPPr>
            <a:lvl1pPr>
              <a:buNone/>
              <a:defRPr sz="1350" b="1">
                <a:solidFill>
                  <a:srgbClr val="F1BE62"/>
                </a:solidFill>
              </a:defRPr>
            </a:lvl1pPr>
            <a:lvl2pPr>
              <a:buNone/>
              <a:defRPr sz="1350" b="1">
                <a:solidFill>
                  <a:srgbClr val="F1BE62"/>
                </a:solidFill>
              </a:defRPr>
            </a:lvl2pPr>
            <a:lvl3pPr>
              <a:buNone/>
              <a:defRPr sz="1350" b="1">
                <a:solidFill>
                  <a:srgbClr val="F1BE62"/>
                </a:solidFill>
              </a:defRPr>
            </a:lvl3pPr>
            <a:lvl4pPr>
              <a:buNone/>
              <a:defRPr sz="1350" b="1">
                <a:solidFill>
                  <a:srgbClr val="F1BE62"/>
                </a:solidFill>
              </a:defRPr>
            </a:lvl4pPr>
            <a:lvl5pPr>
              <a:buNone/>
              <a:defRPr sz="1350" b="1">
                <a:solidFill>
                  <a:srgbClr val="F1BE62"/>
                </a:solidFill>
              </a:defRPr>
            </a:lvl5pPr>
            <a:lvl6pPr>
              <a:buNone/>
              <a:defRPr sz="1350" b="1">
                <a:solidFill>
                  <a:srgbClr val="F1BE62"/>
                </a:solidFill>
              </a:defRPr>
            </a:lvl6pPr>
            <a:lvl7pPr>
              <a:buNone/>
              <a:defRPr sz="1350" b="1">
                <a:solidFill>
                  <a:srgbClr val="F1BE62"/>
                </a:solidFill>
              </a:defRPr>
            </a:lvl7pPr>
            <a:lvl8pPr>
              <a:buNone/>
              <a:defRPr sz="1350" b="1">
                <a:solidFill>
                  <a:srgbClr val="F1BE62"/>
                </a:solidFill>
              </a:defRPr>
            </a:lvl8pPr>
            <a:lvl9pPr>
              <a:buNone/>
              <a:defRPr sz="1350" b="1">
                <a:solidFill>
                  <a:srgbClr val="F1BE62"/>
                </a:solidFill>
              </a:defRPr>
            </a:lvl9pPr>
          </a:lstStyle>
          <a:p xmlns:a="http://schemas.openxmlformats.org/drawingml/2006/main">
            <a:pPr>
              <a:buNone/>
              <a:defRPr sz="1350" b="1">
                <a:solidFill>
                  <a:srgbClr val="F1BE62"/>
                </a:solidFill>
              </a:defRPr>
            </a:pPr>
            <a:r>
              <a:rPr sz="1350" b="1">
                <a:solidFill>
                  <a:srgbClr val="F1BE62"/>
                </a:solidFill>
              </a:rPr>
              <a:t>REPORT OF CALIBRATION</a:t>
            </a:r>
          </a:p>
        </p:txBody>
      </p:sp>
      <p:sp>
        <p:nvSpPr>
          <p:cNvPr id="14" name="">
            <a:extLst xmlns:a="http://schemas.openxmlformats.org/drawingml/2006/main">
              <a:ext uri="{FF2B5EF4-FFF2-40B4-BE49-F238E27FC236}">
                <a16:creationId xmlns:a16="http://schemas.microsoft.com/office/drawing/2014/main" id="{5D06591B-A13E-40B9-8347-C6A66BEB721E}"/>
              </a:ext>
            </a:extLst>
          </p:cNvPr>
          <p:cNvSpPr>
            <a:spLocks xmlns:a="http://schemas.openxmlformats.org/drawingml/2006/main" noGrp="1"/>
          </p:cNvSpPr>
          <p:nvPr/>
        </p:nvSpPr>
        <p:spPr>
          <a:xfrm xmlns:a="http://schemas.openxmlformats.org/drawingml/2006/main">
            <a:off x="8134350" y="5810250"/>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CAD6E8"/>
                </a:solidFill>
              </a:defRPr>
            </a:defPPr>
            <a:lvl1pPr>
              <a:buNone/>
              <a:defRPr sz="1500" b="0">
                <a:solidFill>
                  <a:srgbClr val="CAD6E8"/>
                </a:solidFill>
              </a:defRPr>
            </a:lvl1pPr>
            <a:lvl2pPr>
              <a:buNone/>
              <a:defRPr sz="1500" b="0">
                <a:solidFill>
                  <a:srgbClr val="CAD6E8"/>
                </a:solidFill>
              </a:defRPr>
            </a:lvl2pPr>
            <a:lvl3pPr>
              <a:buNone/>
              <a:defRPr sz="1500" b="0">
                <a:solidFill>
                  <a:srgbClr val="CAD6E8"/>
                </a:solidFill>
              </a:defRPr>
            </a:lvl3pPr>
            <a:lvl4pPr>
              <a:buNone/>
              <a:defRPr sz="1500" b="0">
                <a:solidFill>
                  <a:srgbClr val="CAD6E8"/>
                </a:solidFill>
              </a:defRPr>
            </a:lvl4pPr>
            <a:lvl5pPr>
              <a:buNone/>
              <a:defRPr sz="1500" b="0">
                <a:solidFill>
                  <a:srgbClr val="CAD6E8"/>
                </a:solidFill>
              </a:defRPr>
            </a:lvl5pPr>
            <a:lvl6pPr>
              <a:buNone/>
              <a:defRPr sz="1500" b="0">
                <a:solidFill>
                  <a:srgbClr val="CAD6E8"/>
                </a:solidFill>
              </a:defRPr>
            </a:lvl6pPr>
            <a:lvl7pPr>
              <a:buNone/>
              <a:defRPr sz="1500" b="0">
                <a:solidFill>
                  <a:srgbClr val="CAD6E8"/>
                </a:solidFill>
              </a:defRPr>
            </a:lvl7pPr>
            <a:lvl8pPr>
              <a:buNone/>
              <a:defRPr sz="1500" b="0">
                <a:solidFill>
                  <a:srgbClr val="CAD6E8"/>
                </a:solidFill>
              </a:defRPr>
            </a:lvl8pPr>
            <a:lvl9pPr>
              <a:buNone/>
              <a:defRPr sz="1500" b="0">
                <a:solidFill>
                  <a:srgbClr val="CAD6E8"/>
                </a:solidFill>
              </a:defRPr>
            </a:lvl9pPr>
          </a:lstStyle>
          <a:p xmlns:a="http://schemas.openxmlformats.org/drawingml/2006/main">
            <a:pPr>
              <a:buNone/>
              <a:defRPr sz="1500" b="0">
                <a:solidFill>
                  <a:srgbClr val="CAD6E8"/>
                </a:solidFill>
              </a:defRPr>
            </a:pPr>
            <a:r>
              <a:rPr sz="1500" b="0">
                <a:solidFill>
                  <a:srgbClr val="CAD6E8"/>
                </a:solidFill>
              </a:rPr>
              <a:t>Bring saved results into a consistent report. Review, format and export PDF or Excel.</a:t>
            </a:r>
          </a:p>
        </p:txBody>
      </p:sp>
      <p:sp>
        <p:nvSpPr>
          <p:cNvPr id="15" name="">
            <a:extLst xmlns:a="http://schemas.openxmlformats.org/drawingml/2006/main">
              <a:ext uri="{FF2B5EF4-FFF2-40B4-BE49-F238E27FC236}">
                <a16:creationId xmlns:a16="http://schemas.microsoft.com/office/drawing/2014/main" id="{D8E549AD-E07C-4341-BAAF-0B596739CAAA}"/>
              </a:ext>
            </a:extLst>
          </p:cNvPr>
          <p:cNvSpPr>
            <a:spLocks xmlns:a="http://schemas.openxmlformats.org/drawingml/2006/main" noGrp="1"/>
          </p:cNvSpPr>
          <p:nvPr/>
        </p:nvSpPr>
        <p:spPr>
          <a:xfrm xmlns:a="http://schemas.openxmlformats.org/drawingml/2006/main">
            <a:off x="9810750" y="228600"/>
            <a:ext cx="1885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900" b="0">
                <a:solidFill>
                  <a:srgbClr val="8397B3"/>
                </a:solidFill>
              </a:defRPr>
            </a:defPPr>
            <a:lvl1pPr>
              <a:buNone/>
              <a:defRPr sz="900" b="0">
                <a:solidFill>
                  <a:srgbClr val="8397B3"/>
                </a:solidFill>
              </a:defRPr>
            </a:lvl1pPr>
            <a:lvl2pPr>
              <a:buNone/>
              <a:defRPr sz="900" b="0">
                <a:solidFill>
                  <a:srgbClr val="8397B3"/>
                </a:solidFill>
              </a:defRPr>
            </a:lvl2pPr>
            <a:lvl3pPr>
              <a:buNone/>
              <a:defRPr sz="900" b="0">
                <a:solidFill>
                  <a:srgbClr val="8397B3"/>
                </a:solidFill>
              </a:defRPr>
            </a:lvl3pPr>
            <a:lvl4pPr>
              <a:buNone/>
              <a:defRPr sz="900" b="0">
                <a:solidFill>
                  <a:srgbClr val="8397B3"/>
                </a:solidFill>
              </a:defRPr>
            </a:lvl4pPr>
            <a:lvl5pPr>
              <a:buNone/>
              <a:defRPr sz="900" b="0">
                <a:solidFill>
                  <a:srgbClr val="8397B3"/>
                </a:solidFill>
              </a:defRPr>
            </a:lvl5pPr>
            <a:lvl6pPr>
              <a:buNone/>
              <a:defRPr sz="900" b="0">
                <a:solidFill>
                  <a:srgbClr val="8397B3"/>
                </a:solidFill>
              </a:defRPr>
            </a:lvl6pPr>
            <a:lvl7pPr>
              <a:buNone/>
              <a:defRPr sz="900" b="0">
                <a:solidFill>
                  <a:srgbClr val="8397B3"/>
                </a:solidFill>
              </a:defRPr>
            </a:lvl7pPr>
            <a:lvl8pPr>
              <a:buNone/>
              <a:defRPr sz="900" b="0">
                <a:solidFill>
                  <a:srgbClr val="8397B3"/>
                </a:solidFill>
              </a:defRPr>
            </a:lvl8pPr>
            <a:lvl9pPr>
              <a:buNone/>
              <a:defRPr sz="900" b="0">
                <a:solidFill>
                  <a:srgbClr val="8397B3"/>
                </a:solidFill>
              </a:defRPr>
            </a:lvl9pPr>
          </a:lstStyle>
          <a:p xmlns:a="http://schemas.openxmlformats.org/drawingml/2006/main">
            <a:pPr>
              <a:buNone/>
              <a:defRPr sz="900" b="0">
                <a:solidFill>
                  <a:srgbClr val="8397B3"/>
                </a:solidFill>
              </a:defRPr>
            </a:pPr>
            <a:r>
              <a:rPr sz="900" b="0">
                <a:solidFill>
                  <a:srgbClr val="8397B3"/>
                </a:solidFill>
              </a:rPr>
              <a:t>Actual software home page</a:t>
            </a:r>
          </a:p>
        </p:txBody>
      </p:sp>
    </p:spTree>
    <p:extLst>
      <p:ext uri="{BB962C8B-B14F-4D97-AF65-F5344CB8AC3E}">
        <p14:creationId xmlns:p14="http://schemas.microsoft.com/office/powerpoint/2010/main" val="1012384881"/>
      </p:ext>
    </p:extLst>
  </p:cSld>
</p:sld>
</file>

<file path=ppt/slides/slide2.xml><?xml version="1.0" encoding="utf-8"?>
<p:sld xmlns:p="http://schemas.openxmlformats.org/presentationml/2006/main">
  <p:cSld>
    <p:bg>
      <p:bgPr>
        <a:solidFill xmlns:a="http://schemas.openxmlformats.org/drawingml/2006/main">
          <a:srgbClr val="081426"/>
        </a:solidFill>
      </p:bgPr>
    </p:bg>
    <p:spTree>
      <p:nvGrpSpPr>
        <p:cNvPr id="1" name=""/>
        <p:cNvGrpSpPr/>
        <p:nvPr/>
      </p:nvGrpSpPr>
      <p:grpSpPr>
        <a:xfrm xmlns:a="http://schemas.openxmlformats.org/drawingml/2006/main"/>
      </p:grpSpPr>
      <p:sp>
        <p:nvSpPr>
          <p:cNvPr id="22" name="METROLOGY WORKBENCH">
            <a:extLst xmlns:a="http://schemas.openxmlformats.org/drawingml/2006/main">
              <a:ext uri="{FF2B5EF4-FFF2-40B4-BE49-F238E27FC236}">
                <a16:creationId xmlns:a16="http://schemas.microsoft.com/office/drawing/2014/main" id="{3F06C029-AF48-4D17-8F59-7D95ABFE58B0}"/>
              </a:ext>
            </a:extLst>
          </p:cNvPr>
          <p:cNvSpPr>
            <a:spLocks xmlns:a="http://schemas.openxmlformats.org/drawingml/2006/main" noGrp="1"/>
          </p:cNvSpPr>
          <p:nvPr/>
        </p:nvSpPr>
        <p:spPr>
          <a:xfrm xmlns:a="http://schemas.openxmlformats.org/drawingml/2006/main">
            <a:off x="457200" y="26670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1">
                <a:solidFill>
                  <a:srgbClr val="65D4EC"/>
                </a:solidFill>
              </a:defRPr>
            </a:defPPr>
            <a:lvl1pPr algn="l">
              <a:defRPr sz="1125" b="1">
                <a:solidFill>
                  <a:srgbClr val="65D4EC"/>
                </a:solidFill>
              </a:defRPr>
            </a:lvl1pPr>
            <a:lvl2pPr algn="l">
              <a:defRPr sz="1125" b="1">
                <a:solidFill>
                  <a:srgbClr val="65D4EC"/>
                </a:solidFill>
              </a:defRPr>
            </a:lvl2pPr>
            <a:lvl3pPr algn="l">
              <a:defRPr sz="1125" b="1">
                <a:solidFill>
                  <a:srgbClr val="65D4EC"/>
                </a:solidFill>
              </a:defRPr>
            </a:lvl3pPr>
            <a:lvl4pPr algn="l">
              <a:defRPr sz="1125" b="1">
                <a:solidFill>
                  <a:srgbClr val="65D4EC"/>
                </a:solidFill>
              </a:defRPr>
            </a:lvl4pPr>
            <a:lvl5pPr algn="l">
              <a:defRPr sz="1125" b="1">
                <a:solidFill>
                  <a:srgbClr val="65D4EC"/>
                </a:solidFill>
              </a:defRPr>
            </a:lvl5pPr>
            <a:lvl6pPr algn="l">
              <a:defRPr sz="1125" b="1">
                <a:solidFill>
                  <a:srgbClr val="65D4EC"/>
                </a:solidFill>
              </a:defRPr>
            </a:lvl6pPr>
            <a:lvl7pPr algn="l">
              <a:defRPr sz="1125" b="1">
                <a:solidFill>
                  <a:srgbClr val="65D4EC"/>
                </a:solidFill>
              </a:defRPr>
            </a:lvl7pPr>
            <a:lvl8pPr algn="l">
              <a:defRPr sz="1125" b="1">
                <a:solidFill>
                  <a:srgbClr val="65D4EC"/>
                </a:solidFill>
              </a:defRPr>
            </a:lvl8pPr>
            <a:lvl9pPr algn="l">
              <a:defRPr sz="1125" b="1">
                <a:solidFill>
                  <a:srgbClr val="65D4EC"/>
                </a:solidFill>
              </a:defRPr>
            </a:lvl9pPr>
          </a:lstStyle>
          <a:p xmlns:a="http://schemas.openxmlformats.org/drawingml/2006/main">
            <a:pPr algn="l">
              <a:defRPr sz="1125" b="1">
                <a:solidFill>
                  <a:srgbClr val="65D4EC"/>
                </a:solidFill>
              </a:defRPr>
            </a:pPr>
            <a:r>
              <a:rPr sz="1125" b="1">
                <a:solidFill>
                  <a:srgbClr val="65D4EC"/>
                </a:solidFill>
              </a:rPr>
              <a:t>METROLOGY WORKBENCH</a:t>
            </a:r>
          </a:p>
        </p:txBody>
      </p:sp>
      <p:sp>
        <p:nvSpPr>
          <p:cNvPr id="2" name="Run Calibration">
            <a:extLst xmlns:a="http://schemas.openxmlformats.org/drawingml/2006/main">
              <a:ext uri="{FF2B5EF4-FFF2-40B4-BE49-F238E27FC236}">
                <a16:creationId xmlns:a16="http://schemas.microsoft.com/office/drawing/2014/main" id="{B41167A8-B611-4ADA-AEF0-28BF15659EED}"/>
              </a:ext>
            </a:extLst>
          </p:cNvPr>
          <p:cNvSpPr>
            <a:spLocks xmlns:a="http://schemas.openxmlformats.org/drawingml/2006/main" noGrp="1"/>
          </p:cNvSpPr>
          <p:nvPr/>
        </p:nvSpPr>
        <p:spPr>
          <a:xfrm xmlns:a="http://schemas.openxmlformats.org/drawingml/2006/main">
            <a:off x="457200" y="619125"/>
            <a:ext cx="11144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600" b="1">
                <a:solidFill>
                  <a:srgbClr val="FFFFFF"/>
                </a:solidFill>
              </a:defRPr>
            </a:defPPr>
            <a:lvl1pPr algn="l">
              <a:defRPr sz="3600" b="1">
                <a:solidFill>
                  <a:srgbClr val="FFFFFF"/>
                </a:solidFill>
              </a:defRPr>
            </a:lvl1pPr>
            <a:lvl2pPr algn="l">
              <a:defRPr sz="3600" b="1">
                <a:solidFill>
                  <a:srgbClr val="FFFFFF"/>
                </a:solidFill>
              </a:defRPr>
            </a:lvl2pPr>
            <a:lvl3pPr algn="l">
              <a:defRPr sz="3600" b="1">
                <a:solidFill>
                  <a:srgbClr val="FFFFFF"/>
                </a:solidFill>
              </a:defRPr>
            </a:lvl3pPr>
            <a:lvl4pPr algn="l">
              <a:defRPr sz="3600" b="1">
                <a:solidFill>
                  <a:srgbClr val="FFFFFF"/>
                </a:solidFill>
              </a:defRPr>
            </a:lvl4pPr>
            <a:lvl5pPr algn="l">
              <a:defRPr sz="3600" b="1">
                <a:solidFill>
                  <a:srgbClr val="FFFFFF"/>
                </a:solidFill>
              </a:defRPr>
            </a:lvl5pPr>
            <a:lvl6pPr algn="l">
              <a:defRPr sz="3600" b="1">
                <a:solidFill>
                  <a:srgbClr val="FFFFFF"/>
                </a:solidFill>
              </a:defRPr>
            </a:lvl6pPr>
            <a:lvl7pPr algn="l">
              <a:defRPr sz="3600" b="1">
                <a:solidFill>
                  <a:srgbClr val="FFFFFF"/>
                </a:solidFill>
              </a:defRPr>
            </a:lvl7pPr>
            <a:lvl8pPr algn="l">
              <a:defRPr sz="3600" b="1">
                <a:solidFill>
                  <a:srgbClr val="FFFFFF"/>
                </a:solidFill>
              </a:defRPr>
            </a:lvl8pPr>
            <a:lvl9pPr algn="l">
              <a:defRPr sz="3600" b="1">
                <a:solidFill>
                  <a:srgbClr val="FFFFFF"/>
                </a:solidFill>
              </a:defRPr>
            </a:lvl9pPr>
          </a:lstStyle>
          <a:p xmlns:a="http://schemas.openxmlformats.org/drawingml/2006/main">
            <a:pPr algn="l">
              <a:defRPr sz="3600" b="1">
                <a:solidFill>
                  <a:srgbClr val="FFFFFF"/>
                </a:solidFill>
              </a:defRPr>
            </a:pPr>
            <a:r>
              <a:rPr sz="3600" b="1">
                <a:solidFill>
                  <a:srgbClr val="FFFFFF"/>
                </a:solidFill>
              </a:rPr>
              <a:t>Run Calibration</a:t>
            </a:r>
          </a:p>
        </p:txBody>
      </p:sp>
      <p:sp>
        <p:nvSpPr>
          <p:cNvPr id="3" name="Automated shunt calibration and data collection">
            <a:extLst xmlns:a="http://schemas.openxmlformats.org/drawingml/2006/main">
              <a:ext uri="{FF2B5EF4-FFF2-40B4-BE49-F238E27FC236}">
                <a16:creationId xmlns:a16="http://schemas.microsoft.com/office/drawing/2014/main" id="{CDF2564D-5849-4F84-8423-81797F4880D0}"/>
              </a:ext>
            </a:extLst>
          </p:cNvPr>
          <p:cNvSpPr>
            <a:spLocks xmlns:a="http://schemas.openxmlformats.org/drawingml/2006/main" noGrp="1"/>
          </p:cNvSpPr>
          <p:nvPr/>
        </p:nvSpPr>
        <p:spPr>
          <a:xfrm xmlns:a="http://schemas.openxmlformats.org/drawingml/2006/main">
            <a:off x="457200" y="1257300"/>
            <a:ext cx="1114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C3D1E2"/>
                </a:solidFill>
              </a:defRPr>
            </a:defPPr>
            <a:lvl1pPr algn="l">
              <a:defRPr sz="1650" b="0">
                <a:solidFill>
                  <a:srgbClr val="C3D1E2"/>
                </a:solidFill>
              </a:defRPr>
            </a:lvl1pPr>
            <a:lvl2pPr algn="l">
              <a:defRPr sz="1650" b="0">
                <a:solidFill>
                  <a:srgbClr val="C3D1E2"/>
                </a:solidFill>
              </a:defRPr>
            </a:lvl2pPr>
            <a:lvl3pPr algn="l">
              <a:defRPr sz="1650" b="0">
                <a:solidFill>
                  <a:srgbClr val="C3D1E2"/>
                </a:solidFill>
              </a:defRPr>
            </a:lvl3pPr>
            <a:lvl4pPr algn="l">
              <a:defRPr sz="1650" b="0">
                <a:solidFill>
                  <a:srgbClr val="C3D1E2"/>
                </a:solidFill>
              </a:defRPr>
            </a:lvl4pPr>
            <a:lvl5pPr algn="l">
              <a:defRPr sz="1650" b="0">
                <a:solidFill>
                  <a:srgbClr val="C3D1E2"/>
                </a:solidFill>
              </a:defRPr>
            </a:lvl5pPr>
            <a:lvl6pPr algn="l">
              <a:defRPr sz="1650" b="0">
                <a:solidFill>
                  <a:srgbClr val="C3D1E2"/>
                </a:solidFill>
              </a:defRPr>
            </a:lvl6pPr>
            <a:lvl7pPr algn="l">
              <a:defRPr sz="1650" b="0">
                <a:solidFill>
                  <a:srgbClr val="C3D1E2"/>
                </a:solidFill>
              </a:defRPr>
            </a:lvl7pPr>
            <a:lvl8pPr algn="l">
              <a:defRPr sz="1650" b="0">
                <a:solidFill>
                  <a:srgbClr val="C3D1E2"/>
                </a:solidFill>
              </a:defRPr>
            </a:lvl8pPr>
            <a:lvl9pPr algn="l">
              <a:defRPr sz="1650" b="0">
                <a:solidFill>
                  <a:srgbClr val="C3D1E2"/>
                </a:solidFill>
              </a:defRPr>
            </a:lvl9pPr>
          </a:lstStyle>
          <a:p xmlns:a="http://schemas.openxmlformats.org/drawingml/2006/main">
            <a:pPr algn="l">
              <a:defRPr sz="1650" b="0">
                <a:solidFill>
                  <a:srgbClr val="C3D1E2"/>
                </a:solidFill>
              </a:defRPr>
            </a:pPr>
            <a:r>
              <a:rPr sz="1650" b="0">
                <a:solidFill>
                  <a:srgbClr val="C3D1E2"/>
                </a:solidFill>
              </a:rPr>
              <a:t>Automated shunt calibration and data collection</a:t>
            </a:r>
          </a:p>
        </p:txBody>
      </p:sp>
      <p:sp>
        <p:nvSpPr>
          <p:cNvPr id="4" name="Layout shape">
            <a:extLst xmlns:a="http://schemas.openxmlformats.org/drawingml/2006/main">
              <a:ext uri="{FF2B5EF4-FFF2-40B4-BE49-F238E27FC236}">
                <a16:creationId xmlns:a16="http://schemas.microsoft.com/office/drawing/2014/main" id="{59F49FF8-787A-41CB-B9C9-D5398F49C534}"/>
              </a:ext>
            </a:extLst>
          </p:cNvPr>
          <p:cNvSpPr>
            <a:spLocks xmlns:a="http://schemas.openxmlformats.org/drawingml/2006/main" noGrp="1"/>
          </p:cNvSpPr>
          <p:nvPr/>
        </p:nvSpPr>
        <p:spPr>
          <a:xfrm xmlns:a="http://schemas.openxmlformats.org/drawingml/2006/main">
            <a:off x="457200" y="1724025"/>
            <a:ext cx="11277600" cy="9525"/>
          </a:xfrm>
          <a:prstGeom xmlns:a="http://schemas.openxmlformats.org/drawingml/2006/main" prst="rect">
            <a:avLst/>
          </a:prstGeom>
          <a:solidFill xmlns:a="http://schemas.openxmlformats.org/drawingml/2006/main">
            <a:srgbClr val="294560"/>
          </a:solidFill>
          <a:ln xmlns:a="http://schemas.openxmlformats.org/drawingml/2006/main" w="0">
            <a:noFill/>
          </a:ln>
        </p:spPr>
      </p:sp>
      <p:sp>
        <p:nvSpPr>
          <p:cNvPr id="5" name="Layout shape">
            <a:extLst xmlns:a="http://schemas.openxmlformats.org/drawingml/2006/main">
              <a:ext uri="{FF2B5EF4-FFF2-40B4-BE49-F238E27FC236}">
                <a16:creationId xmlns:a16="http://schemas.microsoft.com/office/drawing/2014/main" id="{DEDBBEBE-CC87-49C0-BC03-C3C2D73B52BB}"/>
              </a:ext>
            </a:extLst>
          </p:cNvPr>
          <p:cNvSpPr>
            <a:spLocks xmlns:a="http://schemas.openxmlformats.org/drawingml/2006/main" noGrp="1"/>
          </p:cNvSpPr>
          <p:nvPr/>
        </p:nvSpPr>
        <p:spPr>
          <a:xfrm xmlns:a="http://schemas.openxmlformats.org/drawingml/2006/main">
            <a:off x="457200" y="2066925"/>
            <a:ext cx="28575" cy="657225"/>
          </a:xfrm>
          <a:prstGeom xmlns:a="http://schemas.openxmlformats.org/drawingml/2006/main" prst="rect">
            <a:avLst/>
          </a:prstGeom>
          <a:solidFill xmlns:a="http://schemas.openxmlformats.org/drawingml/2006/main">
            <a:srgbClr val="65D4EC"/>
          </a:solidFill>
          <a:ln xmlns:a="http://schemas.openxmlformats.org/drawingml/2006/main" w="0">
            <a:noFill/>
          </a:ln>
        </p:spPr>
      </p:sp>
      <p:sp>
        <p:nvSpPr>
          <p:cNvPr id="6" name="Y5020 and A40B workflows">
            <a:extLst xmlns:a="http://schemas.openxmlformats.org/drawingml/2006/main">
              <a:ext uri="{FF2B5EF4-FFF2-40B4-BE49-F238E27FC236}">
                <a16:creationId xmlns:a16="http://schemas.microsoft.com/office/drawing/2014/main" id="{F62A91BC-094F-4B98-BE79-7287609E8574}"/>
              </a:ext>
            </a:extLst>
          </p:cNvPr>
          <p:cNvSpPr>
            <a:spLocks xmlns:a="http://schemas.openxmlformats.org/drawingml/2006/main" noGrp="1"/>
          </p:cNvSpPr>
          <p:nvPr/>
        </p:nvSpPr>
        <p:spPr>
          <a:xfrm xmlns:a="http://schemas.openxmlformats.org/drawingml/2006/main">
            <a:off x="628650" y="200977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Y5020 and A40B workflows</a:t>
            </a:r>
          </a:p>
        </p:txBody>
      </p:sp>
      <p:sp>
        <p:nvSpPr>
          <p:cNvPr id="7" name="Run supported shunt calibrations within a consistent measurement setup">
            <a:extLst xmlns:a="http://schemas.openxmlformats.org/drawingml/2006/main">
              <a:ext uri="{FF2B5EF4-FFF2-40B4-BE49-F238E27FC236}">
                <a16:creationId xmlns:a16="http://schemas.microsoft.com/office/drawing/2014/main" id="{86A48597-4E5E-481C-A489-DF2423307E4F}"/>
              </a:ext>
            </a:extLst>
          </p:cNvPr>
          <p:cNvSpPr>
            <a:spLocks xmlns:a="http://schemas.openxmlformats.org/drawingml/2006/main" noGrp="1"/>
          </p:cNvSpPr>
          <p:nvPr/>
        </p:nvSpPr>
        <p:spPr>
          <a:xfrm xmlns:a="http://schemas.openxmlformats.org/drawingml/2006/main">
            <a:off x="628650" y="23717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C3D1E2"/>
                </a:solidFill>
              </a:defRPr>
            </a:defPPr>
            <a:lvl1pPr algn="l">
              <a:defRPr sz="1500" b="0">
                <a:solidFill>
                  <a:srgbClr val="C3D1E2"/>
                </a:solidFill>
              </a:defRPr>
            </a:lvl1pPr>
            <a:lvl2pPr algn="l">
              <a:defRPr sz="1500" b="0">
                <a:solidFill>
                  <a:srgbClr val="C3D1E2"/>
                </a:solidFill>
              </a:defRPr>
            </a:lvl2pPr>
            <a:lvl3pPr algn="l">
              <a:defRPr sz="1500" b="0">
                <a:solidFill>
                  <a:srgbClr val="C3D1E2"/>
                </a:solidFill>
              </a:defRPr>
            </a:lvl3pPr>
            <a:lvl4pPr algn="l">
              <a:defRPr sz="1500" b="0">
                <a:solidFill>
                  <a:srgbClr val="C3D1E2"/>
                </a:solidFill>
              </a:defRPr>
            </a:lvl4pPr>
            <a:lvl5pPr algn="l">
              <a:defRPr sz="1500" b="0">
                <a:solidFill>
                  <a:srgbClr val="C3D1E2"/>
                </a:solidFill>
              </a:defRPr>
            </a:lvl5pPr>
            <a:lvl6pPr algn="l">
              <a:defRPr sz="1500" b="0">
                <a:solidFill>
                  <a:srgbClr val="C3D1E2"/>
                </a:solidFill>
              </a:defRPr>
            </a:lvl6pPr>
            <a:lvl7pPr algn="l">
              <a:defRPr sz="1500" b="0">
                <a:solidFill>
                  <a:srgbClr val="C3D1E2"/>
                </a:solidFill>
              </a:defRPr>
            </a:lvl7pPr>
            <a:lvl8pPr algn="l">
              <a:defRPr sz="1500" b="0">
                <a:solidFill>
                  <a:srgbClr val="C3D1E2"/>
                </a:solidFill>
              </a:defRPr>
            </a:lvl8pPr>
            <a:lvl9pPr algn="l">
              <a:defRPr sz="1500" b="0">
                <a:solidFill>
                  <a:srgbClr val="C3D1E2"/>
                </a:solidFill>
              </a:defRPr>
            </a:lvl9pPr>
          </a:lstStyle>
          <a:p xmlns:a="http://schemas.openxmlformats.org/drawingml/2006/main">
            <a:pPr algn="l">
              <a:defRPr sz="1500" b="0">
                <a:solidFill>
                  <a:srgbClr val="C3D1E2"/>
                </a:solidFill>
              </a:defRPr>
            </a:pPr>
            <a:r>
              <a:rPr sz="1500" b="0">
                <a:solidFill>
                  <a:srgbClr val="C3D1E2"/>
                </a:solidFill>
              </a:rPr>
              <a:t>Run supported shunt calibrations within</a:t>
            </a:r>
          </a:p>
          <a:p xmlns:a="http://schemas.openxmlformats.org/drawingml/2006/main">
            <a:pPr algn="l">
              <a:defRPr sz="1500" b="0">
                <a:solidFill>
                  <a:srgbClr val="C3D1E2"/>
                </a:solidFill>
              </a:defRPr>
            </a:pPr>
            <a:r>
              <a:rPr sz="1500" b="0">
                <a:solidFill>
                  <a:srgbClr val="C3D1E2"/>
                </a:solidFill>
              </a:rPr>
              <a:t>a consistent measurement setup.</a:t>
            </a:r>
          </a:p>
        </p:txBody>
      </p:sp>
      <p:sp>
        <p:nvSpPr>
          <p:cNvPr id="8" name="Layout shape">
            <a:extLst xmlns:a="http://schemas.openxmlformats.org/drawingml/2006/main">
              <a:ext uri="{FF2B5EF4-FFF2-40B4-BE49-F238E27FC236}">
                <a16:creationId xmlns:a16="http://schemas.microsoft.com/office/drawing/2014/main" id="{B627D09B-E048-48F3-AC4D-775702AD8F06}"/>
              </a:ext>
            </a:extLst>
          </p:cNvPr>
          <p:cNvSpPr>
            <a:spLocks xmlns:a="http://schemas.openxmlformats.org/drawingml/2006/main" noGrp="1"/>
          </p:cNvSpPr>
          <p:nvPr/>
        </p:nvSpPr>
        <p:spPr>
          <a:xfrm xmlns:a="http://schemas.openxmlformats.org/drawingml/2006/main">
            <a:off x="628650" y="2952750"/>
            <a:ext cx="4533900" cy="9525"/>
          </a:xfrm>
          <a:prstGeom xmlns:a="http://schemas.openxmlformats.org/drawingml/2006/main" prst="rect">
            <a:avLst/>
          </a:prstGeom>
          <a:solidFill xmlns:a="http://schemas.openxmlformats.org/drawingml/2006/main">
            <a:srgbClr val="294560"/>
          </a:solidFill>
          <a:ln xmlns:a="http://schemas.openxmlformats.org/drawingml/2006/main" w="0">
            <a:noFill/>
          </a:ln>
        </p:spPr>
      </p:sp>
      <p:sp>
        <p:nvSpPr>
          <p:cNvPr id="9" name="Layout shape">
            <a:extLst xmlns:a="http://schemas.openxmlformats.org/drawingml/2006/main">
              <a:ext uri="{FF2B5EF4-FFF2-40B4-BE49-F238E27FC236}">
                <a16:creationId xmlns:a16="http://schemas.microsoft.com/office/drawing/2014/main" id="{001DD1F3-E20B-405C-A59D-FC5C92EB29D2}"/>
              </a:ext>
            </a:extLst>
          </p:cNvPr>
          <p:cNvSpPr>
            <a:spLocks xmlns:a="http://schemas.openxmlformats.org/drawingml/2006/main" noGrp="1"/>
          </p:cNvSpPr>
          <p:nvPr/>
        </p:nvSpPr>
        <p:spPr>
          <a:xfrm xmlns:a="http://schemas.openxmlformats.org/drawingml/2006/main">
            <a:off x="457200" y="3133725"/>
            <a:ext cx="28575" cy="657225"/>
          </a:xfrm>
          <a:prstGeom xmlns:a="http://schemas.openxmlformats.org/drawingml/2006/main" prst="rect">
            <a:avLst/>
          </a:prstGeom>
          <a:solidFill xmlns:a="http://schemas.openxmlformats.org/drawingml/2006/main">
            <a:srgbClr val="65D4EC"/>
          </a:solidFill>
          <a:ln xmlns:a="http://schemas.openxmlformats.org/drawingml/2006/main" w="0">
            <a:noFill/>
          </a:ln>
        </p:spPr>
      </p:sp>
      <p:sp>
        <p:nvSpPr>
          <p:cNvPr id="10" name="Configure the session">
            <a:extLst xmlns:a="http://schemas.openxmlformats.org/drawingml/2006/main">
              <a:ext uri="{FF2B5EF4-FFF2-40B4-BE49-F238E27FC236}">
                <a16:creationId xmlns:a16="http://schemas.microsoft.com/office/drawing/2014/main" id="{BE7A0BD0-856F-41F5-B6E8-65E3FD91A408}"/>
              </a:ext>
            </a:extLst>
          </p:cNvPr>
          <p:cNvSpPr>
            <a:spLocks xmlns:a="http://schemas.openxmlformats.org/drawingml/2006/main" noGrp="1"/>
          </p:cNvSpPr>
          <p:nvPr/>
        </p:nvSpPr>
        <p:spPr>
          <a:xfrm xmlns:a="http://schemas.openxmlformats.org/drawingml/2006/main">
            <a:off x="628650" y="307657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Configure the session</a:t>
            </a:r>
          </a:p>
        </p:txBody>
      </p:sp>
      <p:sp>
        <p:nvSpPr>
          <p:cNvPr id="11" name="Set test points, instrument settings and measurement cycles.">
            <a:extLst xmlns:a="http://schemas.openxmlformats.org/drawingml/2006/main">
              <a:ext uri="{FF2B5EF4-FFF2-40B4-BE49-F238E27FC236}">
                <a16:creationId xmlns:a16="http://schemas.microsoft.com/office/drawing/2014/main" id="{5BAB45C7-E00A-4C0D-A856-78D53068DDAD}"/>
              </a:ext>
            </a:extLst>
          </p:cNvPr>
          <p:cNvSpPr>
            <a:spLocks xmlns:a="http://schemas.openxmlformats.org/drawingml/2006/main" noGrp="1"/>
          </p:cNvSpPr>
          <p:nvPr/>
        </p:nvSpPr>
        <p:spPr>
          <a:xfrm xmlns:a="http://schemas.openxmlformats.org/drawingml/2006/main">
            <a:off x="628650" y="34385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C3D1E2"/>
                </a:solidFill>
              </a:defRPr>
            </a:defPPr>
            <a:lvl1pPr algn="l">
              <a:defRPr sz="1500" b="0">
                <a:solidFill>
                  <a:srgbClr val="C3D1E2"/>
                </a:solidFill>
              </a:defRPr>
            </a:lvl1pPr>
            <a:lvl2pPr algn="l">
              <a:defRPr sz="1500" b="0">
                <a:solidFill>
                  <a:srgbClr val="C3D1E2"/>
                </a:solidFill>
              </a:defRPr>
            </a:lvl2pPr>
            <a:lvl3pPr algn="l">
              <a:defRPr sz="1500" b="0">
                <a:solidFill>
                  <a:srgbClr val="C3D1E2"/>
                </a:solidFill>
              </a:defRPr>
            </a:lvl3pPr>
            <a:lvl4pPr algn="l">
              <a:defRPr sz="1500" b="0">
                <a:solidFill>
                  <a:srgbClr val="C3D1E2"/>
                </a:solidFill>
              </a:defRPr>
            </a:lvl4pPr>
            <a:lvl5pPr algn="l">
              <a:defRPr sz="1500" b="0">
                <a:solidFill>
                  <a:srgbClr val="C3D1E2"/>
                </a:solidFill>
              </a:defRPr>
            </a:lvl5pPr>
            <a:lvl6pPr algn="l">
              <a:defRPr sz="1500" b="0">
                <a:solidFill>
                  <a:srgbClr val="C3D1E2"/>
                </a:solidFill>
              </a:defRPr>
            </a:lvl6pPr>
            <a:lvl7pPr algn="l">
              <a:defRPr sz="1500" b="0">
                <a:solidFill>
                  <a:srgbClr val="C3D1E2"/>
                </a:solidFill>
              </a:defRPr>
            </a:lvl7pPr>
            <a:lvl8pPr algn="l">
              <a:defRPr sz="1500" b="0">
                <a:solidFill>
                  <a:srgbClr val="C3D1E2"/>
                </a:solidFill>
              </a:defRPr>
            </a:lvl8pPr>
            <a:lvl9pPr algn="l">
              <a:defRPr sz="1500" b="0">
                <a:solidFill>
                  <a:srgbClr val="C3D1E2"/>
                </a:solidFill>
              </a:defRPr>
            </a:lvl9pPr>
          </a:lstStyle>
          <a:p xmlns:a="http://schemas.openxmlformats.org/drawingml/2006/main">
            <a:pPr algn="l">
              <a:defRPr sz="1500" b="0">
                <a:solidFill>
                  <a:srgbClr val="C3D1E2"/>
                </a:solidFill>
              </a:defRPr>
            </a:pPr>
            <a:r>
              <a:rPr sz="1500" b="0">
                <a:solidFill>
                  <a:srgbClr val="C3D1E2"/>
                </a:solidFill>
              </a:rPr>
              <a:t>Set test points, instrument settings</a:t>
            </a:r>
          </a:p>
          <a:p xmlns:a="http://schemas.openxmlformats.org/drawingml/2006/main">
            <a:pPr algn="l">
              <a:defRPr sz="1500" b="0">
                <a:solidFill>
                  <a:srgbClr val="C3D1E2"/>
                </a:solidFill>
              </a:defRPr>
            </a:pPr>
            <a:r>
              <a:rPr sz="1500" b="0">
                <a:solidFill>
                  <a:srgbClr val="C3D1E2"/>
                </a:solidFill>
              </a:rPr>
              <a:t>and measurement cycles.</a:t>
            </a:r>
          </a:p>
        </p:txBody>
      </p:sp>
      <p:sp>
        <p:nvSpPr>
          <p:cNvPr id="12" name="Layout shape">
            <a:extLst xmlns:a="http://schemas.openxmlformats.org/drawingml/2006/main">
              <a:ext uri="{FF2B5EF4-FFF2-40B4-BE49-F238E27FC236}">
                <a16:creationId xmlns:a16="http://schemas.microsoft.com/office/drawing/2014/main" id="{07CC583A-0AC1-4636-A264-E7C7F847019A}"/>
              </a:ext>
            </a:extLst>
          </p:cNvPr>
          <p:cNvSpPr>
            <a:spLocks xmlns:a="http://schemas.openxmlformats.org/drawingml/2006/main" noGrp="1"/>
          </p:cNvSpPr>
          <p:nvPr/>
        </p:nvSpPr>
        <p:spPr>
          <a:xfrm xmlns:a="http://schemas.openxmlformats.org/drawingml/2006/main">
            <a:off x="628650" y="4019550"/>
            <a:ext cx="4533900" cy="9525"/>
          </a:xfrm>
          <a:prstGeom xmlns:a="http://schemas.openxmlformats.org/drawingml/2006/main" prst="rect">
            <a:avLst/>
          </a:prstGeom>
          <a:solidFill xmlns:a="http://schemas.openxmlformats.org/drawingml/2006/main">
            <a:srgbClr val="294560"/>
          </a:solidFill>
          <a:ln xmlns:a="http://schemas.openxmlformats.org/drawingml/2006/main" w="0">
            <a:noFill/>
          </a:ln>
        </p:spPr>
      </p:sp>
      <p:sp>
        <p:nvSpPr>
          <p:cNvPr id="13" name="Layout shape">
            <a:extLst xmlns:a="http://schemas.openxmlformats.org/drawingml/2006/main">
              <a:ext uri="{FF2B5EF4-FFF2-40B4-BE49-F238E27FC236}">
                <a16:creationId xmlns:a16="http://schemas.microsoft.com/office/drawing/2014/main" id="{447235AB-5DB6-4BDF-A2CF-74D3AC80CF4D}"/>
              </a:ext>
            </a:extLst>
          </p:cNvPr>
          <p:cNvSpPr>
            <a:spLocks xmlns:a="http://schemas.openxmlformats.org/drawingml/2006/main" noGrp="1"/>
          </p:cNvSpPr>
          <p:nvPr/>
        </p:nvSpPr>
        <p:spPr>
          <a:xfrm xmlns:a="http://schemas.openxmlformats.org/drawingml/2006/main">
            <a:off x="457200" y="4200525"/>
            <a:ext cx="28575" cy="657225"/>
          </a:xfrm>
          <a:prstGeom xmlns:a="http://schemas.openxmlformats.org/drawingml/2006/main" prst="rect">
            <a:avLst/>
          </a:prstGeom>
          <a:solidFill xmlns:a="http://schemas.openxmlformats.org/drawingml/2006/main">
            <a:srgbClr val="65D4EC"/>
          </a:solidFill>
          <a:ln xmlns:a="http://schemas.openxmlformats.org/drawingml/2006/main" w="0">
            <a:noFill/>
          </a:ln>
        </p:spPr>
      </p:sp>
      <p:sp>
        <p:nvSpPr>
          <p:cNvPr id="14" name="Monitor the measurement">
            <a:extLst xmlns:a="http://schemas.openxmlformats.org/drawingml/2006/main">
              <a:ext uri="{FF2B5EF4-FFF2-40B4-BE49-F238E27FC236}">
                <a16:creationId xmlns:a16="http://schemas.microsoft.com/office/drawing/2014/main" id="{F2B7DB17-24C0-4715-B58C-AB68C625FA5A}"/>
              </a:ext>
            </a:extLst>
          </p:cNvPr>
          <p:cNvSpPr>
            <a:spLocks xmlns:a="http://schemas.openxmlformats.org/drawingml/2006/main" noGrp="1"/>
          </p:cNvSpPr>
          <p:nvPr/>
        </p:nvSpPr>
        <p:spPr>
          <a:xfrm xmlns:a="http://schemas.openxmlformats.org/drawingml/2006/main">
            <a:off x="628650" y="414337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Monitor the measurement</a:t>
            </a:r>
          </a:p>
        </p:txBody>
      </p:sp>
      <p:sp>
        <p:nvSpPr>
          <p:cNvPr id="15" name="Follow instrument status, stability and calibration results.">
            <a:extLst xmlns:a="http://schemas.openxmlformats.org/drawingml/2006/main">
              <a:ext uri="{FF2B5EF4-FFF2-40B4-BE49-F238E27FC236}">
                <a16:creationId xmlns:a16="http://schemas.microsoft.com/office/drawing/2014/main" id="{D3D7A1F9-08E2-4AF2-87F9-66ED05328DD3}"/>
              </a:ext>
            </a:extLst>
          </p:cNvPr>
          <p:cNvSpPr>
            <a:spLocks xmlns:a="http://schemas.openxmlformats.org/drawingml/2006/main" noGrp="1"/>
          </p:cNvSpPr>
          <p:nvPr/>
        </p:nvSpPr>
        <p:spPr>
          <a:xfrm xmlns:a="http://schemas.openxmlformats.org/drawingml/2006/main">
            <a:off x="628650" y="45053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C3D1E2"/>
                </a:solidFill>
              </a:defRPr>
            </a:defPPr>
            <a:lvl1pPr algn="l">
              <a:defRPr sz="1500" b="0">
                <a:solidFill>
                  <a:srgbClr val="C3D1E2"/>
                </a:solidFill>
              </a:defRPr>
            </a:lvl1pPr>
            <a:lvl2pPr algn="l">
              <a:defRPr sz="1500" b="0">
                <a:solidFill>
                  <a:srgbClr val="C3D1E2"/>
                </a:solidFill>
              </a:defRPr>
            </a:lvl2pPr>
            <a:lvl3pPr algn="l">
              <a:defRPr sz="1500" b="0">
                <a:solidFill>
                  <a:srgbClr val="C3D1E2"/>
                </a:solidFill>
              </a:defRPr>
            </a:lvl3pPr>
            <a:lvl4pPr algn="l">
              <a:defRPr sz="1500" b="0">
                <a:solidFill>
                  <a:srgbClr val="C3D1E2"/>
                </a:solidFill>
              </a:defRPr>
            </a:lvl4pPr>
            <a:lvl5pPr algn="l">
              <a:defRPr sz="1500" b="0">
                <a:solidFill>
                  <a:srgbClr val="C3D1E2"/>
                </a:solidFill>
              </a:defRPr>
            </a:lvl5pPr>
            <a:lvl6pPr algn="l">
              <a:defRPr sz="1500" b="0">
                <a:solidFill>
                  <a:srgbClr val="C3D1E2"/>
                </a:solidFill>
              </a:defRPr>
            </a:lvl6pPr>
            <a:lvl7pPr algn="l">
              <a:defRPr sz="1500" b="0">
                <a:solidFill>
                  <a:srgbClr val="C3D1E2"/>
                </a:solidFill>
              </a:defRPr>
            </a:lvl7pPr>
            <a:lvl8pPr algn="l">
              <a:defRPr sz="1500" b="0">
                <a:solidFill>
                  <a:srgbClr val="C3D1E2"/>
                </a:solidFill>
              </a:defRPr>
            </a:lvl8pPr>
            <a:lvl9pPr algn="l">
              <a:defRPr sz="1500" b="0">
                <a:solidFill>
                  <a:srgbClr val="C3D1E2"/>
                </a:solidFill>
              </a:defRPr>
            </a:lvl9pPr>
          </a:lstStyle>
          <a:p xmlns:a="http://schemas.openxmlformats.org/drawingml/2006/main">
            <a:pPr algn="l">
              <a:defRPr sz="1500" b="0">
                <a:solidFill>
                  <a:srgbClr val="C3D1E2"/>
                </a:solidFill>
              </a:defRPr>
            </a:pPr>
            <a:r>
              <a:rPr sz="1500" b="0">
                <a:solidFill>
                  <a:srgbClr val="C3D1E2"/>
                </a:solidFill>
              </a:rPr>
              <a:t>Follow instrument status, stability</a:t>
            </a:r>
          </a:p>
          <a:p xmlns:a="http://schemas.openxmlformats.org/drawingml/2006/main">
            <a:pPr algn="l">
              <a:defRPr sz="1500" b="0">
                <a:solidFill>
                  <a:srgbClr val="C3D1E2"/>
                </a:solidFill>
              </a:defRPr>
            </a:pPr>
            <a:r>
              <a:rPr sz="1500" b="0">
                <a:solidFill>
                  <a:srgbClr val="C3D1E2"/>
                </a:solidFill>
              </a:rPr>
              <a:t>and calibration results.</a:t>
            </a:r>
          </a:p>
        </p:txBody>
      </p:sp>
      <p:sp>
        <p:nvSpPr>
          <p:cNvPr id="16" name="Layout shape">
            <a:extLst xmlns:a="http://schemas.openxmlformats.org/drawingml/2006/main">
              <a:ext uri="{FF2B5EF4-FFF2-40B4-BE49-F238E27FC236}">
                <a16:creationId xmlns:a16="http://schemas.microsoft.com/office/drawing/2014/main" id="{176ECB44-2366-467D-85E9-522EE47D9130}"/>
              </a:ext>
            </a:extLst>
          </p:cNvPr>
          <p:cNvSpPr>
            <a:spLocks xmlns:a="http://schemas.openxmlformats.org/drawingml/2006/main" noGrp="1"/>
          </p:cNvSpPr>
          <p:nvPr/>
        </p:nvSpPr>
        <p:spPr>
          <a:xfrm xmlns:a="http://schemas.openxmlformats.org/drawingml/2006/main">
            <a:off x="628650" y="5086350"/>
            <a:ext cx="4533900" cy="9525"/>
          </a:xfrm>
          <a:prstGeom xmlns:a="http://schemas.openxmlformats.org/drawingml/2006/main" prst="rect">
            <a:avLst/>
          </a:prstGeom>
          <a:solidFill xmlns:a="http://schemas.openxmlformats.org/drawingml/2006/main">
            <a:srgbClr val="294560"/>
          </a:solidFill>
          <a:ln xmlns:a="http://schemas.openxmlformats.org/drawingml/2006/main" w="0">
            <a:noFill/>
          </a:ln>
        </p:spPr>
      </p:sp>
      <p:sp>
        <p:nvSpPr>
          <p:cNvPr id="17" name="Layout shape">
            <a:extLst xmlns:a="http://schemas.openxmlformats.org/drawingml/2006/main">
              <a:ext uri="{FF2B5EF4-FFF2-40B4-BE49-F238E27FC236}">
                <a16:creationId xmlns:a16="http://schemas.microsoft.com/office/drawing/2014/main" id="{BA29E52D-2862-4FD3-85BB-E268C51588B9}"/>
              </a:ext>
            </a:extLst>
          </p:cNvPr>
          <p:cNvSpPr>
            <a:spLocks xmlns:a="http://schemas.openxmlformats.org/drawingml/2006/main" noGrp="1"/>
          </p:cNvSpPr>
          <p:nvPr/>
        </p:nvSpPr>
        <p:spPr>
          <a:xfrm xmlns:a="http://schemas.openxmlformats.org/drawingml/2006/main">
            <a:off x="457200" y="5267325"/>
            <a:ext cx="28575" cy="657225"/>
          </a:xfrm>
          <a:prstGeom xmlns:a="http://schemas.openxmlformats.org/drawingml/2006/main" prst="rect">
            <a:avLst/>
          </a:prstGeom>
          <a:solidFill xmlns:a="http://schemas.openxmlformats.org/drawingml/2006/main">
            <a:srgbClr val="65D4EC"/>
          </a:solidFill>
          <a:ln xmlns:a="http://schemas.openxmlformats.org/drawingml/2006/main" w="0">
            <a:noFill/>
          </a:ln>
        </p:spPr>
      </p:sp>
      <p:sp>
        <p:nvSpPr>
          <p:cNvPr id="18" name="Reuse the results">
            <a:extLst xmlns:a="http://schemas.openxmlformats.org/drawingml/2006/main">
              <a:ext uri="{FF2B5EF4-FFF2-40B4-BE49-F238E27FC236}">
                <a16:creationId xmlns:a16="http://schemas.microsoft.com/office/drawing/2014/main" id="{2A48848B-3903-4B8D-B396-3F7D59FBAE1E}"/>
              </a:ext>
            </a:extLst>
          </p:cNvPr>
          <p:cNvSpPr>
            <a:spLocks xmlns:a="http://schemas.openxmlformats.org/drawingml/2006/main" noGrp="1"/>
          </p:cNvSpPr>
          <p:nvPr/>
        </p:nvSpPr>
        <p:spPr>
          <a:xfrm xmlns:a="http://schemas.openxmlformats.org/drawingml/2006/main">
            <a:off x="628650" y="521017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Reuse the results</a:t>
            </a:r>
          </a:p>
        </p:txBody>
      </p:sp>
      <p:sp>
        <p:nvSpPr>
          <p:cNvPr id="19" name="Save measurements and Type A uncertainty for analysis and reporting.">
            <a:extLst xmlns:a="http://schemas.openxmlformats.org/drawingml/2006/main">
              <a:ext uri="{FF2B5EF4-FFF2-40B4-BE49-F238E27FC236}">
                <a16:creationId xmlns:a16="http://schemas.microsoft.com/office/drawing/2014/main" id="{F79E7CD8-7092-4E6D-8525-3E9B7F4B42A3}"/>
              </a:ext>
            </a:extLst>
          </p:cNvPr>
          <p:cNvSpPr>
            <a:spLocks xmlns:a="http://schemas.openxmlformats.org/drawingml/2006/main" noGrp="1"/>
          </p:cNvSpPr>
          <p:nvPr/>
        </p:nvSpPr>
        <p:spPr>
          <a:xfrm xmlns:a="http://schemas.openxmlformats.org/drawingml/2006/main">
            <a:off x="628650" y="55721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C3D1E2"/>
                </a:solidFill>
              </a:defRPr>
            </a:defPPr>
            <a:lvl1pPr algn="l">
              <a:defRPr sz="1500" b="0">
                <a:solidFill>
                  <a:srgbClr val="C3D1E2"/>
                </a:solidFill>
              </a:defRPr>
            </a:lvl1pPr>
            <a:lvl2pPr algn="l">
              <a:defRPr sz="1500" b="0">
                <a:solidFill>
                  <a:srgbClr val="C3D1E2"/>
                </a:solidFill>
              </a:defRPr>
            </a:lvl2pPr>
            <a:lvl3pPr algn="l">
              <a:defRPr sz="1500" b="0">
                <a:solidFill>
                  <a:srgbClr val="C3D1E2"/>
                </a:solidFill>
              </a:defRPr>
            </a:lvl3pPr>
            <a:lvl4pPr algn="l">
              <a:defRPr sz="1500" b="0">
                <a:solidFill>
                  <a:srgbClr val="C3D1E2"/>
                </a:solidFill>
              </a:defRPr>
            </a:lvl4pPr>
            <a:lvl5pPr algn="l">
              <a:defRPr sz="1500" b="0">
                <a:solidFill>
                  <a:srgbClr val="C3D1E2"/>
                </a:solidFill>
              </a:defRPr>
            </a:lvl5pPr>
            <a:lvl6pPr algn="l">
              <a:defRPr sz="1500" b="0">
                <a:solidFill>
                  <a:srgbClr val="C3D1E2"/>
                </a:solidFill>
              </a:defRPr>
            </a:lvl6pPr>
            <a:lvl7pPr algn="l">
              <a:defRPr sz="1500" b="0">
                <a:solidFill>
                  <a:srgbClr val="C3D1E2"/>
                </a:solidFill>
              </a:defRPr>
            </a:lvl7pPr>
            <a:lvl8pPr algn="l">
              <a:defRPr sz="1500" b="0">
                <a:solidFill>
                  <a:srgbClr val="C3D1E2"/>
                </a:solidFill>
              </a:defRPr>
            </a:lvl8pPr>
            <a:lvl9pPr algn="l">
              <a:defRPr sz="1500" b="0">
                <a:solidFill>
                  <a:srgbClr val="C3D1E2"/>
                </a:solidFill>
              </a:defRPr>
            </a:lvl9pPr>
          </a:lstStyle>
          <a:p xmlns:a="http://schemas.openxmlformats.org/drawingml/2006/main">
            <a:pPr algn="l">
              <a:defRPr sz="1500" b="0">
                <a:solidFill>
                  <a:srgbClr val="C3D1E2"/>
                </a:solidFill>
              </a:defRPr>
            </a:pPr>
            <a:r>
              <a:rPr sz="1500" b="0">
                <a:solidFill>
                  <a:srgbClr val="C3D1E2"/>
                </a:solidFill>
              </a:rPr>
              <a:t>Save measurements and Type A uncertainty</a:t>
            </a:r>
          </a:p>
          <a:p xmlns:a="http://schemas.openxmlformats.org/drawingml/2006/main">
            <a:pPr algn="l">
              <a:defRPr sz="1500" b="0">
                <a:solidFill>
                  <a:srgbClr val="C3D1E2"/>
                </a:solidFill>
              </a:defRPr>
            </a:pPr>
            <a:r>
              <a:rPr sz="1500" b="0">
                <a:solidFill>
                  <a:srgbClr val="C3D1E2"/>
                </a:solidFill>
              </a:rPr>
              <a:t>for analysis and reporting.</a:t>
            </a:r>
          </a:p>
        </p:txBody>
      </p:sp>
      <p:pic>
        <p:nvPicPr>
          <p:cNvPr id="20" name="">
            <a:extLst xmlns:a="http://schemas.openxmlformats.org/drawingml/2006/main">
              <a:ext uri="{FF2B5EF4-FFF2-40B4-BE49-F238E27FC236}">
                <a16:creationId xmlns:a16="http://schemas.microsoft.com/office/drawing/2014/main" id="{F6F40CD5-5837-4378-A97E-778EC02A06B4}"/>
              </a:ext>
            </a:extLst>
          </p:cNvPr>
          <p:cNvPicPr>
            <a:picLocks xmlns:a="http://schemas.openxmlformats.org/drawingml/2006/main" noChangeAspect="1"/>
          </p:cNvPicPr>
          <p:nvPr/>
        </p:nvPicPr>
        <p:blipFill>
          <a:blip xmlns:r="http://schemas.openxmlformats.org/officeDocument/2006/relationships" xmlns:a="http://schemas.openxmlformats.org/drawingml/2006/main" r:embed="Re97ed8e5c93642fb"/>
          <a:stretch xmlns:a="http://schemas.openxmlformats.org/drawingml/2006/main"/>
        </p:blipFill>
        <p:spPr>
          <a:xfrm xmlns:a="http://schemas.openxmlformats.org/drawingml/2006/main">
            <a:off x="5619750" y="1933575"/>
            <a:ext cx="6115050" cy="4586288"/>
          </a:xfrm>
          <a:prstGeom xmlns:a="http://schemas.openxmlformats.org/drawingml/2006/main" prst="rect">
            <a:avLst/>
          </a:prstGeom>
        </p:spPr>
      </p:pic>
      <p:sp>
        <p:nvSpPr>
          <p:cNvPr id="21" name="Reference-based equipment illustration; displays intentionally black.">
            <a:extLst xmlns:a="http://schemas.openxmlformats.org/drawingml/2006/main">
              <a:ext uri="{FF2B5EF4-FFF2-40B4-BE49-F238E27FC236}">
                <a16:creationId xmlns:a16="http://schemas.microsoft.com/office/drawing/2014/main" id="{8315E59F-5228-4BE7-BF41-24C95C59A1B3}"/>
              </a:ext>
            </a:extLst>
          </p:cNvPr>
          <p:cNvSpPr>
            <a:spLocks xmlns:a="http://schemas.openxmlformats.org/drawingml/2006/main" noGrp="1"/>
          </p:cNvSpPr>
          <p:nvPr/>
        </p:nvSpPr>
        <p:spPr>
          <a:xfrm xmlns:a="http://schemas.openxmlformats.org/drawingml/2006/main">
            <a:off x="5619750" y="6572250"/>
            <a:ext cx="61150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00" b="0">
                <a:solidFill>
                  <a:srgbClr val="8DA5C0"/>
                </a:solidFill>
              </a:defRPr>
            </a:defPPr>
            <a:lvl1pPr algn="l">
              <a:defRPr sz="900" b="0">
                <a:solidFill>
                  <a:srgbClr val="8DA5C0"/>
                </a:solidFill>
              </a:defRPr>
            </a:lvl1pPr>
            <a:lvl2pPr algn="l">
              <a:defRPr sz="900" b="0">
                <a:solidFill>
                  <a:srgbClr val="8DA5C0"/>
                </a:solidFill>
              </a:defRPr>
            </a:lvl2pPr>
            <a:lvl3pPr algn="l">
              <a:defRPr sz="900" b="0">
                <a:solidFill>
                  <a:srgbClr val="8DA5C0"/>
                </a:solidFill>
              </a:defRPr>
            </a:lvl3pPr>
            <a:lvl4pPr algn="l">
              <a:defRPr sz="900" b="0">
                <a:solidFill>
                  <a:srgbClr val="8DA5C0"/>
                </a:solidFill>
              </a:defRPr>
            </a:lvl4pPr>
            <a:lvl5pPr algn="l">
              <a:defRPr sz="900" b="0">
                <a:solidFill>
                  <a:srgbClr val="8DA5C0"/>
                </a:solidFill>
              </a:defRPr>
            </a:lvl5pPr>
            <a:lvl6pPr algn="l">
              <a:defRPr sz="900" b="0">
                <a:solidFill>
                  <a:srgbClr val="8DA5C0"/>
                </a:solidFill>
              </a:defRPr>
            </a:lvl6pPr>
            <a:lvl7pPr algn="l">
              <a:defRPr sz="900" b="0">
                <a:solidFill>
                  <a:srgbClr val="8DA5C0"/>
                </a:solidFill>
              </a:defRPr>
            </a:lvl7pPr>
            <a:lvl8pPr algn="l">
              <a:defRPr sz="900" b="0">
                <a:solidFill>
                  <a:srgbClr val="8DA5C0"/>
                </a:solidFill>
              </a:defRPr>
            </a:lvl8pPr>
            <a:lvl9pPr algn="l">
              <a:defRPr sz="900" b="0">
                <a:solidFill>
                  <a:srgbClr val="8DA5C0"/>
                </a:solidFill>
              </a:defRPr>
            </a:lvl9pPr>
          </a:lstStyle>
          <a:p xmlns:a="http://schemas.openxmlformats.org/drawingml/2006/main">
            <a:pPr algn="l">
              <a:defRPr sz="900" b="0">
                <a:solidFill>
                  <a:srgbClr val="8DA5C0"/>
                </a:solidFill>
              </a:defRPr>
            </a:pPr>
            <a:r>
              <a:rPr sz="900" b="0">
                <a:solidFill>
                  <a:srgbClr val="8DA5C0"/>
                </a:solidFill>
              </a:rPr>
              <a:t>Reference-based equipment illustration; displays intentionally black.</a:t>
            </a:r>
          </a:p>
        </p:txBody>
      </p:sp>
    </p:spTree>
    <p:extLst>
      <p:ext uri="{BB962C8B-B14F-4D97-AF65-F5344CB8AC3E}">
        <p14:creationId xmlns:p14="http://schemas.microsoft.com/office/powerpoint/2010/main" val="47678286"/>
      </p:ext>
    </p:extLst>
  </p:cSld>
</p:sld>
</file>

<file path=ppt/slides/slide3.xml><?xml version="1.0" encoding="utf-8"?>
<p:sld xmlns:p="http://schemas.openxmlformats.org/presentationml/2006/main">
  <p:cSld>
    <p:bg>
      <p:bgPr>
        <a:solidFill xmlns:a="http://schemas.openxmlformats.org/drawingml/2006/main">
          <a:srgbClr val="08142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AA82C1-A46F-4F5B-8653-0C8B319406D5}"/>
              </a:ext>
            </a:extLst>
          </p:cNvPr>
          <p:cNvSpPr>
            <a:spLocks xmlns:a="http://schemas.openxmlformats.org/drawingml/2006/main" noGrp="1"/>
          </p:cNvSpPr>
          <p:nvPr/>
        </p:nvSpPr>
        <p:spPr>
          <a:xfrm xmlns:a="http://schemas.openxmlformats.org/drawingml/2006/main">
            <a:off x="457200" y="20955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1">
                <a:solidFill>
                  <a:srgbClr val="65D4EC"/>
                </a:solidFill>
              </a:defRPr>
            </a:defPPr>
            <a:lvl1pPr>
              <a:buNone/>
              <a:defRPr sz="1050" b="1">
                <a:solidFill>
                  <a:srgbClr val="65D4EC"/>
                </a:solidFill>
              </a:defRPr>
            </a:lvl1pPr>
            <a:lvl2pPr>
              <a:buNone/>
              <a:defRPr sz="1050" b="1">
                <a:solidFill>
                  <a:srgbClr val="65D4EC"/>
                </a:solidFill>
              </a:defRPr>
            </a:lvl2pPr>
            <a:lvl3pPr>
              <a:buNone/>
              <a:defRPr sz="1050" b="1">
                <a:solidFill>
                  <a:srgbClr val="65D4EC"/>
                </a:solidFill>
              </a:defRPr>
            </a:lvl3pPr>
            <a:lvl4pPr>
              <a:buNone/>
              <a:defRPr sz="1050" b="1">
                <a:solidFill>
                  <a:srgbClr val="65D4EC"/>
                </a:solidFill>
              </a:defRPr>
            </a:lvl4pPr>
            <a:lvl5pPr>
              <a:buNone/>
              <a:defRPr sz="1050" b="1">
                <a:solidFill>
                  <a:srgbClr val="65D4EC"/>
                </a:solidFill>
              </a:defRPr>
            </a:lvl5pPr>
            <a:lvl6pPr>
              <a:buNone/>
              <a:defRPr sz="1050" b="1">
                <a:solidFill>
                  <a:srgbClr val="65D4EC"/>
                </a:solidFill>
              </a:defRPr>
            </a:lvl6pPr>
            <a:lvl7pPr>
              <a:buNone/>
              <a:defRPr sz="1050" b="1">
                <a:solidFill>
                  <a:srgbClr val="65D4EC"/>
                </a:solidFill>
              </a:defRPr>
            </a:lvl7pPr>
            <a:lvl8pPr>
              <a:buNone/>
              <a:defRPr sz="1050" b="1">
                <a:solidFill>
                  <a:srgbClr val="65D4EC"/>
                </a:solidFill>
              </a:defRPr>
            </a:lvl8pPr>
            <a:lvl9pPr>
              <a:buNone/>
              <a:defRPr sz="1050" b="1">
                <a:solidFill>
                  <a:srgbClr val="65D4EC"/>
                </a:solidFill>
              </a:defRPr>
            </a:lvl9pPr>
          </a:lstStyle>
          <a:p xmlns:a="http://schemas.openxmlformats.org/drawingml/2006/main">
            <a:pPr>
              <a:buNone/>
              <a:defRPr sz="1050" b="1">
                <a:solidFill>
                  <a:srgbClr val="65D4EC"/>
                </a:solidFill>
              </a:defRPr>
            </a:pPr>
            <a:r>
              <a:rPr sz="1050" b="1">
                <a:solidFill>
                  <a:srgbClr val="65D4EC"/>
                </a:solidFill>
              </a:rPr>
              <a:t>METROLOGY WORKBENCH / IN THE SOFTWARE</a:t>
            </a:r>
          </a:p>
        </p:txBody>
      </p:sp>
      <p:sp>
        <p:nvSpPr>
          <p:cNvPr id="2" name="">
            <a:extLst xmlns:a="http://schemas.openxmlformats.org/drawingml/2006/main">
              <a:ext uri="{FF2B5EF4-FFF2-40B4-BE49-F238E27FC236}">
                <a16:creationId xmlns:a16="http://schemas.microsoft.com/office/drawing/2014/main" id="{BF2FC4E9-9D57-46CF-8BC8-02D4A1B53847}"/>
              </a:ext>
            </a:extLst>
          </p:cNvPr>
          <p:cNvSpPr>
            <a:spLocks xmlns:a="http://schemas.openxmlformats.org/drawingml/2006/main" noGrp="1"/>
          </p:cNvSpPr>
          <p:nvPr/>
        </p:nvSpPr>
        <p:spPr>
          <a:xfrm xmlns:a="http://schemas.openxmlformats.org/drawingml/2006/main">
            <a:off x="457200" y="514350"/>
            <a:ext cx="11334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FFFFFF"/>
                </a:solidFill>
              </a:defRPr>
            </a:defPPr>
            <a:lvl1pPr>
              <a:buNone/>
              <a:defRPr sz="2850" b="1">
                <a:solidFill>
                  <a:srgbClr val="FFFFFF"/>
                </a:solidFill>
              </a:defRPr>
            </a:lvl1pPr>
            <a:lvl2pPr>
              <a:buNone/>
              <a:defRPr sz="2850" b="1">
                <a:solidFill>
                  <a:srgbClr val="FFFFFF"/>
                </a:solidFill>
              </a:defRPr>
            </a:lvl2pPr>
            <a:lvl3pPr>
              <a:buNone/>
              <a:defRPr sz="2850" b="1">
                <a:solidFill>
                  <a:srgbClr val="FFFFFF"/>
                </a:solidFill>
              </a:defRPr>
            </a:lvl3pPr>
            <a:lvl4pPr>
              <a:buNone/>
              <a:defRPr sz="2850" b="1">
                <a:solidFill>
                  <a:srgbClr val="FFFFFF"/>
                </a:solidFill>
              </a:defRPr>
            </a:lvl4pPr>
            <a:lvl5pPr>
              <a:buNone/>
              <a:defRPr sz="2850" b="1">
                <a:solidFill>
                  <a:srgbClr val="FFFFFF"/>
                </a:solidFill>
              </a:defRPr>
            </a:lvl5pPr>
            <a:lvl6pPr>
              <a:buNone/>
              <a:defRPr sz="2850" b="1">
                <a:solidFill>
                  <a:srgbClr val="FFFFFF"/>
                </a:solidFill>
              </a:defRPr>
            </a:lvl6pPr>
            <a:lvl7pPr>
              <a:buNone/>
              <a:defRPr sz="2850" b="1">
                <a:solidFill>
                  <a:srgbClr val="FFFFFF"/>
                </a:solidFill>
              </a:defRPr>
            </a:lvl7pPr>
            <a:lvl8pPr>
              <a:buNone/>
              <a:defRPr sz="2850" b="1">
                <a:solidFill>
                  <a:srgbClr val="FFFFFF"/>
                </a:solidFill>
              </a:defRPr>
            </a:lvl8pPr>
            <a:lvl9pPr>
              <a:buNone/>
              <a:defRPr sz="2850" b="1">
                <a:solidFill>
                  <a:srgbClr val="FFFFFF"/>
                </a:solidFill>
              </a:defRPr>
            </a:lvl9pPr>
          </a:lstStyle>
          <a:p xmlns:a="http://schemas.openxmlformats.org/drawingml/2006/main">
            <a:pPr>
              <a:buNone/>
              <a:defRPr sz="2850" b="1">
                <a:solidFill>
                  <a:srgbClr val="FFFFFF"/>
                </a:solidFill>
              </a:defRPr>
            </a:pPr>
            <a:r>
              <a:rPr sz="2850" b="1">
                <a:solidFill>
                  <a:srgbClr val="FFFFFF"/>
                </a:solidFill>
              </a:rPr>
              <a:t>Inspect the measurements behind a result</a:t>
            </a:r>
          </a:p>
        </p:txBody>
      </p:sp>
      <p:sp>
        <p:nvSpPr>
          <p:cNvPr id="3" name="">
            <a:extLst xmlns:a="http://schemas.openxmlformats.org/drawingml/2006/main">
              <a:ext uri="{FF2B5EF4-FFF2-40B4-BE49-F238E27FC236}">
                <a16:creationId xmlns:a16="http://schemas.microsoft.com/office/drawing/2014/main" id="{94B2A525-7B50-4F5E-B623-244BEBED5E1B}"/>
              </a:ext>
            </a:extLst>
          </p:cNvPr>
          <p:cNvSpPr>
            <a:spLocks xmlns:a="http://schemas.openxmlformats.org/drawingml/2006/main" noGrp="1"/>
          </p:cNvSpPr>
          <p:nvPr/>
        </p:nvSpPr>
        <p:spPr>
          <a:xfrm xmlns:a="http://schemas.openxmlformats.org/drawingml/2006/main">
            <a:off x="457200" y="1028700"/>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CAD6E8"/>
                </a:solidFill>
              </a:defRPr>
            </a:defPPr>
            <a:lvl1pPr>
              <a:buNone/>
              <a:defRPr sz="1500" b="0">
                <a:solidFill>
                  <a:srgbClr val="CAD6E8"/>
                </a:solidFill>
              </a:defRPr>
            </a:lvl1pPr>
            <a:lvl2pPr>
              <a:buNone/>
              <a:defRPr sz="1500" b="0">
                <a:solidFill>
                  <a:srgbClr val="CAD6E8"/>
                </a:solidFill>
              </a:defRPr>
            </a:lvl2pPr>
            <a:lvl3pPr>
              <a:buNone/>
              <a:defRPr sz="1500" b="0">
                <a:solidFill>
                  <a:srgbClr val="CAD6E8"/>
                </a:solidFill>
              </a:defRPr>
            </a:lvl3pPr>
            <a:lvl4pPr>
              <a:buNone/>
              <a:defRPr sz="1500" b="0">
                <a:solidFill>
                  <a:srgbClr val="CAD6E8"/>
                </a:solidFill>
              </a:defRPr>
            </a:lvl4pPr>
            <a:lvl5pPr>
              <a:buNone/>
              <a:defRPr sz="1500" b="0">
                <a:solidFill>
                  <a:srgbClr val="CAD6E8"/>
                </a:solidFill>
              </a:defRPr>
            </a:lvl5pPr>
            <a:lvl6pPr>
              <a:buNone/>
              <a:defRPr sz="1500" b="0">
                <a:solidFill>
                  <a:srgbClr val="CAD6E8"/>
                </a:solidFill>
              </a:defRPr>
            </a:lvl6pPr>
            <a:lvl7pPr>
              <a:buNone/>
              <a:defRPr sz="1500" b="0">
                <a:solidFill>
                  <a:srgbClr val="CAD6E8"/>
                </a:solidFill>
              </a:defRPr>
            </a:lvl7pPr>
            <a:lvl8pPr>
              <a:buNone/>
              <a:defRPr sz="1500" b="0">
                <a:solidFill>
                  <a:srgbClr val="CAD6E8"/>
                </a:solidFill>
              </a:defRPr>
            </a:lvl8pPr>
            <a:lvl9pPr>
              <a:buNone/>
              <a:defRPr sz="1500" b="0">
                <a:solidFill>
                  <a:srgbClr val="CAD6E8"/>
                </a:solidFill>
              </a:defRPr>
            </a:lvl9pPr>
          </a:lstStyle>
          <a:p xmlns:a="http://schemas.openxmlformats.org/drawingml/2006/main">
            <a:pPr>
              <a:buNone/>
              <a:defRPr sz="1500" b="0">
                <a:solidFill>
                  <a:srgbClr val="CAD6E8"/>
                </a:solidFill>
              </a:defRPr>
            </a:pPr>
            <a:r>
              <a:rPr sz="1500" b="0">
                <a:solidFill>
                  <a:srgbClr val="CAD6E8"/>
                </a:solidFill>
              </a:rPr>
              <a:t>Select a saved session and test point, then compare readings in chart or table form.</a:t>
            </a:r>
          </a:p>
        </p:txBody>
      </p:sp>
      <p:sp>
        <p:nvSpPr>
          <p:cNvPr id="4" name="">
            <a:extLst xmlns:a="http://schemas.openxmlformats.org/drawingml/2006/main">
              <a:ext uri="{FF2B5EF4-FFF2-40B4-BE49-F238E27FC236}">
                <a16:creationId xmlns:a16="http://schemas.microsoft.com/office/drawing/2014/main" id="{B3B06816-EFA6-45C3-A62B-446745E6182F}"/>
              </a:ext>
            </a:extLst>
          </p:cNvPr>
          <p:cNvSpPr>
            <a:spLocks xmlns:a="http://schemas.openxmlformats.org/drawingml/2006/main" noGrp="1"/>
          </p:cNvSpPr>
          <p:nvPr/>
        </p:nvSpPr>
        <p:spPr>
          <a:xfrm xmlns:a="http://schemas.openxmlformats.org/drawingml/2006/main">
            <a:off x="447675" y="1476375"/>
            <a:ext cx="11296650" cy="4600575"/>
          </a:xfrm>
          <a:prstGeom xmlns:a="http://schemas.openxmlformats.org/drawingml/2006/main" prst="rect">
            <a:avLst/>
          </a:prstGeom>
          <a:solidFill xmlns:a="http://schemas.openxmlformats.org/drawingml/2006/main">
            <a:srgbClr val="0D182A"/>
          </a:solidFill>
          <a:ln xmlns:a="http://schemas.openxmlformats.org/drawingml/2006/main" w="9525">
            <a:solidFill>
              <a:srgbClr val="294560"/>
            </a:solidFill>
          </a:ln>
        </p:spPr>
      </p:sp>
      <p:pic>
        <p:nvPicPr>
          <p:cNvPr id="5" name="">
            <a:extLst xmlns:a="http://schemas.openxmlformats.org/drawingml/2006/main">
              <a:ext uri="{FF2B5EF4-FFF2-40B4-BE49-F238E27FC236}">
                <a16:creationId xmlns:a16="http://schemas.microsoft.com/office/drawing/2014/main" id="{06CA0AA2-83CF-468C-9840-010317566F79}"/>
              </a:ext>
            </a:extLst>
          </p:cNvPr>
          <p:cNvPicPr>
            <a:picLocks xmlns:a="http://schemas.openxmlformats.org/drawingml/2006/main" noChangeAspect="1"/>
          </p:cNvPicPr>
          <p:nvPr/>
        </p:nvPicPr>
        <p:blipFill>
          <a:blip xmlns:r="http://schemas.openxmlformats.org/officeDocument/2006/relationships" xmlns:a="http://schemas.openxmlformats.org/drawingml/2006/main" r:embed="R72665d0bf3d74ac8"/>
          <a:stretch xmlns:a="http://schemas.openxmlformats.org/drawingml/2006/main"/>
        </p:blipFill>
        <p:spPr>
          <a:xfrm xmlns:a="http://schemas.openxmlformats.org/drawingml/2006/main">
            <a:off x="457200" y="1485900"/>
            <a:ext cx="11277600" cy="45815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191C36-14FE-4830-9612-B9874DE1DA4A}"/>
              </a:ext>
            </a:extLst>
          </p:cNvPr>
          <p:cNvSpPr>
            <a:spLocks xmlns:a="http://schemas.openxmlformats.org/drawingml/2006/main" noGrp="1"/>
          </p:cNvSpPr>
          <p:nvPr/>
        </p:nvSpPr>
        <p:spPr>
          <a:xfrm xmlns:a="http://schemas.openxmlformats.org/drawingml/2006/main">
            <a:off x="457200" y="6515100"/>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94AAC5"/>
                </a:solidFill>
              </a:defRPr>
            </a:defPPr>
            <a:lvl1pPr>
              <a:buNone/>
              <a:defRPr sz="1050" b="0">
                <a:solidFill>
                  <a:srgbClr val="94AAC5"/>
                </a:solidFill>
              </a:defRPr>
            </a:lvl1pPr>
            <a:lvl2pPr>
              <a:buNone/>
              <a:defRPr sz="1050" b="0">
                <a:solidFill>
                  <a:srgbClr val="94AAC5"/>
                </a:solidFill>
              </a:defRPr>
            </a:lvl2pPr>
            <a:lvl3pPr>
              <a:buNone/>
              <a:defRPr sz="1050" b="0">
                <a:solidFill>
                  <a:srgbClr val="94AAC5"/>
                </a:solidFill>
              </a:defRPr>
            </a:lvl3pPr>
            <a:lvl4pPr>
              <a:buNone/>
              <a:defRPr sz="1050" b="0">
                <a:solidFill>
                  <a:srgbClr val="94AAC5"/>
                </a:solidFill>
              </a:defRPr>
            </a:lvl4pPr>
            <a:lvl5pPr>
              <a:buNone/>
              <a:defRPr sz="1050" b="0">
                <a:solidFill>
                  <a:srgbClr val="94AAC5"/>
                </a:solidFill>
              </a:defRPr>
            </a:lvl5pPr>
            <a:lvl6pPr>
              <a:buNone/>
              <a:defRPr sz="1050" b="0">
                <a:solidFill>
                  <a:srgbClr val="94AAC5"/>
                </a:solidFill>
              </a:defRPr>
            </a:lvl6pPr>
            <a:lvl7pPr>
              <a:buNone/>
              <a:defRPr sz="1050" b="0">
                <a:solidFill>
                  <a:srgbClr val="94AAC5"/>
                </a:solidFill>
              </a:defRPr>
            </a:lvl7pPr>
            <a:lvl8pPr>
              <a:buNone/>
              <a:defRPr sz="1050" b="0">
                <a:solidFill>
                  <a:srgbClr val="94AAC5"/>
                </a:solidFill>
              </a:defRPr>
            </a:lvl8pPr>
            <a:lvl9pPr>
              <a:buNone/>
              <a:defRPr sz="1050" b="0">
                <a:solidFill>
                  <a:srgbClr val="94AAC5"/>
                </a:solidFill>
              </a:defRPr>
            </a:lvl9pPr>
          </a:lstStyle>
          <a:p xmlns:a="http://schemas.openxmlformats.org/drawingml/2006/main">
            <a:pPr>
              <a:buNone/>
              <a:defRPr sz="1050" b="0">
                <a:solidFill>
                  <a:srgbClr val="94AAC5"/>
                </a:solidFill>
              </a:defRPr>
            </a:pPr>
            <a:r>
              <a:rPr sz="1050" b="0">
                <a:solidFill>
                  <a:srgbClr val="94AAC5"/>
                </a:solidFill>
              </a:rPr>
              <a:t>Actual software using demonstration data  |  Companion video: 01-calibration-walkthrough.webm</a:t>
            </a:r>
          </a:p>
        </p:txBody>
      </p:sp>
    </p:spTree>
    <p:extLst>
      <p:ext uri="{BB962C8B-B14F-4D97-AF65-F5344CB8AC3E}">
        <p14:creationId xmlns:p14="http://schemas.microsoft.com/office/powerpoint/2010/main" val="291162463"/>
      </p:ext>
    </p:extLst>
  </p:cSld>
</p:sld>
</file>

<file path=ppt/slides/slide4.xml><?xml version="1.0" encoding="utf-8"?>
<p:sld xmlns:p="http://schemas.openxmlformats.org/presentationml/2006/main">
  <p:cSld>
    <p:bg>
      <p:bgPr>
        <a:solidFill xmlns:a="http://schemas.openxmlformats.org/drawingml/2006/main">
          <a:srgbClr val="081426"/>
        </a:solidFill>
      </p:bgPr>
    </p:bg>
    <p:spTree>
      <p:nvGrpSpPr>
        <p:cNvPr id="1" name=""/>
        <p:cNvGrpSpPr/>
        <p:nvPr/>
      </p:nvGrpSpPr>
      <p:grpSpPr>
        <a:xfrm xmlns:a="http://schemas.openxmlformats.org/drawingml/2006/main"/>
      </p:grpSpPr>
      <p:sp>
        <p:nvSpPr>
          <p:cNvPr id="43" name="METROLOGY WORKBENCH">
            <a:extLst xmlns:a="http://schemas.openxmlformats.org/drawingml/2006/main">
              <a:ext uri="{FF2B5EF4-FFF2-40B4-BE49-F238E27FC236}">
                <a16:creationId xmlns:a16="http://schemas.microsoft.com/office/drawing/2014/main" id="{5AC80C98-5A94-4611-BD75-FF31E4F8A388}"/>
              </a:ext>
            </a:extLst>
          </p:cNvPr>
          <p:cNvSpPr>
            <a:spLocks xmlns:a="http://schemas.openxmlformats.org/drawingml/2006/main" noGrp="1"/>
          </p:cNvSpPr>
          <p:nvPr/>
        </p:nvSpPr>
        <p:spPr>
          <a:xfrm xmlns:a="http://schemas.openxmlformats.org/drawingml/2006/main">
            <a:off x="457200" y="26670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1">
                <a:solidFill>
                  <a:srgbClr val="68D6B1"/>
                </a:solidFill>
              </a:defRPr>
            </a:defPPr>
            <a:lvl1pPr algn="l">
              <a:defRPr sz="1125" b="1">
                <a:solidFill>
                  <a:srgbClr val="68D6B1"/>
                </a:solidFill>
              </a:defRPr>
            </a:lvl1pPr>
            <a:lvl2pPr algn="l">
              <a:defRPr sz="1125" b="1">
                <a:solidFill>
                  <a:srgbClr val="68D6B1"/>
                </a:solidFill>
              </a:defRPr>
            </a:lvl2pPr>
            <a:lvl3pPr algn="l">
              <a:defRPr sz="1125" b="1">
                <a:solidFill>
                  <a:srgbClr val="68D6B1"/>
                </a:solidFill>
              </a:defRPr>
            </a:lvl3pPr>
            <a:lvl4pPr algn="l">
              <a:defRPr sz="1125" b="1">
                <a:solidFill>
                  <a:srgbClr val="68D6B1"/>
                </a:solidFill>
              </a:defRPr>
            </a:lvl4pPr>
            <a:lvl5pPr algn="l">
              <a:defRPr sz="1125" b="1">
                <a:solidFill>
                  <a:srgbClr val="68D6B1"/>
                </a:solidFill>
              </a:defRPr>
            </a:lvl5pPr>
            <a:lvl6pPr algn="l">
              <a:defRPr sz="1125" b="1">
                <a:solidFill>
                  <a:srgbClr val="68D6B1"/>
                </a:solidFill>
              </a:defRPr>
            </a:lvl6pPr>
            <a:lvl7pPr algn="l">
              <a:defRPr sz="1125" b="1">
                <a:solidFill>
                  <a:srgbClr val="68D6B1"/>
                </a:solidFill>
              </a:defRPr>
            </a:lvl7pPr>
            <a:lvl8pPr algn="l">
              <a:defRPr sz="1125" b="1">
                <a:solidFill>
                  <a:srgbClr val="68D6B1"/>
                </a:solidFill>
              </a:defRPr>
            </a:lvl8pPr>
            <a:lvl9pPr algn="l">
              <a:defRPr sz="1125" b="1">
                <a:solidFill>
                  <a:srgbClr val="68D6B1"/>
                </a:solidFill>
              </a:defRPr>
            </a:lvl9pPr>
          </a:lstStyle>
          <a:p xmlns:a="http://schemas.openxmlformats.org/drawingml/2006/main">
            <a:pPr algn="l">
              <a:defRPr sz="1125" b="1">
                <a:solidFill>
                  <a:srgbClr val="68D6B1"/>
                </a:solidFill>
              </a:defRPr>
            </a:pPr>
            <a:r>
              <a:rPr sz="1125" b="1">
                <a:solidFill>
                  <a:srgbClr val="68D6B1"/>
                </a:solidFill>
              </a:rPr>
              <a:t>METROLOGY WORKBENCH</a:t>
            </a:r>
          </a:p>
        </p:txBody>
      </p:sp>
      <p:sp>
        <p:nvSpPr>
          <p:cNvPr id="2" name="Uncertainty Budget">
            <a:extLst xmlns:a="http://schemas.openxmlformats.org/drawingml/2006/main">
              <a:ext uri="{FF2B5EF4-FFF2-40B4-BE49-F238E27FC236}">
                <a16:creationId xmlns:a16="http://schemas.microsoft.com/office/drawing/2014/main" id="{5C340338-8824-4457-942C-282C3CEDC47A}"/>
              </a:ext>
            </a:extLst>
          </p:cNvPr>
          <p:cNvSpPr>
            <a:spLocks xmlns:a="http://schemas.openxmlformats.org/drawingml/2006/main" noGrp="1"/>
          </p:cNvSpPr>
          <p:nvPr/>
        </p:nvSpPr>
        <p:spPr>
          <a:xfrm xmlns:a="http://schemas.openxmlformats.org/drawingml/2006/main">
            <a:off x="457200" y="619125"/>
            <a:ext cx="11144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600" b="1">
                <a:solidFill>
                  <a:srgbClr val="FFFFFF"/>
                </a:solidFill>
              </a:defRPr>
            </a:defPPr>
            <a:lvl1pPr algn="l">
              <a:defRPr sz="3600" b="1">
                <a:solidFill>
                  <a:srgbClr val="FFFFFF"/>
                </a:solidFill>
              </a:defRPr>
            </a:lvl1pPr>
            <a:lvl2pPr algn="l">
              <a:defRPr sz="3600" b="1">
                <a:solidFill>
                  <a:srgbClr val="FFFFFF"/>
                </a:solidFill>
              </a:defRPr>
            </a:lvl2pPr>
            <a:lvl3pPr algn="l">
              <a:defRPr sz="3600" b="1">
                <a:solidFill>
                  <a:srgbClr val="FFFFFF"/>
                </a:solidFill>
              </a:defRPr>
            </a:lvl3pPr>
            <a:lvl4pPr algn="l">
              <a:defRPr sz="3600" b="1">
                <a:solidFill>
                  <a:srgbClr val="FFFFFF"/>
                </a:solidFill>
              </a:defRPr>
            </a:lvl4pPr>
            <a:lvl5pPr algn="l">
              <a:defRPr sz="3600" b="1">
                <a:solidFill>
                  <a:srgbClr val="FFFFFF"/>
                </a:solidFill>
              </a:defRPr>
            </a:lvl5pPr>
            <a:lvl6pPr algn="l">
              <a:defRPr sz="3600" b="1">
                <a:solidFill>
                  <a:srgbClr val="FFFFFF"/>
                </a:solidFill>
              </a:defRPr>
            </a:lvl6pPr>
            <a:lvl7pPr algn="l">
              <a:defRPr sz="3600" b="1">
                <a:solidFill>
                  <a:srgbClr val="FFFFFF"/>
                </a:solidFill>
              </a:defRPr>
            </a:lvl7pPr>
            <a:lvl8pPr algn="l">
              <a:defRPr sz="3600" b="1">
                <a:solidFill>
                  <a:srgbClr val="FFFFFF"/>
                </a:solidFill>
              </a:defRPr>
            </a:lvl8pPr>
            <a:lvl9pPr algn="l">
              <a:defRPr sz="3600" b="1">
                <a:solidFill>
                  <a:srgbClr val="FFFFFF"/>
                </a:solidFill>
              </a:defRPr>
            </a:lvl9pPr>
          </a:lstStyle>
          <a:p xmlns:a="http://schemas.openxmlformats.org/drawingml/2006/main">
            <a:pPr algn="l">
              <a:defRPr sz="3600" b="1">
                <a:solidFill>
                  <a:srgbClr val="FFFFFF"/>
                </a:solidFill>
              </a:defRPr>
            </a:pPr>
            <a:r>
              <a:rPr sz="3600" b="1">
                <a:solidFill>
                  <a:srgbClr val="FFFFFF"/>
                </a:solidFill>
              </a:rPr>
              <a:t>Uncertainty Budget</a:t>
            </a:r>
          </a:p>
        </p:txBody>
      </p:sp>
      <p:sp>
        <p:nvSpPr>
          <p:cNvPr id="3" name="Measurement uncertainty and decision risk in one workspace">
            <a:extLst xmlns:a="http://schemas.openxmlformats.org/drawingml/2006/main">
              <a:ext uri="{FF2B5EF4-FFF2-40B4-BE49-F238E27FC236}">
                <a16:creationId xmlns:a16="http://schemas.microsoft.com/office/drawing/2014/main" id="{9C070C49-9A92-4589-B393-BF7BF629F898}"/>
              </a:ext>
            </a:extLst>
          </p:cNvPr>
          <p:cNvSpPr>
            <a:spLocks xmlns:a="http://schemas.openxmlformats.org/drawingml/2006/main" noGrp="1"/>
          </p:cNvSpPr>
          <p:nvPr/>
        </p:nvSpPr>
        <p:spPr>
          <a:xfrm xmlns:a="http://schemas.openxmlformats.org/drawingml/2006/main">
            <a:off x="457200" y="1257300"/>
            <a:ext cx="1114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C3D1E2"/>
                </a:solidFill>
              </a:defRPr>
            </a:defPPr>
            <a:lvl1pPr algn="l">
              <a:defRPr sz="1650" b="0">
                <a:solidFill>
                  <a:srgbClr val="C3D1E2"/>
                </a:solidFill>
              </a:defRPr>
            </a:lvl1pPr>
            <a:lvl2pPr algn="l">
              <a:defRPr sz="1650" b="0">
                <a:solidFill>
                  <a:srgbClr val="C3D1E2"/>
                </a:solidFill>
              </a:defRPr>
            </a:lvl2pPr>
            <a:lvl3pPr algn="l">
              <a:defRPr sz="1650" b="0">
                <a:solidFill>
                  <a:srgbClr val="C3D1E2"/>
                </a:solidFill>
              </a:defRPr>
            </a:lvl3pPr>
            <a:lvl4pPr algn="l">
              <a:defRPr sz="1650" b="0">
                <a:solidFill>
                  <a:srgbClr val="C3D1E2"/>
                </a:solidFill>
              </a:defRPr>
            </a:lvl4pPr>
            <a:lvl5pPr algn="l">
              <a:defRPr sz="1650" b="0">
                <a:solidFill>
                  <a:srgbClr val="C3D1E2"/>
                </a:solidFill>
              </a:defRPr>
            </a:lvl5pPr>
            <a:lvl6pPr algn="l">
              <a:defRPr sz="1650" b="0">
                <a:solidFill>
                  <a:srgbClr val="C3D1E2"/>
                </a:solidFill>
              </a:defRPr>
            </a:lvl6pPr>
            <a:lvl7pPr algn="l">
              <a:defRPr sz="1650" b="0">
                <a:solidFill>
                  <a:srgbClr val="C3D1E2"/>
                </a:solidFill>
              </a:defRPr>
            </a:lvl7pPr>
            <a:lvl8pPr algn="l">
              <a:defRPr sz="1650" b="0">
                <a:solidFill>
                  <a:srgbClr val="C3D1E2"/>
                </a:solidFill>
              </a:defRPr>
            </a:lvl8pPr>
            <a:lvl9pPr algn="l">
              <a:defRPr sz="1650" b="0">
                <a:solidFill>
                  <a:srgbClr val="C3D1E2"/>
                </a:solidFill>
              </a:defRPr>
            </a:lvl9pPr>
          </a:lstStyle>
          <a:p xmlns:a="http://schemas.openxmlformats.org/drawingml/2006/main">
            <a:pPr algn="l">
              <a:defRPr sz="1650" b="0">
                <a:solidFill>
                  <a:srgbClr val="C3D1E2"/>
                </a:solidFill>
              </a:defRPr>
            </a:pPr>
            <a:r>
              <a:rPr sz="1650" b="0">
                <a:solidFill>
                  <a:srgbClr val="C3D1E2"/>
                </a:solidFill>
              </a:rPr>
              <a:t>Measurement uncertainty and decision risk in one workspace</a:t>
            </a:r>
          </a:p>
        </p:txBody>
      </p:sp>
      <p:sp>
        <p:nvSpPr>
          <p:cNvPr id="4" name="Layout shape">
            <a:extLst xmlns:a="http://schemas.openxmlformats.org/drawingml/2006/main">
              <a:ext uri="{FF2B5EF4-FFF2-40B4-BE49-F238E27FC236}">
                <a16:creationId xmlns:a16="http://schemas.microsoft.com/office/drawing/2014/main" id="{49F332AF-33D3-41DA-A971-9C50CE8CCB23}"/>
              </a:ext>
            </a:extLst>
          </p:cNvPr>
          <p:cNvSpPr>
            <a:spLocks xmlns:a="http://schemas.openxmlformats.org/drawingml/2006/main" noGrp="1"/>
          </p:cNvSpPr>
          <p:nvPr/>
        </p:nvSpPr>
        <p:spPr>
          <a:xfrm xmlns:a="http://schemas.openxmlformats.org/drawingml/2006/main">
            <a:off x="457200" y="1724025"/>
            <a:ext cx="11277600" cy="9525"/>
          </a:xfrm>
          <a:prstGeom xmlns:a="http://schemas.openxmlformats.org/drawingml/2006/main" prst="rect">
            <a:avLst/>
          </a:prstGeom>
          <a:solidFill xmlns:a="http://schemas.openxmlformats.org/drawingml/2006/main">
            <a:srgbClr val="294560"/>
          </a:solidFill>
          <a:ln xmlns:a="http://schemas.openxmlformats.org/drawingml/2006/main" w="0">
            <a:noFill/>
          </a:ln>
        </p:spPr>
      </p:sp>
      <p:sp>
        <p:nvSpPr>
          <p:cNvPr id="5" name="Layout shape">
            <a:extLst xmlns:a="http://schemas.openxmlformats.org/drawingml/2006/main">
              <a:ext uri="{FF2B5EF4-FFF2-40B4-BE49-F238E27FC236}">
                <a16:creationId xmlns:a16="http://schemas.microsoft.com/office/drawing/2014/main" id="{645C6E9D-3D6F-4159-93E9-77684048E67C}"/>
              </a:ext>
            </a:extLst>
          </p:cNvPr>
          <p:cNvSpPr>
            <a:spLocks xmlns:a="http://schemas.openxmlformats.org/drawingml/2006/main" noGrp="1"/>
          </p:cNvSpPr>
          <p:nvPr/>
        </p:nvSpPr>
        <p:spPr>
          <a:xfrm xmlns:a="http://schemas.openxmlformats.org/drawingml/2006/main">
            <a:off x="457200" y="2066925"/>
            <a:ext cx="28575" cy="657225"/>
          </a:xfrm>
          <a:prstGeom xmlns:a="http://schemas.openxmlformats.org/drawingml/2006/main" prst="rect">
            <a:avLst/>
          </a:prstGeom>
          <a:solidFill xmlns:a="http://schemas.openxmlformats.org/drawingml/2006/main">
            <a:srgbClr val="68D6B1"/>
          </a:solidFill>
          <a:ln xmlns:a="http://schemas.openxmlformats.org/drawingml/2006/main" w="0">
            <a:noFill/>
          </a:ln>
        </p:spPr>
      </p:sp>
      <p:sp>
        <p:nvSpPr>
          <p:cNvPr id="6" name="Import calibration data">
            <a:extLst xmlns:a="http://schemas.openxmlformats.org/drawingml/2006/main">
              <a:ext uri="{FF2B5EF4-FFF2-40B4-BE49-F238E27FC236}">
                <a16:creationId xmlns:a16="http://schemas.microsoft.com/office/drawing/2014/main" id="{4BF56232-DC3A-4057-8EA6-601DFF6E9682}"/>
              </a:ext>
            </a:extLst>
          </p:cNvPr>
          <p:cNvSpPr>
            <a:spLocks xmlns:a="http://schemas.openxmlformats.org/drawingml/2006/main" noGrp="1"/>
          </p:cNvSpPr>
          <p:nvPr/>
        </p:nvSpPr>
        <p:spPr>
          <a:xfrm xmlns:a="http://schemas.openxmlformats.org/drawingml/2006/main">
            <a:off x="628650" y="200977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Import calibration data</a:t>
            </a:r>
          </a:p>
        </p:txBody>
      </p:sp>
      <p:sp>
        <p:nvSpPr>
          <p:cNvPr id="7" name="Bring saved Type A results and measurement points into a new budget.">
            <a:extLst xmlns:a="http://schemas.openxmlformats.org/drawingml/2006/main">
              <a:ext uri="{FF2B5EF4-FFF2-40B4-BE49-F238E27FC236}">
                <a16:creationId xmlns:a16="http://schemas.microsoft.com/office/drawing/2014/main" id="{5A9C8ED0-59ED-473D-AC9A-7F4370A9E4C1}"/>
              </a:ext>
            </a:extLst>
          </p:cNvPr>
          <p:cNvSpPr>
            <a:spLocks xmlns:a="http://schemas.openxmlformats.org/drawingml/2006/main" noGrp="1"/>
          </p:cNvSpPr>
          <p:nvPr/>
        </p:nvSpPr>
        <p:spPr>
          <a:xfrm xmlns:a="http://schemas.openxmlformats.org/drawingml/2006/main">
            <a:off x="628650" y="23717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C3D1E2"/>
                </a:solidFill>
              </a:defRPr>
            </a:defPPr>
            <a:lvl1pPr algn="l">
              <a:defRPr sz="1500" b="0">
                <a:solidFill>
                  <a:srgbClr val="C3D1E2"/>
                </a:solidFill>
              </a:defRPr>
            </a:lvl1pPr>
            <a:lvl2pPr algn="l">
              <a:defRPr sz="1500" b="0">
                <a:solidFill>
                  <a:srgbClr val="C3D1E2"/>
                </a:solidFill>
              </a:defRPr>
            </a:lvl2pPr>
            <a:lvl3pPr algn="l">
              <a:defRPr sz="1500" b="0">
                <a:solidFill>
                  <a:srgbClr val="C3D1E2"/>
                </a:solidFill>
              </a:defRPr>
            </a:lvl3pPr>
            <a:lvl4pPr algn="l">
              <a:defRPr sz="1500" b="0">
                <a:solidFill>
                  <a:srgbClr val="C3D1E2"/>
                </a:solidFill>
              </a:defRPr>
            </a:lvl4pPr>
            <a:lvl5pPr algn="l">
              <a:defRPr sz="1500" b="0">
                <a:solidFill>
                  <a:srgbClr val="C3D1E2"/>
                </a:solidFill>
              </a:defRPr>
            </a:lvl5pPr>
            <a:lvl6pPr algn="l">
              <a:defRPr sz="1500" b="0">
                <a:solidFill>
                  <a:srgbClr val="C3D1E2"/>
                </a:solidFill>
              </a:defRPr>
            </a:lvl6pPr>
            <a:lvl7pPr algn="l">
              <a:defRPr sz="1500" b="0">
                <a:solidFill>
                  <a:srgbClr val="C3D1E2"/>
                </a:solidFill>
              </a:defRPr>
            </a:lvl7pPr>
            <a:lvl8pPr algn="l">
              <a:defRPr sz="1500" b="0">
                <a:solidFill>
                  <a:srgbClr val="C3D1E2"/>
                </a:solidFill>
              </a:defRPr>
            </a:lvl8pPr>
            <a:lvl9pPr algn="l">
              <a:defRPr sz="1500" b="0">
                <a:solidFill>
                  <a:srgbClr val="C3D1E2"/>
                </a:solidFill>
              </a:defRPr>
            </a:lvl9pPr>
          </a:lstStyle>
          <a:p xmlns:a="http://schemas.openxmlformats.org/drawingml/2006/main">
            <a:pPr algn="l">
              <a:defRPr sz="1500" b="0">
                <a:solidFill>
                  <a:srgbClr val="C3D1E2"/>
                </a:solidFill>
              </a:defRPr>
            </a:pPr>
            <a:r>
              <a:rPr sz="1500" b="0">
                <a:solidFill>
                  <a:srgbClr val="C3D1E2"/>
                </a:solidFill>
              </a:rPr>
              <a:t>Bring saved Type A results and measurement</a:t>
            </a:r>
          </a:p>
          <a:p xmlns:a="http://schemas.openxmlformats.org/drawingml/2006/main">
            <a:pPr algn="l">
              <a:defRPr sz="1500" b="0">
                <a:solidFill>
                  <a:srgbClr val="C3D1E2"/>
                </a:solidFill>
              </a:defRPr>
            </a:pPr>
            <a:r>
              <a:rPr sz="1500" b="0">
                <a:solidFill>
                  <a:srgbClr val="C3D1E2"/>
                </a:solidFill>
              </a:rPr>
              <a:t>points into a new budget.</a:t>
            </a:r>
          </a:p>
        </p:txBody>
      </p:sp>
      <p:sp>
        <p:nvSpPr>
          <p:cNvPr id="8" name="Layout shape">
            <a:extLst xmlns:a="http://schemas.openxmlformats.org/drawingml/2006/main">
              <a:ext uri="{FF2B5EF4-FFF2-40B4-BE49-F238E27FC236}">
                <a16:creationId xmlns:a16="http://schemas.microsoft.com/office/drawing/2014/main" id="{F9968FD7-384E-4CC6-9E07-0A0917CACFBB}"/>
              </a:ext>
            </a:extLst>
          </p:cNvPr>
          <p:cNvSpPr>
            <a:spLocks xmlns:a="http://schemas.openxmlformats.org/drawingml/2006/main" noGrp="1"/>
          </p:cNvSpPr>
          <p:nvPr/>
        </p:nvSpPr>
        <p:spPr>
          <a:xfrm xmlns:a="http://schemas.openxmlformats.org/drawingml/2006/main">
            <a:off x="628650" y="2952750"/>
            <a:ext cx="4533900" cy="9525"/>
          </a:xfrm>
          <a:prstGeom xmlns:a="http://schemas.openxmlformats.org/drawingml/2006/main" prst="rect">
            <a:avLst/>
          </a:prstGeom>
          <a:solidFill xmlns:a="http://schemas.openxmlformats.org/drawingml/2006/main">
            <a:srgbClr val="294560"/>
          </a:solidFill>
          <a:ln xmlns:a="http://schemas.openxmlformats.org/drawingml/2006/main" w="0">
            <a:noFill/>
          </a:ln>
        </p:spPr>
      </p:sp>
      <p:sp>
        <p:nvSpPr>
          <p:cNvPr id="9" name="Layout shape">
            <a:extLst xmlns:a="http://schemas.openxmlformats.org/drawingml/2006/main">
              <a:ext uri="{FF2B5EF4-FFF2-40B4-BE49-F238E27FC236}">
                <a16:creationId xmlns:a16="http://schemas.microsoft.com/office/drawing/2014/main" id="{CAEBBE3B-6A02-46EB-B533-CFABEA1886A7}"/>
              </a:ext>
            </a:extLst>
          </p:cNvPr>
          <p:cNvSpPr>
            <a:spLocks xmlns:a="http://schemas.openxmlformats.org/drawingml/2006/main" noGrp="1"/>
          </p:cNvSpPr>
          <p:nvPr/>
        </p:nvSpPr>
        <p:spPr>
          <a:xfrm xmlns:a="http://schemas.openxmlformats.org/drawingml/2006/main">
            <a:off x="457200" y="3133725"/>
            <a:ext cx="28575" cy="657225"/>
          </a:xfrm>
          <a:prstGeom xmlns:a="http://schemas.openxmlformats.org/drawingml/2006/main" prst="rect">
            <a:avLst/>
          </a:prstGeom>
          <a:solidFill xmlns:a="http://schemas.openxmlformats.org/drawingml/2006/main">
            <a:srgbClr val="68D6B1"/>
          </a:solidFill>
          <a:ln xmlns:a="http://schemas.openxmlformats.org/drawingml/2006/main" w="0">
            <a:noFill/>
          </a:ln>
        </p:spPr>
      </p:sp>
      <p:sp>
        <p:nvSpPr>
          <p:cNvPr id="10" name="Build the complete budget">
            <a:extLst xmlns:a="http://schemas.openxmlformats.org/drawingml/2006/main">
              <a:ext uri="{FF2B5EF4-FFF2-40B4-BE49-F238E27FC236}">
                <a16:creationId xmlns:a16="http://schemas.microsoft.com/office/drawing/2014/main" id="{E8A02C9A-1D99-4379-B0F8-91D48766DF8B}"/>
              </a:ext>
            </a:extLst>
          </p:cNvPr>
          <p:cNvSpPr>
            <a:spLocks xmlns:a="http://schemas.openxmlformats.org/drawingml/2006/main" noGrp="1"/>
          </p:cNvSpPr>
          <p:nvPr/>
        </p:nvSpPr>
        <p:spPr>
          <a:xfrm xmlns:a="http://schemas.openxmlformats.org/drawingml/2006/main">
            <a:off x="628650" y="307657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Build the complete budget</a:t>
            </a:r>
          </a:p>
        </p:txBody>
      </p:sp>
      <p:sp>
        <p:nvSpPr>
          <p:cNvPr id="11" name="Combine Type A results, instrument specifications and Type B contribut">
            <a:extLst xmlns:a="http://schemas.openxmlformats.org/drawingml/2006/main">
              <a:ext uri="{FF2B5EF4-FFF2-40B4-BE49-F238E27FC236}">
                <a16:creationId xmlns:a16="http://schemas.microsoft.com/office/drawing/2014/main" id="{865A6B8D-B405-43D8-99B7-D09212597B80}"/>
              </a:ext>
            </a:extLst>
          </p:cNvPr>
          <p:cNvSpPr>
            <a:spLocks xmlns:a="http://schemas.openxmlformats.org/drawingml/2006/main" noGrp="1"/>
          </p:cNvSpPr>
          <p:nvPr/>
        </p:nvSpPr>
        <p:spPr>
          <a:xfrm xmlns:a="http://schemas.openxmlformats.org/drawingml/2006/main">
            <a:off x="628650" y="34385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C3D1E2"/>
                </a:solidFill>
              </a:defRPr>
            </a:defPPr>
            <a:lvl1pPr algn="l">
              <a:defRPr sz="1500" b="0">
                <a:solidFill>
                  <a:srgbClr val="C3D1E2"/>
                </a:solidFill>
              </a:defRPr>
            </a:lvl1pPr>
            <a:lvl2pPr algn="l">
              <a:defRPr sz="1500" b="0">
                <a:solidFill>
                  <a:srgbClr val="C3D1E2"/>
                </a:solidFill>
              </a:defRPr>
            </a:lvl2pPr>
            <a:lvl3pPr algn="l">
              <a:defRPr sz="1500" b="0">
                <a:solidFill>
                  <a:srgbClr val="C3D1E2"/>
                </a:solidFill>
              </a:defRPr>
            </a:lvl3pPr>
            <a:lvl4pPr algn="l">
              <a:defRPr sz="1500" b="0">
                <a:solidFill>
                  <a:srgbClr val="C3D1E2"/>
                </a:solidFill>
              </a:defRPr>
            </a:lvl4pPr>
            <a:lvl5pPr algn="l">
              <a:defRPr sz="1500" b="0">
                <a:solidFill>
                  <a:srgbClr val="C3D1E2"/>
                </a:solidFill>
              </a:defRPr>
            </a:lvl5pPr>
            <a:lvl6pPr algn="l">
              <a:defRPr sz="1500" b="0">
                <a:solidFill>
                  <a:srgbClr val="C3D1E2"/>
                </a:solidFill>
              </a:defRPr>
            </a:lvl6pPr>
            <a:lvl7pPr algn="l">
              <a:defRPr sz="1500" b="0">
                <a:solidFill>
                  <a:srgbClr val="C3D1E2"/>
                </a:solidFill>
              </a:defRPr>
            </a:lvl7pPr>
            <a:lvl8pPr algn="l">
              <a:defRPr sz="1500" b="0">
                <a:solidFill>
                  <a:srgbClr val="C3D1E2"/>
                </a:solidFill>
              </a:defRPr>
            </a:lvl8pPr>
            <a:lvl9pPr algn="l">
              <a:defRPr sz="1500" b="0">
                <a:solidFill>
                  <a:srgbClr val="C3D1E2"/>
                </a:solidFill>
              </a:defRPr>
            </a:lvl9pPr>
          </a:lstStyle>
          <a:p xmlns:a="http://schemas.openxmlformats.org/drawingml/2006/main">
            <a:pPr algn="l">
              <a:defRPr sz="1500" b="0">
                <a:solidFill>
                  <a:srgbClr val="C3D1E2"/>
                </a:solidFill>
              </a:defRPr>
            </a:pPr>
            <a:r>
              <a:rPr sz="1500" b="0">
                <a:solidFill>
                  <a:srgbClr val="C3D1E2"/>
                </a:solidFill>
              </a:rPr>
              <a:t>Combine Type A results, instrument</a:t>
            </a:r>
          </a:p>
          <a:p xmlns:a="http://schemas.openxmlformats.org/drawingml/2006/main">
            <a:pPr algn="l">
              <a:defRPr sz="1500" b="0">
                <a:solidFill>
                  <a:srgbClr val="C3D1E2"/>
                </a:solidFill>
              </a:defRPr>
            </a:pPr>
            <a:r>
              <a:rPr sz="1500" b="0">
                <a:solidFill>
                  <a:srgbClr val="C3D1E2"/>
                </a:solidFill>
              </a:rPr>
              <a:t>specifications and Type B contributors.</a:t>
            </a:r>
          </a:p>
        </p:txBody>
      </p:sp>
      <p:sp>
        <p:nvSpPr>
          <p:cNvPr id="12" name="Layout shape">
            <a:extLst xmlns:a="http://schemas.openxmlformats.org/drawingml/2006/main">
              <a:ext uri="{FF2B5EF4-FFF2-40B4-BE49-F238E27FC236}">
                <a16:creationId xmlns:a16="http://schemas.microsoft.com/office/drawing/2014/main" id="{47DCE0F2-A6E0-4310-BA75-52B7BB557F84}"/>
              </a:ext>
            </a:extLst>
          </p:cNvPr>
          <p:cNvSpPr>
            <a:spLocks xmlns:a="http://schemas.openxmlformats.org/drawingml/2006/main" noGrp="1"/>
          </p:cNvSpPr>
          <p:nvPr/>
        </p:nvSpPr>
        <p:spPr>
          <a:xfrm xmlns:a="http://schemas.openxmlformats.org/drawingml/2006/main">
            <a:off x="628650" y="4019550"/>
            <a:ext cx="4533900" cy="9525"/>
          </a:xfrm>
          <a:prstGeom xmlns:a="http://schemas.openxmlformats.org/drawingml/2006/main" prst="rect">
            <a:avLst/>
          </a:prstGeom>
          <a:solidFill xmlns:a="http://schemas.openxmlformats.org/drawingml/2006/main">
            <a:srgbClr val="294560"/>
          </a:solidFill>
          <a:ln xmlns:a="http://schemas.openxmlformats.org/drawingml/2006/main" w="0">
            <a:noFill/>
          </a:ln>
        </p:spPr>
      </p:sp>
      <p:sp>
        <p:nvSpPr>
          <p:cNvPr id="13" name="Layout shape">
            <a:extLst xmlns:a="http://schemas.openxmlformats.org/drawingml/2006/main">
              <a:ext uri="{FF2B5EF4-FFF2-40B4-BE49-F238E27FC236}">
                <a16:creationId xmlns:a16="http://schemas.microsoft.com/office/drawing/2014/main" id="{DC3EA26F-3B8B-48F5-9975-9BF4FF71EB41}"/>
              </a:ext>
            </a:extLst>
          </p:cNvPr>
          <p:cNvSpPr>
            <a:spLocks xmlns:a="http://schemas.openxmlformats.org/drawingml/2006/main" noGrp="1"/>
          </p:cNvSpPr>
          <p:nvPr/>
        </p:nvSpPr>
        <p:spPr>
          <a:xfrm xmlns:a="http://schemas.openxmlformats.org/drawingml/2006/main">
            <a:off x="457200" y="4200525"/>
            <a:ext cx="28575" cy="657225"/>
          </a:xfrm>
          <a:prstGeom xmlns:a="http://schemas.openxmlformats.org/drawingml/2006/main" prst="rect">
            <a:avLst/>
          </a:prstGeom>
          <a:solidFill xmlns:a="http://schemas.openxmlformats.org/drawingml/2006/main">
            <a:srgbClr val="68D6B1"/>
          </a:solidFill>
          <a:ln xmlns:a="http://schemas.openxmlformats.org/drawingml/2006/main" w="0">
            <a:noFill/>
          </a:ln>
        </p:spPr>
      </p:sp>
      <p:sp>
        <p:nvSpPr>
          <p:cNvPr id="14" name="Evaluate decision risk">
            <a:extLst xmlns:a="http://schemas.openxmlformats.org/drawingml/2006/main">
              <a:ext uri="{FF2B5EF4-FFF2-40B4-BE49-F238E27FC236}">
                <a16:creationId xmlns:a16="http://schemas.microsoft.com/office/drawing/2014/main" id="{6B154F90-5E0C-4592-A295-D6E200247A67}"/>
              </a:ext>
            </a:extLst>
          </p:cNvPr>
          <p:cNvSpPr>
            <a:spLocks xmlns:a="http://schemas.openxmlformats.org/drawingml/2006/main" noGrp="1"/>
          </p:cNvSpPr>
          <p:nvPr/>
        </p:nvSpPr>
        <p:spPr>
          <a:xfrm xmlns:a="http://schemas.openxmlformats.org/drawingml/2006/main">
            <a:off x="628650" y="414337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Evaluate decision risk</a:t>
            </a:r>
          </a:p>
        </p:txBody>
      </p:sp>
      <p:sp>
        <p:nvSpPr>
          <p:cNvPr id="15" name="Review test uncertainty ratio and the probabilities of false acceptanc">
            <a:extLst xmlns:a="http://schemas.openxmlformats.org/drawingml/2006/main">
              <a:ext uri="{FF2B5EF4-FFF2-40B4-BE49-F238E27FC236}">
                <a16:creationId xmlns:a16="http://schemas.microsoft.com/office/drawing/2014/main" id="{FBE86EC9-F07A-4755-8930-F0514C9D9BEC}"/>
              </a:ext>
            </a:extLst>
          </p:cNvPr>
          <p:cNvSpPr>
            <a:spLocks xmlns:a="http://schemas.openxmlformats.org/drawingml/2006/main" noGrp="1"/>
          </p:cNvSpPr>
          <p:nvPr/>
        </p:nvSpPr>
        <p:spPr>
          <a:xfrm xmlns:a="http://schemas.openxmlformats.org/drawingml/2006/main">
            <a:off x="628650" y="45053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C3D1E2"/>
                </a:solidFill>
              </a:defRPr>
            </a:defPPr>
            <a:lvl1pPr algn="l">
              <a:defRPr sz="1500" b="0">
                <a:solidFill>
                  <a:srgbClr val="C3D1E2"/>
                </a:solidFill>
              </a:defRPr>
            </a:lvl1pPr>
            <a:lvl2pPr algn="l">
              <a:defRPr sz="1500" b="0">
                <a:solidFill>
                  <a:srgbClr val="C3D1E2"/>
                </a:solidFill>
              </a:defRPr>
            </a:lvl2pPr>
            <a:lvl3pPr algn="l">
              <a:defRPr sz="1500" b="0">
                <a:solidFill>
                  <a:srgbClr val="C3D1E2"/>
                </a:solidFill>
              </a:defRPr>
            </a:lvl3pPr>
            <a:lvl4pPr algn="l">
              <a:defRPr sz="1500" b="0">
                <a:solidFill>
                  <a:srgbClr val="C3D1E2"/>
                </a:solidFill>
              </a:defRPr>
            </a:lvl4pPr>
            <a:lvl5pPr algn="l">
              <a:defRPr sz="1500" b="0">
                <a:solidFill>
                  <a:srgbClr val="C3D1E2"/>
                </a:solidFill>
              </a:defRPr>
            </a:lvl5pPr>
            <a:lvl6pPr algn="l">
              <a:defRPr sz="1500" b="0">
                <a:solidFill>
                  <a:srgbClr val="C3D1E2"/>
                </a:solidFill>
              </a:defRPr>
            </a:lvl6pPr>
            <a:lvl7pPr algn="l">
              <a:defRPr sz="1500" b="0">
                <a:solidFill>
                  <a:srgbClr val="C3D1E2"/>
                </a:solidFill>
              </a:defRPr>
            </a:lvl7pPr>
            <a:lvl8pPr algn="l">
              <a:defRPr sz="1500" b="0">
                <a:solidFill>
                  <a:srgbClr val="C3D1E2"/>
                </a:solidFill>
              </a:defRPr>
            </a:lvl8pPr>
            <a:lvl9pPr algn="l">
              <a:defRPr sz="1500" b="0">
                <a:solidFill>
                  <a:srgbClr val="C3D1E2"/>
                </a:solidFill>
              </a:defRPr>
            </a:lvl9pPr>
          </a:lstStyle>
          <a:p xmlns:a="http://schemas.openxmlformats.org/drawingml/2006/main">
            <a:pPr algn="l">
              <a:defRPr sz="1500" b="0">
                <a:solidFill>
                  <a:srgbClr val="C3D1E2"/>
                </a:solidFill>
              </a:defRPr>
            </a:pPr>
            <a:r>
              <a:rPr sz="1500" b="0">
                <a:solidFill>
                  <a:srgbClr val="C3D1E2"/>
                </a:solidFill>
              </a:rPr>
              <a:t>Review test uncertainty ratio and the</a:t>
            </a:r>
          </a:p>
          <a:p xmlns:a="http://schemas.openxmlformats.org/drawingml/2006/main">
            <a:pPr algn="l">
              <a:defRPr sz="1500" b="0">
                <a:solidFill>
                  <a:srgbClr val="C3D1E2"/>
                </a:solidFill>
              </a:defRPr>
            </a:pPr>
            <a:r>
              <a:rPr sz="1500" b="0">
                <a:solidFill>
                  <a:srgbClr val="C3D1E2"/>
                </a:solidFill>
              </a:rPr>
              <a:t>probabilities of false acceptance or rejection.</a:t>
            </a:r>
          </a:p>
        </p:txBody>
      </p:sp>
      <p:sp>
        <p:nvSpPr>
          <p:cNvPr id="16" name="Layout shape">
            <a:extLst xmlns:a="http://schemas.openxmlformats.org/drawingml/2006/main">
              <a:ext uri="{FF2B5EF4-FFF2-40B4-BE49-F238E27FC236}">
                <a16:creationId xmlns:a16="http://schemas.microsoft.com/office/drawing/2014/main" id="{AF208809-1C6E-4438-9D17-B2E45730D166}"/>
              </a:ext>
            </a:extLst>
          </p:cNvPr>
          <p:cNvSpPr>
            <a:spLocks xmlns:a="http://schemas.openxmlformats.org/drawingml/2006/main" noGrp="1"/>
          </p:cNvSpPr>
          <p:nvPr/>
        </p:nvSpPr>
        <p:spPr>
          <a:xfrm xmlns:a="http://schemas.openxmlformats.org/drawingml/2006/main">
            <a:off x="628650" y="5086350"/>
            <a:ext cx="4533900" cy="9525"/>
          </a:xfrm>
          <a:prstGeom xmlns:a="http://schemas.openxmlformats.org/drawingml/2006/main" prst="rect">
            <a:avLst/>
          </a:prstGeom>
          <a:solidFill xmlns:a="http://schemas.openxmlformats.org/drawingml/2006/main">
            <a:srgbClr val="294560"/>
          </a:solidFill>
          <a:ln xmlns:a="http://schemas.openxmlformats.org/drawingml/2006/main" w="0">
            <a:noFill/>
          </a:ln>
        </p:spPr>
      </p:sp>
      <p:sp>
        <p:nvSpPr>
          <p:cNvPr id="17" name="Layout shape">
            <a:extLst xmlns:a="http://schemas.openxmlformats.org/drawingml/2006/main">
              <a:ext uri="{FF2B5EF4-FFF2-40B4-BE49-F238E27FC236}">
                <a16:creationId xmlns:a16="http://schemas.microsoft.com/office/drawing/2014/main" id="{75C9AFD9-D9DC-4958-ACCB-4448511C5E5D}"/>
              </a:ext>
            </a:extLst>
          </p:cNvPr>
          <p:cNvSpPr>
            <a:spLocks xmlns:a="http://schemas.openxmlformats.org/drawingml/2006/main" noGrp="1"/>
          </p:cNvSpPr>
          <p:nvPr/>
        </p:nvSpPr>
        <p:spPr>
          <a:xfrm xmlns:a="http://schemas.openxmlformats.org/drawingml/2006/main">
            <a:off x="457200" y="5267325"/>
            <a:ext cx="28575" cy="657225"/>
          </a:xfrm>
          <a:prstGeom xmlns:a="http://schemas.openxmlformats.org/drawingml/2006/main" prst="rect">
            <a:avLst/>
          </a:prstGeom>
          <a:solidFill xmlns:a="http://schemas.openxmlformats.org/drawingml/2006/main">
            <a:srgbClr val="68D6B1"/>
          </a:solidFill>
          <a:ln xmlns:a="http://schemas.openxmlformats.org/drawingml/2006/main" w="0">
            <a:noFill/>
          </a:ln>
        </p:spPr>
      </p:sp>
      <p:sp>
        <p:nvSpPr>
          <p:cNvPr id="18" name="Explore guardband options">
            <a:extLst xmlns:a="http://schemas.openxmlformats.org/drawingml/2006/main">
              <a:ext uri="{FF2B5EF4-FFF2-40B4-BE49-F238E27FC236}">
                <a16:creationId xmlns:a16="http://schemas.microsoft.com/office/drawing/2014/main" id="{AF093777-DCF1-4E98-A6A7-3D19AC5E9E98}"/>
              </a:ext>
            </a:extLst>
          </p:cNvPr>
          <p:cNvSpPr>
            <a:spLocks xmlns:a="http://schemas.openxmlformats.org/drawingml/2006/main" noGrp="1"/>
          </p:cNvSpPr>
          <p:nvPr/>
        </p:nvSpPr>
        <p:spPr>
          <a:xfrm xmlns:a="http://schemas.openxmlformats.org/drawingml/2006/main">
            <a:off x="628650" y="521017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Explore guardband options</a:t>
            </a:r>
          </a:p>
        </p:txBody>
      </p:sp>
      <p:sp>
        <p:nvSpPr>
          <p:cNvPr id="19" name="Compare acceptance limits against configured risk requirements.">
            <a:extLst xmlns:a="http://schemas.openxmlformats.org/drawingml/2006/main">
              <a:ext uri="{FF2B5EF4-FFF2-40B4-BE49-F238E27FC236}">
                <a16:creationId xmlns:a16="http://schemas.microsoft.com/office/drawing/2014/main" id="{BA5D9F26-2EA0-45FA-96EE-DC61DC400455}"/>
              </a:ext>
            </a:extLst>
          </p:cNvPr>
          <p:cNvSpPr>
            <a:spLocks xmlns:a="http://schemas.openxmlformats.org/drawingml/2006/main" noGrp="1"/>
          </p:cNvSpPr>
          <p:nvPr/>
        </p:nvSpPr>
        <p:spPr>
          <a:xfrm xmlns:a="http://schemas.openxmlformats.org/drawingml/2006/main">
            <a:off x="628650" y="55721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C3D1E2"/>
                </a:solidFill>
              </a:defRPr>
            </a:defPPr>
            <a:lvl1pPr algn="l">
              <a:defRPr sz="1500" b="0">
                <a:solidFill>
                  <a:srgbClr val="C3D1E2"/>
                </a:solidFill>
              </a:defRPr>
            </a:lvl1pPr>
            <a:lvl2pPr algn="l">
              <a:defRPr sz="1500" b="0">
                <a:solidFill>
                  <a:srgbClr val="C3D1E2"/>
                </a:solidFill>
              </a:defRPr>
            </a:lvl2pPr>
            <a:lvl3pPr algn="l">
              <a:defRPr sz="1500" b="0">
                <a:solidFill>
                  <a:srgbClr val="C3D1E2"/>
                </a:solidFill>
              </a:defRPr>
            </a:lvl3pPr>
            <a:lvl4pPr algn="l">
              <a:defRPr sz="1500" b="0">
                <a:solidFill>
                  <a:srgbClr val="C3D1E2"/>
                </a:solidFill>
              </a:defRPr>
            </a:lvl4pPr>
            <a:lvl5pPr algn="l">
              <a:defRPr sz="1500" b="0">
                <a:solidFill>
                  <a:srgbClr val="C3D1E2"/>
                </a:solidFill>
              </a:defRPr>
            </a:lvl5pPr>
            <a:lvl6pPr algn="l">
              <a:defRPr sz="1500" b="0">
                <a:solidFill>
                  <a:srgbClr val="C3D1E2"/>
                </a:solidFill>
              </a:defRPr>
            </a:lvl6pPr>
            <a:lvl7pPr algn="l">
              <a:defRPr sz="1500" b="0">
                <a:solidFill>
                  <a:srgbClr val="C3D1E2"/>
                </a:solidFill>
              </a:defRPr>
            </a:lvl7pPr>
            <a:lvl8pPr algn="l">
              <a:defRPr sz="1500" b="0">
                <a:solidFill>
                  <a:srgbClr val="C3D1E2"/>
                </a:solidFill>
              </a:defRPr>
            </a:lvl8pPr>
            <a:lvl9pPr algn="l">
              <a:defRPr sz="1500" b="0">
                <a:solidFill>
                  <a:srgbClr val="C3D1E2"/>
                </a:solidFill>
              </a:defRPr>
            </a:lvl9pPr>
          </a:lstStyle>
          <a:p xmlns:a="http://schemas.openxmlformats.org/drawingml/2006/main">
            <a:pPr algn="l">
              <a:defRPr sz="1500" b="0">
                <a:solidFill>
                  <a:srgbClr val="C3D1E2"/>
                </a:solidFill>
              </a:defRPr>
            </a:pPr>
            <a:r>
              <a:rPr sz="1500" b="0">
                <a:solidFill>
                  <a:srgbClr val="C3D1E2"/>
                </a:solidFill>
              </a:rPr>
              <a:t>Compare acceptance limits against</a:t>
            </a:r>
          </a:p>
          <a:p xmlns:a="http://schemas.openxmlformats.org/drawingml/2006/main">
            <a:pPr algn="l">
              <a:defRPr sz="1500" b="0">
                <a:solidFill>
                  <a:srgbClr val="C3D1E2"/>
                </a:solidFill>
              </a:defRPr>
            </a:pPr>
            <a:r>
              <a:rPr sz="1500" b="0">
                <a:solidFill>
                  <a:srgbClr val="C3D1E2"/>
                </a:solidFill>
              </a:rPr>
              <a:t>configured risk requirements.</a:t>
            </a:r>
          </a:p>
        </p:txBody>
      </p:sp>
      <p:sp>
        <p:nvSpPr>
          <p:cNvPr id="20" name="FROM CONTRIBUTORS TO A RESULT">
            <a:extLst xmlns:a="http://schemas.openxmlformats.org/drawingml/2006/main">
              <a:ext uri="{FF2B5EF4-FFF2-40B4-BE49-F238E27FC236}">
                <a16:creationId xmlns:a16="http://schemas.microsoft.com/office/drawing/2014/main" id="{D2FF17AC-3975-4941-BB76-D2F6DAD6FB10}"/>
              </a:ext>
            </a:extLst>
          </p:cNvPr>
          <p:cNvSpPr>
            <a:spLocks xmlns:a="http://schemas.openxmlformats.org/drawingml/2006/main" noGrp="1"/>
          </p:cNvSpPr>
          <p:nvPr/>
        </p:nvSpPr>
        <p:spPr>
          <a:xfrm xmlns:a="http://schemas.openxmlformats.org/drawingml/2006/main">
            <a:off x="5619750" y="1990725"/>
            <a:ext cx="6115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1">
                <a:solidFill>
                  <a:srgbClr val="68D6B1"/>
                </a:solidFill>
              </a:defRPr>
            </a:defPPr>
            <a:lvl1pPr algn="l">
              <a:defRPr sz="1125" b="1">
                <a:solidFill>
                  <a:srgbClr val="68D6B1"/>
                </a:solidFill>
              </a:defRPr>
            </a:lvl1pPr>
            <a:lvl2pPr algn="l">
              <a:defRPr sz="1125" b="1">
                <a:solidFill>
                  <a:srgbClr val="68D6B1"/>
                </a:solidFill>
              </a:defRPr>
            </a:lvl2pPr>
            <a:lvl3pPr algn="l">
              <a:defRPr sz="1125" b="1">
                <a:solidFill>
                  <a:srgbClr val="68D6B1"/>
                </a:solidFill>
              </a:defRPr>
            </a:lvl3pPr>
            <a:lvl4pPr algn="l">
              <a:defRPr sz="1125" b="1">
                <a:solidFill>
                  <a:srgbClr val="68D6B1"/>
                </a:solidFill>
              </a:defRPr>
            </a:lvl4pPr>
            <a:lvl5pPr algn="l">
              <a:defRPr sz="1125" b="1">
                <a:solidFill>
                  <a:srgbClr val="68D6B1"/>
                </a:solidFill>
              </a:defRPr>
            </a:lvl5pPr>
            <a:lvl6pPr algn="l">
              <a:defRPr sz="1125" b="1">
                <a:solidFill>
                  <a:srgbClr val="68D6B1"/>
                </a:solidFill>
              </a:defRPr>
            </a:lvl6pPr>
            <a:lvl7pPr algn="l">
              <a:defRPr sz="1125" b="1">
                <a:solidFill>
                  <a:srgbClr val="68D6B1"/>
                </a:solidFill>
              </a:defRPr>
            </a:lvl7pPr>
            <a:lvl8pPr algn="l">
              <a:defRPr sz="1125" b="1">
                <a:solidFill>
                  <a:srgbClr val="68D6B1"/>
                </a:solidFill>
              </a:defRPr>
            </a:lvl8pPr>
            <a:lvl9pPr algn="l">
              <a:defRPr sz="1125" b="1">
                <a:solidFill>
                  <a:srgbClr val="68D6B1"/>
                </a:solidFill>
              </a:defRPr>
            </a:lvl9pPr>
          </a:lstStyle>
          <a:p xmlns:a="http://schemas.openxmlformats.org/drawingml/2006/main">
            <a:pPr algn="l">
              <a:defRPr sz="1125" b="1">
                <a:solidFill>
                  <a:srgbClr val="68D6B1"/>
                </a:solidFill>
              </a:defRPr>
            </a:pPr>
            <a:r>
              <a:rPr sz="1125" b="1">
                <a:solidFill>
                  <a:srgbClr val="68D6B1"/>
                </a:solidFill>
              </a:rPr>
              <a:t>FROM CONTRIBUTORS TO A RESULT</a:t>
            </a:r>
          </a:p>
        </p:txBody>
      </p:sp>
      <p:sp>
        <p:nvSpPr>
          <p:cNvPr id="21" name="Layout shape">
            <a:extLst xmlns:a="http://schemas.openxmlformats.org/drawingml/2006/main">
              <a:ext uri="{FF2B5EF4-FFF2-40B4-BE49-F238E27FC236}">
                <a16:creationId xmlns:a16="http://schemas.microsoft.com/office/drawing/2014/main" id="{08EF02AC-04BC-46AC-B83B-13F99442638D}"/>
              </a:ext>
            </a:extLst>
          </p:cNvPr>
          <p:cNvSpPr>
            <a:spLocks xmlns:a="http://schemas.openxmlformats.org/drawingml/2006/main" noGrp="1"/>
          </p:cNvSpPr>
          <p:nvPr/>
        </p:nvSpPr>
        <p:spPr>
          <a:xfrm xmlns:a="http://schemas.openxmlformats.org/drawingml/2006/main">
            <a:off x="5619750" y="2409825"/>
            <a:ext cx="1962150" cy="1057275"/>
          </a:xfrm>
          <a:prstGeom xmlns:a="http://schemas.openxmlformats.org/drawingml/2006/main" prst="roundRect">
            <a:avLst>
              <a:gd name="adj" fmla="val 5405"/>
            </a:avLst>
          </a:prstGeom>
          <a:solidFill xmlns:a="http://schemas.openxmlformats.org/drawingml/2006/main">
            <a:srgbClr val="13283A"/>
          </a:solidFill>
          <a:ln xmlns:a="http://schemas.openxmlformats.org/drawingml/2006/main" w="9525">
            <a:solidFill>
              <a:srgbClr val="315467"/>
            </a:solidFill>
          </a:ln>
        </p:spPr>
      </p:sp>
      <p:sp>
        <p:nvSpPr>
          <p:cNvPr id="22" name="Type A">
            <a:extLst xmlns:a="http://schemas.openxmlformats.org/drawingml/2006/main">
              <a:ext uri="{FF2B5EF4-FFF2-40B4-BE49-F238E27FC236}">
                <a16:creationId xmlns:a16="http://schemas.microsoft.com/office/drawing/2014/main" id="{0F975D59-A132-4818-8E8A-E4BFACB4F211}"/>
              </a:ext>
            </a:extLst>
          </p:cNvPr>
          <p:cNvSpPr>
            <a:spLocks xmlns:a="http://schemas.openxmlformats.org/drawingml/2006/main" noGrp="1"/>
          </p:cNvSpPr>
          <p:nvPr/>
        </p:nvSpPr>
        <p:spPr>
          <a:xfrm xmlns:a="http://schemas.openxmlformats.org/drawingml/2006/main">
            <a:off x="5753100" y="255270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F2F8FC"/>
                </a:solidFill>
              </a:defRPr>
            </a:defPPr>
            <a:lvl1pPr algn="ctr">
              <a:defRPr sz="1725" b="1">
                <a:solidFill>
                  <a:srgbClr val="F2F8FC"/>
                </a:solidFill>
              </a:defRPr>
            </a:lvl1pPr>
            <a:lvl2pPr algn="ctr">
              <a:defRPr sz="1725" b="1">
                <a:solidFill>
                  <a:srgbClr val="F2F8FC"/>
                </a:solidFill>
              </a:defRPr>
            </a:lvl2pPr>
            <a:lvl3pPr algn="ctr">
              <a:defRPr sz="1725" b="1">
                <a:solidFill>
                  <a:srgbClr val="F2F8FC"/>
                </a:solidFill>
              </a:defRPr>
            </a:lvl3pPr>
            <a:lvl4pPr algn="ctr">
              <a:defRPr sz="1725" b="1">
                <a:solidFill>
                  <a:srgbClr val="F2F8FC"/>
                </a:solidFill>
              </a:defRPr>
            </a:lvl4pPr>
            <a:lvl5pPr algn="ctr">
              <a:defRPr sz="1725" b="1">
                <a:solidFill>
                  <a:srgbClr val="F2F8FC"/>
                </a:solidFill>
              </a:defRPr>
            </a:lvl5pPr>
            <a:lvl6pPr algn="ctr">
              <a:defRPr sz="1725" b="1">
                <a:solidFill>
                  <a:srgbClr val="F2F8FC"/>
                </a:solidFill>
              </a:defRPr>
            </a:lvl6pPr>
            <a:lvl7pPr algn="ctr">
              <a:defRPr sz="1725" b="1">
                <a:solidFill>
                  <a:srgbClr val="F2F8FC"/>
                </a:solidFill>
              </a:defRPr>
            </a:lvl7pPr>
            <a:lvl8pPr algn="ctr">
              <a:defRPr sz="1725" b="1">
                <a:solidFill>
                  <a:srgbClr val="F2F8FC"/>
                </a:solidFill>
              </a:defRPr>
            </a:lvl8pPr>
            <a:lvl9pPr algn="ctr">
              <a:defRPr sz="1725" b="1">
                <a:solidFill>
                  <a:srgbClr val="F2F8FC"/>
                </a:solidFill>
              </a:defRPr>
            </a:lvl9pPr>
          </a:lstStyle>
          <a:p xmlns:a="http://schemas.openxmlformats.org/drawingml/2006/main">
            <a:pPr algn="ctr">
              <a:defRPr sz="1725" b="1">
                <a:solidFill>
                  <a:srgbClr val="F2F8FC"/>
                </a:solidFill>
              </a:defRPr>
            </a:pPr>
            <a:r>
              <a:rPr sz="1725" b="1">
                <a:solidFill>
                  <a:srgbClr val="F2F8FC"/>
                </a:solidFill>
              </a:rPr>
              <a:t>Type A</a:t>
            </a:r>
          </a:p>
        </p:txBody>
      </p:sp>
      <p:sp>
        <p:nvSpPr>
          <p:cNvPr id="23" name="Repeatability from measurements">
            <a:extLst xmlns:a="http://schemas.openxmlformats.org/drawingml/2006/main">
              <a:ext uri="{FF2B5EF4-FFF2-40B4-BE49-F238E27FC236}">
                <a16:creationId xmlns:a16="http://schemas.microsoft.com/office/drawing/2014/main" id="{17773A10-8BC1-4ACD-AC92-F060C7A05F0A}"/>
              </a:ext>
            </a:extLst>
          </p:cNvPr>
          <p:cNvSpPr>
            <a:spLocks xmlns:a="http://schemas.openxmlformats.org/drawingml/2006/main" noGrp="1"/>
          </p:cNvSpPr>
          <p:nvPr/>
        </p:nvSpPr>
        <p:spPr>
          <a:xfrm xmlns:a="http://schemas.openxmlformats.org/drawingml/2006/main">
            <a:off x="5753100" y="292417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0">
                <a:solidFill>
                  <a:srgbClr val="C3D1E2"/>
                </a:solidFill>
              </a:defRPr>
            </a:defPPr>
            <a:lvl1pPr algn="ctr">
              <a:defRPr sz="1350" b="0">
                <a:solidFill>
                  <a:srgbClr val="C3D1E2"/>
                </a:solidFill>
              </a:defRPr>
            </a:lvl1pPr>
            <a:lvl2pPr algn="ctr">
              <a:defRPr sz="1350" b="0">
                <a:solidFill>
                  <a:srgbClr val="C3D1E2"/>
                </a:solidFill>
              </a:defRPr>
            </a:lvl2pPr>
            <a:lvl3pPr algn="ctr">
              <a:defRPr sz="1350" b="0">
                <a:solidFill>
                  <a:srgbClr val="C3D1E2"/>
                </a:solidFill>
              </a:defRPr>
            </a:lvl3pPr>
            <a:lvl4pPr algn="ctr">
              <a:defRPr sz="1350" b="0">
                <a:solidFill>
                  <a:srgbClr val="C3D1E2"/>
                </a:solidFill>
              </a:defRPr>
            </a:lvl4pPr>
            <a:lvl5pPr algn="ctr">
              <a:defRPr sz="1350" b="0">
                <a:solidFill>
                  <a:srgbClr val="C3D1E2"/>
                </a:solidFill>
              </a:defRPr>
            </a:lvl5pPr>
            <a:lvl6pPr algn="ctr">
              <a:defRPr sz="1350" b="0">
                <a:solidFill>
                  <a:srgbClr val="C3D1E2"/>
                </a:solidFill>
              </a:defRPr>
            </a:lvl6pPr>
            <a:lvl7pPr algn="ctr">
              <a:defRPr sz="1350" b="0">
                <a:solidFill>
                  <a:srgbClr val="C3D1E2"/>
                </a:solidFill>
              </a:defRPr>
            </a:lvl7pPr>
            <a:lvl8pPr algn="ctr">
              <a:defRPr sz="1350" b="0">
                <a:solidFill>
                  <a:srgbClr val="C3D1E2"/>
                </a:solidFill>
              </a:defRPr>
            </a:lvl8pPr>
            <a:lvl9pPr algn="ctr">
              <a:defRPr sz="1350" b="0">
                <a:solidFill>
                  <a:srgbClr val="C3D1E2"/>
                </a:solidFill>
              </a:defRPr>
            </a:lvl9pPr>
          </a:lstStyle>
          <a:p xmlns:a="http://schemas.openxmlformats.org/drawingml/2006/main">
            <a:pPr algn="ctr">
              <a:defRPr sz="1350" b="0">
                <a:solidFill>
                  <a:srgbClr val="C3D1E2"/>
                </a:solidFill>
              </a:defRPr>
            </a:pPr>
            <a:r>
              <a:rPr sz="1350" b="0">
                <a:solidFill>
                  <a:srgbClr val="C3D1E2"/>
                </a:solidFill>
              </a:rPr>
              <a:t>Repeatability from</a:t>
            </a:r>
          </a:p>
          <a:p xmlns:a="http://schemas.openxmlformats.org/drawingml/2006/main">
            <a:pPr algn="ctr">
              <a:defRPr sz="1350" b="0">
                <a:solidFill>
                  <a:srgbClr val="C3D1E2"/>
                </a:solidFill>
              </a:defRPr>
            </a:pPr>
            <a:r>
              <a:rPr sz="1350" b="0">
                <a:solidFill>
                  <a:srgbClr val="C3D1E2"/>
                </a:solidFill>
              </a:rPr>
              <a:t>measurements</a:t>
            </a:r>
          </a:p>
        </p:txBody>
      </p:sp>
      <p:sp>
        <p:nvSpPr>
          <p:cNvPr id="24" name="Layout shape">
            <a:extLst xmlns:a="http://schemas.openxmlformats.org/drawingml/2006/main">
              <a:ext uri="{FF2B5EF4-FFF2-40B4-BE49-F238E27FC236}">
                <a16:creationId xmlns:a16="http://schemas.microsoft.com/office/drawing/2014/main" id="{C131AB0D-8EDA-4612-A44E-A994CBA7C6E0}"/>
              </a:ext>
            </a:extLst>
          </p:cNvPr>
          <p:cNvSpPr>
            <a:spLocks xmlns:a="http://schemas.openxmlformats.org/drawingml/2006/main" noGrp="1"/>
          </p:cNvSpPr>
          <p:nvPr/>
        </p:nvSpPr>
        <p:spPr>
          <a:xfrm xmlns:a="http://schemas.openxmlformats.org/drawingml/2006/main">
            <a:off x="6591300" y="3467100"/>
            <a:ext cx="19050" cy="266700"/>
          </a:xfrm>
          <a:prstGeom xmlns:a="http://schemas.openxmlformats.org/drawingml/2006/main" prst="rect">
            <a:avLst/>
          </a:prstGeom>
          <a:solidFill xmlns:a="http://schemas.openxmlformats.org/drawingml/2006/main">
            <a:srgbClr val="68D6B1"/>
          </a:solidFill>
          <a:ln xmlns:a="http://schemas.openxmlformats.org/drawingml/2006/main" w="0">
            <a:noFill/>
          </a:ln>
        </p:spPr>
      </p:sp>
      <p:sp>
        <p:nvSpPr>
          <p:cNvPr id="25" name="Layout shape">
            <a:extLst xmlns:a="http://schemas.openxmlformats.org/drawingml/2006/main">
              <a:ext uri="{FF2B5EF4-FFF2-40B4-BE49-F238E27FC236}">
                <a16:creationId xmlns:a16="http://schemas.microsoft.com/office/drawing/2014/main" id="{CA9E76A3-A0E3-4E21-934D-BAF9F71AE71A}"/>
              </a:ext>
            </a:extLst>
          </p:cNvPr>
          <p:cNvSpPr>
            <a:spLocks xmlns:a="http://schemas.openxmlformats.org/drawingml/2006/main" noGrp="1"/>
          </p:cNvSpPr>
          <p:nvPr/>
        </p:nvSpPr>
        <p:spPr>
          <a:xfrm xmlns:a="http://schemas.openxmlformats.org/drawingml/2006/main">
            <a:off x="7696200" y="2409825"/>
            <a:ext cx="1962150" cy="1057275"/>
          </a:xfrm>
          <a:prstGeom xmlns:a="http://schemas.openxmlformats.org/drawingml/2006/main" prst="roundRect">
            <a:avLst>
              <a:gd name="adj" fmla="val 5405"/>
            </a:avLst>
          </a:prstGeom>
          <a:solidFill xmlns:a="http://schemas.openxmlformats.org/drawingml/2006/main">
            <a:srgbClr val="13283A"/>
          </a:solidFill>
          <a:ln xmlns:a="http://schemas.openxmlformats.org/drawingml/2006/main" w="9525">
            <a:solidFill>
              <a:srgbClr val="315467"/>
            </a:solidFill>
          </a:ln>
        </p:spPr>
      </p:sp>
      <p:sp>
        <p:nvSpPr>
          <p:cNvPr id="26" name="Type B">
            <a:extLst xmlns:a="http://schemas.openxmlformats.org/drawingml/2006/main">
              <a:ext uri="{FF2B5EF4-FFF2-40B4-BE49-F238E27FC236}">
                <a16:creationId xmlns:a16="http://schemas.microsoft.com/office/drawing/2014/main" id="{3CD8DEDB-006D-4EA1-BCC2-9C433C2E49F7}"/>
              </a:ext>
            </a:extLst>
          </p:cNvPr>
          <p:cNvSpPr>
            <a:spLocks xmlns:a="http://schemas.openxmlformats.org/drawingml/2006/main" noGrp="1"/>
          </p:cNvSpPr>
          <p:nvPr/>
        </p:nvSpPr>
        <p:spPr>
          <a:xfrm xmlns:a="http://schemas.openxmlformats.org/drawingml/2006/main">
            <a:off x="7829550" y="255270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F2F8FC"/>
                </a:solidFill>
              </a:defRPr>
            </a:defPPr>
            <a:lvl1pPr algn="ctr">
              <a:defRPr sz="1725" b="1">
                <a:solidFill>
                  <a:srgbClr val="F2F8FC"/>
                </a:solidFill>
              </a:defRPr>
            </a:lvl1pPr>
            <a:lvl2pPr algn="ctr">
              <a:defRPr sz="1725" b="1">
                <a:solidFill>
                  <a:srgbClr val="F2F8FC"/>
                </a:solidFill>
              </a:defRPr>
            </a:lvl2pPr>
            <a:lvl3pPr algn="ctr">
              <a:defRPr sz="1725" b="1">
                <a:solidFill>
                  <a:srgbClr val="F2F8FC"/>
                </a:solidFill>
              </a:defRPr>
            </a:lvl3pPr>
            <a:lvl4pPr algn="ctr">
              <a:defRPr sz="1725" b="1">
                <a:solidFill>
                  <a:srgbClr val="F2F8FC"/>
                </a:solidFill>
              </a:defRPr>
            </a:lvl4pPr>
            <a:lvl5pPr algn="ctr">
              <a:defRPr sz="1725" b="1">
                <a:solidFill>
                  <a:srgbClr val="F2F8FC"/>
                </a:solidFill>
              </a:defRPr>
            </a:lvl5pPr>
            <a:lvl6pPr algn="ctr">
              <a:defRPr sz="1725" b="1">
                <a:solidFill>
                  <a:srgbClr val="F2F8FC"/>
                </a:solidFill>
              </a:defRPr>
            </a:lvl6pPr>
            <a:lvl7pPr algn="ctr">
              <a:defRPr sz="1725" b="1">
                <a:solidFill>
                  <a:srgbClr val="F2F8FC"/>
                </a:solidFill>
              </a:defRPr>
            </a:lvl7pPr>
            <a:lvl8pPr algn="ctr">
              <a:defRPr sz="1725" b="1">
                <a:solidFill>
                  <a:srgbClr val="F2F8FC"/>
                </a:solidFill>
              </a:defRPr>
            </a:lvl8pPr>
            <a:lvl9pPr algn="ctr">
              <a:defRPr sz="1725" b="1">
                <a:solidFill>
                  <a:srgbClr val="F2F8FC"/>
                </a:solidFill>
              </a:defRPr>
            </a:lvl9pPr>
          </a:lstStyle>
          <a:p xmlns:a="http://schemas.openxmlformats.org/drawingml/2006/main">
            <a:pPr algn="ctr">
              <a:defRPr sz="1725" b="1">
                <a:solidFill>
                  <a:srgbClr val="F2F8FC"/>
                </a:solidFill>
              </a:defRPr>
            </a:pPr>
            <a:r>
              <a:rPr sz="1725" b="1">
                <a:solidFill>
                  <a:srgbClr val="F2F8FC"/>
                </a:solidFill>
              </a:rPr>
              <a:t>Type B</a:t>
            </a:r>
          </a:p>
        </p:txBody>
      </p:sp>
      <p:sp>
        <p:nvSpPr>
          <p:cNvPr id="27" name="Specifications and certificates">
            <a:extLst xmlns:a="http://schemas.openxmlformats.org/drawingml/2006/main">
              <a:ext uri="{FF2B5EF4-FFF2-40B4-BE49-F238E27FC236}">
                <a16:creationId xmlns:a16="http://schemas.microsoft.com/office/drawing/2014/main" id="{4BF92536-998C-4DDC-A88C-2F2A3E62BE72}"/>
              </a:ext>
            </a:extLst>
          </p:cNvPr>
          <p:cNvSpPr>
            <a:spLocks xmlns:a="http://schemas.openxmlformats.org/drawingml/2006/main" noGrp="1"/>
          </p:cNvSpPr>
          <p:nvPr/>
        </p:nvSpPr>
        <p:spPr>
          <a:xfrm xmlns:a="http://schemas.openxmlformats.org/drawingml/2006/main">
            <a:off x="7829550" y="292417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0">
                <a:solidFill>
                  <a:srgbClr val="C3D1E2"/>
                </a:solidFill>
              </a:defRPr>
            </a:defPPr>
            <a:lvl1pPr algn="ctr">
              <a:defRPr sz="1350" b="0">
                <a:solidFill>
                  <a:srgbClr val="C3D1E2"/>
                </a:solidFill>
              </a:defRPr>
            </a:lvl1pPr>
            <a:lvl2pPr algn="ctr">
              <a:defRPr sz="1350" b="0">
                <a:solidFill>
                  <a:srgbClr val="C3D1E2"/>
                </a:solidFill>
              </a:defRPr>
            </a:lvl2pPr>
            <a:lvl3pPr algn="ctr">
              <a:defRPr sz="1350" b="0">
                <a:solidFill>
                  <a:srgbClr val="C3D1E2"/>
                </a:solidFill>
              </a:defRPr>
            </a:lvl3pPr>
            <a:lvl4pPr algn="ctr">
              <a:defRPr sz="1350" b="0">
                <a:solidFill>
                  <a:srgbClr val="C3D1E2"/>
                </a:solidFill>
              </a:defRPr>
            </a:lvl4pPr>
            <a:lvl5pPr algn="ctr">
              <a:defRPr sz="1350" b="0">
                <a:solidFill>
                  <a:srgbClr val="C3D1E2"/>
                </a:solidFill>
              </a:defRPr>
            </a:lvl5pPr>
            <a:lvl6pPr algn="ctr">
              <a:defRPr sz="1350" b="0">
                <a:solidFill>
                  <a:srgbClr val="C3D1E2"/>
                </a:solidFill>
              </a:defRPr>
            </a:lvl6pPr>
            <a:lvl7pPr algn="ctr">
              <a:defRPr sz="1350" b="0">
                <a:solidFill>
                  <a:srgbClr val="C3D1E2"/>
                </a:solidFill>
              </a:defRPr>
            </a:lvl7pPr>
            <a:lvl8pPr algn="ctr">
              <a:defRPr sz="1350" b="0">
                <a:solidFill>
                  <a:srgbClr val="C3D1E2"/>
                </a:solidFill>
              </a:defRPr>
            </a:lvl8pPr>
            <a:lvl9pPr algn="ctr">
              <a:defRPr sz="1350" b="0">
                <a:solidFill>
                  <a:srgbClr val="C3D1E2"/>
                </a:solidFill>
              </a:defRPr>
            </a:lvl9pPr>
          </a:lstStyle>
          <a:p xmlns:a="http://schemas.openxmlformats.org/drawingml/2006/main">
            <a:pPr algn="ctr">
              <a:defRPr sz="1350" b="0">
                <a:solidFill>
                  <a:srgbClr val="C3D1E2"/>
                </a:solidFill>
              </a:defRPr>
            </a:pPr>
            <a:r>
              <a:rPr sz="1350" b="0">
                <a:solidFill>
                  <a:srgbClr val="C3D1E2"/>
                </a:solidFill>
              </a:rPr>
              <a:t>Specifications</a:t>
            </a:r>
          </a:p>
          <a:p xmlns:a="http://schemas.openxmlformats.org/drawingml/2006/main">
            <a:pPr algn="ctr">
              <a:defRPr sz="1350" b="0">
                <a:solidFill>
                  <a:srgbClr val="C3D1E2"/>
                </a:solidFill>
              </a:defRPr>
            </a:pPr>
            <a:r>
              <a:rPr sz="1350" b="0">
                <a:solidFill>
                  <a:srgbClr val="C3D1E2"/>
                </a:solidFill>
              </a:rPr>
              <a:t>and certificates</a:t>
            </a:r>
          </a:p>
        </p:txBody>
      </p:sp>
      <p:sp>
        <p:nvSpPr>
          <p:cNvPr id="28" name="Layout shape">
            <a:extLst xmlns:a="http://schemas.openxmlformats.org/drawingml/2006/main">
              <a:ext uri="{FF2B5EF4-FFF2-40B4-BE49-F238E27FC236}">
                <a16:creationId xmlns:a16="http://schemas.microsoft.com/office/drawing/2014/main" id="{2AB3716B-CD11-4CFE-BDD1-7B701613B142}"/>
              </a:ext>
            </a:extLst>
          </p:cNvPr>
          <p:cNvSpPr>
            <a:spLocks xmlns:a="http://schemas.openxmlformats.org/drawingml/2006/main" noGrp="1"/>
          </p:cNvSpPr>
          <p:nvPr/>
        </p:nvSpPr>
        <p:spPr>
          <a:xfrm xmlns:a="http://schemas.openxmlformats.org/drawingml/2006/main">
            <a:off x="8667750" y="3467100"/>
            <a:ext cx="19050" cy="266700"/>
          </a:xfrm>
          <a:prstGeom xmlns:a="http://schemas.openxmlformats.org/drawingml/2006/main" prst="rect">
            <a:avLst/>
          </a:prstGeom>
          <a:solidFill xmlns:a="http://schemas.openxmlformats.org/drawingml/2006/main">
            <a:srgbClr val="68D6B1"/>
          </a:solidFill>
          <a:ln xmlns:a="http://schemas.openxmlformats.org/drawingml/2006/main" w="0">
            <a:noFill/>
          </a:ln>
        </p:spPr>
      </p:sp>
      <p:sp>
        <p:nvSpPr>
          <p:cNvPr id="29" name="Layout shape">
            <a:extLst xmlns:a="http://schemas.openxmlformats.org/drawingml/2006/main">
              <a:ext uri="{FF2B5EF4-FFF2-40B4-BE49-F238E27FC236}">
                <a16:creationId xmlns:a16="http://schemas.microsoft.com/office/drawing/2014/main" id="{64C4B949-4FA0-41B4-8AC2-1294A1405199}"/>
              </a:ext>
            </a:extLst>
          </p:cNvPr>
          <p:cNvSpPr>
            <a:spLocks xmlns:a="http://schemas.openxmlformats.org/drawingml/2006/main" noGrp="1"/>
          </p:cNvSpPr>
          <p:nvPr/>
        </p:nvSpPr>
        <p:spPr>
          <a:xfrm xmlns:a="http://schemas.openxmlformats.org/drawingml/2006/main">
            <a:off x="9772650" y="2409825"/>
            <a:ext cx="1962150" cy="1057275"/>
          </a:xfrm>
          <a:prstGeom xmlns:a="http://schemas.openxmlformats.org/drawingml/2006/main" prst="roundRect">
            <a:avLst>
              <a:gd name="adj" fmla="val 5405"/>
            </a:avLst>
          </a:prstGeom>
          <a:solidFill xmlns:a="http://schemas.openxmlformats.org/drawingml/2006/main">
            <a:srgbClr val="13283A"/>
          </a:solidFill>
          <a:ln xmlns:a="http://schemas.openxmlformats.org/drawingml/2006/main" w="9525">
            <a:solidFill>
              <a:srgbClr val="315467"/>
            </a:solidFill>
          </a:ln>
        </p:spPr>
      </p:sp>
      <p:sp>
        <p:nvSpPr>
          <p:cNvPr id="30" name="Model">
            <a:extLst xmlns:a="http://schemas.openxmlformats.org/drawingml/2006/main">
              <a:ext uri="{FF2B5EF4-FFF2-40B4-BE49-F238E27FC236}">
                <a16:creationId xmlns:a16="http://schemas.microsoft.com/office/drawing/2014/main" id="{C4BCAE04-CD13-486C-BCAE-DCB92D9988BB}"/>
              </a:ext>
            </a:extLst>
          </p:cNvPr>
          <p:cNvSpPr>
            <a:spLocks xmlns:a="http://schemas.openxmlformats.org/drawingml/2006/main" noGrp="1"/>
          </p:cNvSpPr>
          <p:nvPr/>
        </p:nvSpPr>
        <p:spPr>
          <a:xfrm xmlns:a="http://schemas.openxmlformats.org/drawingml/2006/main">
            <a:off x="9906000" y="255270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725" b="1">
                <a:solidFill>
                  <a:srgbClr val="F2F8FC"/>
                </a:solidFill>
              </a:defRPr>
            </a:defPPr>
            <a:lvl1pPr algn="ctr">
              <a:defRPr sz="1725" b="1">
                <a:solidFill>
                  <a:srgbClr val="F2F8FC"/>
                </a:solidFill>
              </a:defRPr>
            </a:lvl1pPr>
            <a:lvl2pPr algn="ctr">
              <a:defRPr sz="1725" b="1">
                <a:solidFill>
                  <a:srgbClr val="F2F8FC"/>
                </a:solidFill>
              </a:defRPr>
            </a:lvl2pPr>
            <a:lvl3pPr algn="ctr">
              <a:defRPr sz="1725" b="1">
                <a:solidFill>
                  <a:srgbClr val="F2F8FC"/>
                </a:solidFill>
              </a:defRPr>
            </a:lvl3pPr>
            <a:lvl4pPr algn="ctr">
              <a:defRPr sz="1725" b="1">
                <a:solidFill>
                  <a:srgbClr val="F2F8FC"/>
                </a:solidFill>
              </a:defRPr>
            </a:lvl4pPr>
            <a:lvl5pPr algn="ctr">
              <a:defRPr sz="1725" b="1">
                <a:solidFill>
                  <a:srgbClr val="F2F8FC"/>
                </a:solidFill>
              </a:defRPr>
            </a:lvl5pPr>
            <a:lvl6pPr algn="ctr">
              <a:defRPr sz="1725" b="1">
                <a:solidFill>
                  <a:srgbClr val="F2F8FC"/>
                </a:solidFill>
              </a:defRPr>
            </a:lvl6pPr>
            <a:lvl7pPr algn="ctr">
              <a:defRPr sz="1725" b="1">
                <a:solidFill>
                  <a:srgbClr val="F2F8FC"/>
                </a:solidFill>
              </a:defRPr>
            </a:lvl7pPr>
            <a:lvl8pPr algn="ctr">
              <a:defRPr sz="1725" b="1">
                <a:solidFill>
                  <a:srgbClr val="F2F8FC"/>
                </a:solidFill>
              </a:defRPr>
            </a:lvl8pPr>
            <a:lvl9pPr algn="ctr">
              <a:defRPr sz="1725" b="1">
                <a:solidFill>
                  <a:srgbClr val="F2F8FC"/>
                </a:solidFill>
              </a:defRPr>
            </a:lvl9pPr>
          </a:lstStyle>
          <a:p xmlns:a="http://schemas.openxmlformats.org/drawingml/2006/main">
            <a:pPr algn="ctr">
              <a:defRPr sz="1725" b="1">
                <a:solidFill>
                  <a:srgbClr val="F2F8FC"/>
                </a:solidFill>
              </a:defRPr>
            </a:pPr>
            <a:r>
              <a:rPr sz="1725" b="1">
                <a:solidFill>
                  <a:srgbClr val="F2F8FC"/>
                </a:solidFill>
              </a:rPr>
              <a:t>Model</a:t>
            </a:r>
          </a:p>
        </p:txBody>
      </p:sp>
      <p:sp>
        <p:nvSpPr>
          <p:cNvPr id="31" name="Sensitivity and correlations">
            <a:extLst xmlns:a="http://schemas.openxmlformats.org/drawingml/2006/main">
              <a:ext uri="{FF2B5EF4-FFF2-40B4-BE49-F238E27FC236}">
                <a16:creationId xmlns:a16="http://schemas.microsoft.com/office/drawing/2014/main" id="{2E238C33-9E8F-4FD8-9A81-DEFD81A9FA75}"/>
              </a:ext>
            </a:extLst>
          </p:cNvPr>
          <p:cNvSpPr>
            <a:spLocks xmlns:a="http://schemas.openxmlformats.org/drawingml/2006/main" noGrp="1"/>
          </p:cNvSpPr>
          <p:nvPr/>
        </p:nvSpPr>
        <p:spPr>
          <a:xfrm xmlns:a="http://schemas.openxmlformats.org/drawingml/2006/main">
            <a:off x="9906000" y="292417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0">
                <a:solidFill>
                  <a:srgbClr val="C3D1E2"/>
                </a:solidFill>
              </a:defRPr>
            </a:defPPr>
            <a:lvl1pPr algn="ctr">
              <a:defRPr sz="1350" b="0">
                <a:solidFill>
                  <a:srgbClr val="C3D1E2"/>
                </a:solidFill>
              </a:defRPr>
            </a:lvl1pPr>
            <a:lvl2pPr algn="ctr">
              <a:defRPr sz="1350" b="0">
                <a:solidFill>
                  <a:srgbClr val="C3D1E2"/>
                </a:solidFill>
              </a:defRPr>
            </a:lvl2pPr>
            <a:lvl3pPr algn="ctr">
              <a:defRPr sz="1350" b="0">
                <a:solidFill>
                  <a:srgbClr val="C3D1E2"/>
                </a:solidFill>
              </a:defRPr>
            </a:lvl3pPr>
            <a:lvl4pPr algn="ctr">
              <a:defRPr sz="1350" b="0">
                <a:solidFill>
                  <a:srgbClr val="C3D1E2"/>
                </a:solidFill>
              </a:defRPr>
            </a:lvl4pPr>
            <a:lvl5pPr algn="ctr">
              <a:defRPr sz="1350" b="0">
                <a:solidFill>
                  <a:srgbClr val="C3D1E2"/>
                </a:solidFill>
              </a:defRPr>
            </a:lvl5pPr>
            <a:lvl6pPr algn="ctr">
              <a:defRPr sz="1350" b="0">
                <a:solidFill>
                  <a:srgbClr val="C3D1E2"/>
                </a:solidFill>
              </a:defRPr>
            </a:lvl6pPr>
            <a:lvl7pPr algn="ctr">
              <a:defRPr sz="1350" b="0">
                <a:solidFill>
                  <a:srgbClr val="C3D1E2"/>
                </a:solidFill>
              </a:defRPr>
            </a:lvl7pPr>
            <a:lvl8pPr algn="ctr">
              <a:defRPr sz="1350" b="0">
                <a:solidFill>
                  <a:srgbClr val="C3D1E2"/>
                </a:solidFill>
              </a:defRPr>
            </a:lvl8pPr>
            <a:lvl9pPr algn="ctr">
              <a:defRPr sz="1350" b="0">
                <a:solidFill>
                  <a:srgbClr val="C3D1E2"/>
                </a:solidFill>
              </a:defRPr>
            </a:lvl9pPr>
          </a:lstStyle>
          <a:p xmlns:a="http://schemas.openxmlformats.org/drawingml/2006/main">
            <a:pPr algn="ctr">
              <a:defRPr sz="1350" b="0">
                <a:solidFill>
                  <a:srgbClr val="C3D1E2"/>
                </a:solidFill>
              </a:defRPr>
            </a:pPr>
            <a:r>
              <a:rPr sz="1350" b="0">
                <a:solidFill>
                  <a:srgbClr val="C3D1E2"/>
                </a:solidFill>
              </a:rPr>
              <a:t>Sensitivity and</a:t>
            </a:r>
          </a:p>
          <a:p xmlns:a="http://schemas.openxmlformats.org/drawingml/2006/main">
            <a:pPr algn="ctr">
              <a:defRPr sz="1350" b="0">
                <a:solidFill>
                  <a:srgbClr val="C3D1E2"/>
                </a:solidFill>
              </a:defRPr>
            </a:pPr>
            <a:r>
              <a:rPr sz="1350" b="0">
                <a:solidFill>
                  <a:srgbClr val="C3D1E2"/>
                </a:solidFill>
              </a:rPr>
              <a:t>correlations</a:t>
            </a:r>
          </a:p>
        </p:txBody>
      </p:sp>
      <p:sp>
        <p:nvSpPr>
          <p:cNvPr id="32" name="Layout shape">
            <a:extLst xmlns:a="http://schemas.openxmlformats.org/drawingml/2006/main">
              <a:ext uri="{FF2B5EF4-FFF2-40B4-BE49-F238E27FC236}">
                <a16:creationId xmlns:a16="http://schemas.microsoft.com/office/drawing/2014/main" id="{803D83B2-E7C7-4CEB-BF3A-7222517CCE74}"/>
              </a:ext>
            </a:extLst>
          </p:cNvPr>
          <p:cNvSpPr>
            <a:spLocks xmlns:a="http://schemas.openxmlformats.org/drawingml/2006/main" noGrp="1"/>
          </p:cNvSpPr>
          <p:nvPr/>
        </p:nvSpPr>
        <p:spPr>
          <a:xfrm xmlns:a="http://schemas.openxmlformats.org/drawingml/2006/main">
            <a:off x="10744200" y="3467100"/>
            <a:ext cx="19050" cy="266700"/>
          </a:xfrm>
          <a:prstGeom xmlns:a="http://schemas.openxmlformats.org/drawingml/2006/main" prst="rect">
            <a:avLst/>
          </a:prstGeom>
          <a:solidFill xmlns:a="http://schemas.openxmlformats.org/drawingml/2006/main">
            <a:srgbClr val="68D6B1"/>
          </a:solidFill>
          <a:ln xmlns:a="http://schemas.openxmlformats.org/drawingml/2006/main" w="0">
            <a:noFill/>
          </a:ln>
        </p:spPr>
      </p:sp>
      <p:sp>
        <p:nvSpPr>
          <p:cNvPr id="33" name="Layout shape">
            <a:extLst xmlns:a="http://schemas.openxmlformats.org/drawingml/2006/main">
              <a:ext uri="{FF2B5EF4-FFF2-40B4-BE49-F238E27FC236}">
                <a16:creationId xmlns:a16="http://schemas.microsoft.com/office/drawing/2014/main" id="{3818D917-D341-4F0D-ABE0-3E7874894CD1}"/>
              </a:ext>
            </a:extLst>
          </p:cNvPr>
          <p:cNvSpPr>
            <a:spLocks xmlns:a="http://schemas.openxmlformats.org/drawingml/2006/main" noGrp="1"/>
          </p:cNvSpPr>
          <p:nvPr/>
        </p:nvSpPr>
        <p:spPr>
          <a:xfrm xmlns:a="http://schemas.openxmlformats.org/drawingml/2006/main">
            <a:off x="6600825" y="3724275"/>
            <a:ext cx="4152900" cy="19050"/>
          </a:xfrm>
          <a:prstGeom xmlns:a="http://schemas.openxmlformats.org/drawingml/2006/main" prst="rect">
            <a:avLst/>
          </a:prstGeom>
          <a:solidFill xmlns:a="http://schemas.openxmlformats.org/drawingml/2006/main">
            <a:srgbClr val="68D6B1"/>
          </a:solidFill>
          <a:ln xmlns:a="http://schemas.openxmlformats.org/drawingml/2006/main" w="0">
            <a:noFill/>
          </a:ln>
        </p:spPr>
      </p:sp>
      <p:sp>
        <p:nvSpPr>
          <p:cNvPr id="34" name="Flow arrow">
            <a:extLst xmlns:a="http://schemas.openxmlformats.org/drawingml/2006/main">
              <a:ext uri="{FF2B5EF4-FFF2-40B4-BE49-F238E27FC236}">
                <a16:creationId xmlns:a16="http://schemas.microsoft.com/office/drawing/2014/main" id="{4C8369A3-A62E-4926-8C51-358C46AFBF02}"/>
              </a:ext>
            </a:extLst>
          </p:cNvPr>
          <p:cNvSpPr>
            <a:spLocks xmlns:a="http://schemas.openxmlformats.org/drawingml/2006/main" noGrp="1"/>
          </p:cNvSpPr>
          <p:nvPr/>
        </p:nvSpPr>
        <p:spPr>
          <a:xfrm xmlns:a="http://schemas.openxmlformats.org/drawingml/2006/main">
            <a:off x="8582025" y="3743325"/>
            <a:ext cx="190500" cy="257175"/>
          </a:xfrm>
          <a:prstGeom xmlns:a="http://schemas.openxmlformats.org/drawingml/2006/main" prst="downArrow">
            <a:avLst/>
          </a:prstGeom>
          <a:solidFill xmlns:a="http://schemas.openxmlformats.org/drawingml/2006/main">
            <a:srgbClr val="68D6B1"/>
          </a:solidFill>
          <a:ln xmlns:a="http://schemas.openxmlformats.org/drawingml/2006/main" w="0">
            <a:noFill/>
          </a:ln>
        </p:spPr>
      </p:sp>
      <p:sp>
        <p:nvSpPr>
          <p:cNvPr id="35" name="Layout shape">
            <a:extLst xmlns:a="http://schemas.openxmlformats.org/drawingml/2006/main">
              <a:ext uri="{FF2B5EF4-FFF2-40B4-BE49-F238E27FC236}">
                <a16:creationId xmlns:a16="http://schemas.microsoft.com/office/drawing/2014/main" id="{F56114A0-2B11-43EB-A754-A7D8AB7FA8C1}"/>
              </a:ext>
            </a:extLst>
          </p:cNvPr>
          <p:cNvSpPr>
            <a:spLocks xmlns:a="http://schemas.openxmlformats.org/drawingml/2006/main" noGrp="1"/>
          </p:cNvSpPr>
          <p:nvPr/>
        </p:nvSpPr>
        <p:spPr>
          <a:xfrm xmlns:a="http://schemas.openxmlformats.org/drawingml/2006/main">
            <a:off x="6200775" y="4048125"/>
            <a:ext cx="4953000" cy="762000"/>
          </a:xfrm>
          <a:prstGeom xmlns:a="http://schemas.openxmlformats.org/drawingml/2006/main" prst="roundRect">
            <a:avLst>
              <a:gd name="adj" fmla="val 7500"/>
            </a:avLst>
          </a:prstGeom>
          <a:solidFill xmlns:a="http://schemas.openxmlformats.org/drawingml/2006/main">
            <a:srgbClr val="173C43"/>
          </a:solidFill>
          <a:ln xmlns:a="http://schemas.openxmlformats.org/drawingml/2006/main" w="9525">
            <a:solidFill>
              <a:srgbClr val="68D6B1"/>
            </a:solidFill>
          </a:ln>
        </p:spPr>
      </p:sp>
      <p:sp>
        <p:nvSpPr>
          <p:cNvPr id="36" name="Combined standard uncertainty">
            <a:extLst xmlns:a="http://schemas.openxmlformats.org/drawingml/2006/main">
              <a:ext uri="{FF2B5EF4-FFF2-40B4-BE49-F238E27FC236}">
                <a16:creationId xmlns:a16="http://schemas.microsoft.com/office/drawing/2014/main" id="{281A604B-16AA-481E-BBB0-695D8FAE4029}"/>
              </a:ext>
            </a:extLst>
          </p:cNvPr>
          <p:cNvSpPr>
            <a:spLocks xmlns:a="http://schemas.openxmlformats.org/drawingml/2006/main" noGrp="1"/>
          </p:cNvSpPr>
          <p:nvPr/>
        </p:nvSpPr>
        <p:spPr>
          <a:xfrm xmlns:a="http://schemas.openxmlformats.org/drawingml/2006/main">
            <a:off x="6334125" y="4171950"/>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defRPr>
            </a:defPPr>
            <a:lvl1pPr algn="ctr">
              <a:defRPr sz="1800" b="1">
                <a:solidFill>
                  <a:srgbClr val="FFFFFF"/>
                </a:solidFill>
              </a:defRPr>
            </a:lvl1pPr>
            <a:lvl2pPr algn="ctr">
              <a:defRPr sz="1800" b="1">
                <a:solidFill>
                  <a:srgbClr val="FFFFFF"/>
                </a:solidFill>
              </a:defRPr>
            </a:lvl2pPr>
            <a:lvl3pPr algn="ctr">
              <a:defRPr sz="1800" b="1">
                <a:solidFill>
                  <a:srgbClr val="FFFFFF"/>
                </a:solidFill>
              </a:defRPr>
            </a:lvl3pPr>
            <a:lvl4pPr algn="ctr">
              <a:defRPr sz="1800" b="1">
                <a:solidFill>
                  <a:srgbClr val="FFFFFF"/>
                </a:solidFill>
              </a:defRPr>
            </a:lvl4pPr>
            <a:lvl5pPr algn="ctr">
              <a:defRPr sz="1800" b="1">
                <a:solidFill>
                  <a:srgbClr val="FFFFFF"/>
                </a:solidFill>
              </a:defRPr>
            </a:lvl5pPr>
            <a:lvl6pPr algn="ctr">
              <a:defRPr sz="1800" b="1">
                <a:solidFill>
                  <a:srgbClr val="FFFFFF"/>
                </a:solidFill>
              </a:defRPr>
            </a:lvl6pPr>
            <a:lvl7pPr algn="ctr">
              <a:defRPr sz="1800" b="1">
                <a:solidFill>
                  <a:srgbClr val="FFFFFF"/>
                </a:solidFill>
              </a:defRPr>
            </a:lvl7pPr>
            <a:lvl8pPr algn="ctr">
              <a:defRPr sz="1800" b="1">
                <a:solidFill>
                  <a:srgbClr val="FFFFFF"/>
                </a:solidFill>
              </a:defRPr>
            </a:lvl8pPr>
            <a:lvl9pPr algn="ctr">
              <a:defRPr sz="1800" b="1">
                <a:solidFill>
                  <a:srgbClr val="FFFFFF"/>
                </a:solidFill>
              </a:defRPr>
            </a:lvl9pPr>
          </a:lstStyle>
          <a:p xmlns:a="http://schemas.openxmlformats.org/drawingml/2006/main">
            <a:pPr algn="ctr">
              <a:defRPr sz="1800" b="1">
                <a:solidFill>
                  <a:srgbClr val="FFFFFF"/>
                </a:solidFill>
              </a:defRPr>
            </a:pPr>
            <a:r>
              <a:rPr sz="1800" b="1">
                <a:solidFill>
                  <a:srgbClr val="FFFFFF"/>
                </a:solidFill>
              </a:rPr>
              <a:t>Combined standard uncertainty</a:t>
            </a:r>
          </a:p>
        </p:txBody>
      </p:sp>
      <p:sp>
        <p:nvSpPr>
          <p:cNvPr id="37" name="Contributions in common output units">
            <a:extLst xmlns:a="http://schemas.openxmlformats.org/drawingml/2006/main">
              <a:ext uri="{FF2B5EF4-FFF2-40B4-BE49-F238E27FC236}">
                <a16:creationId xmlns:a16="http://schemas.microsoft.com/office/drawing/2014/main" id="{487DFE51-F6EB-4B5B-A5DA-13C1AFB5CBE5}"/>
              </a:ext>
            </a:extLst>
          </p:cNvPr>
          <p:cNvSpPr>
            <a:spLocks xmlns:a="http://schemas.openxmlformats.org/drawingml/2006/main" noGrp="1"/>
          </p:cNvSpPr>
          <p:nvPr/>
        </p:nvSpPr>
        <p:spPr>
          <a:xfrm xmlns:a="http://schemas.openxmlformats.org/drawingml/2006/main">
            <a:off x="6334125" y="4524375"/>
            <a:ext cx="4686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275" b="0">
                <a:solidFill>
                  <a:srgbClr val="BFE4DC"/>
                </a:solidFill>
              </a:defRPr>
            </a:defPPr>
            <a:lvl1pPr algn="ctr">
              <a:defRPr sz="1275" b="0">
                <a:solidFill>
                  <a:srgbClr val="BFE4DC"/>
                </a:solidFill>
              </a:defRPr>
            </a:lvl1pPr>
            <a:lvl2pPr algn="ctr">
              <a:defRPr sz="1275" b="0">
                <a:solidFill>
                  <a:srgbClr val="BFE4DC"/>
                </a:solidFill>
              </a:defRPr>
            </a:lvl2pPr>
            <a:lvl3pPr algn="ctr">
              <a:defRPr sz="1275" b="0">
                <a:solidFill>
                  <a:srgbClr val="BFE4DC"/>
                </a:solidFill>
              </a:defRPr>
            </a:lvl3pPr>
            <a:lvl4pPr algn="ctr">
              <a:defRPr sz="1275" b="0">
                <a:solidFill>
                  <a:srgbClr val="BFE4DC"/>
                </a:solidFill>
              </a:defRPr>
            </a:lvl4pPr>
            <a:lvl5pPr algn="ctr">
              <a:defRPr sz="1275" b="0">
                <a:solidFill>
                  <a:srgbClr val="BFE4DC"/>
                </a:solidFill>
              </a:defRPr>
            </a:lvl5pPr>
            <a:lvl6pPr algn="ctr">
              <a:defRPr sz="1275" b="0">
                <a:solidFill>
                  <a:srgbClr val="BFE4DC"/>
                </a:solidFill>
              </a:defRPr>
            </a:lvl6pPr>
            <a:lvl7pPr algn="ctr">
              <a:defRPr sz="1275" b="0">
                <a:solidFill>
                  <a:srgbClr val="BFE4DC"/>
                </a:solidFill>
              </a:defRPr>
            </a:lvl7pPr>
            <a:lvl8pPr algn="ctr">
              <a:defRPr sz="1275" b="0">
                <a:solidFill>
                  <a:srgbClr val="BFE4DC"/>
                </a:solidFill>
              </a:defRPr>
            </a:lvl8pPr>
            <a:lvl9pPr algn="ctr">
              <a:defRPr sz="1275" b="0">
                <a:solidFill>
                  <a:srgbClr val="BFE4DC"/>
                </a:solidFill>
              </a:defRPr>
            </a:lvl9pPr>
          </a:lstStyle>
          <a:p xmlns:a="http://schemas.openxmlformats.org/drawingml/2006/main">
            <a:pPr algn="ctr">
              <a:defRPr sz="1275" b="0">
                <a:solidFill>
                  <a:srgbClr val="BFE4DC"/>
                </a:solidFill>
              </a:defRPr>
            </a:pPr>
            <a:r>
              <a:rPr sz="1275" b="0">
                <a:solidFill>
                  <a:srgbClr val="BFE4DC"/>
                </a:solidFill>
              </a:rPr>
              <a:t>Contributions in common output units</a:t>
            </a:r>
          </a:p>
        </p:txBody>
      </p:sp>
      <p:sp>
        <p:nvSpPr>
          <p:cNvPr id="38" name="Flow arrow">
            <a:extLst xmlns:a="http://schemas.openxmlformats.org/drawingml/2006/main">
              <a:ext uri="{FF2B5EF4-FFF2-40B4-BE49-F238E27FC236}">
                <a16:creationId xmlns:a16="http://schemas.microsoft.com/office/drawing/2014/main" id="{C75B3FE3-28ED-46F1-8D0A-5521E42E6735}"/>
              </a:ext>
            </a:extLst>
          </p:cNvPr>
          <p:cNvSpPr>
            <a:spLocks xmlns:a="http://schemas.openxmlformats.org/drawingml/2006/main" noGrp="1"/>
          </p:cNvSpPr>
          <p:nvPr/>
        </p:nvSpPr>
        <p:spPr>
          <a:xfrm xmlns:a="http://schemas.openxmlformats.org/drawingml/2006/main">
            <a:off x="8582025" y="4867275"/>
            <a:ext cx="190500" cy="247650"/>
          </a:xfrm>
          <a:prstGeom xmlns:a="http://schemas.openxmlformats.org/drawingml/2006/main" prst="downArrow">
            <a:avLst/>
          </a:prstGeom>
          <a:solidFill xmlns:a="http://schemas.openxmlformats.org/drawingml/2006/main">
            <a:srgbClr val="68D6B1"/>
          </a:solidFill>
          <a:ln xmlns:a="http://schemas.openxmlformats.org/drawingml/2006/main" w="0">
            <a:noFill/>
          </a:ln>
        </p:spPr>
      </p:sp>
      <p:sp>
        <p:nvSpPr>
          <p:cNvPr id="39" name="Layout shape">
            <a:extLst xmlns:a="http://schemas.openxmlformats.org/drawingml/2006/main">
              <a:ext uri="{FF2B5EF4-FFF2-40B4-BE49-F238E27FC236}">
                <a16:creationId xmlns:a16="http://schemas.microsoft.com/office/drawing/2014/main" id="{6B22DAB1-EC6D-4C87-89A4-A36CC981387C}"/>
              </a:ext>
            </a:extLst>
          </p:cNvPr>
          <p:cNvSpPr>
            <a:spLocks xmlns:a="http://schemas.openxmlformats.org/drawingml/2006/main" noGrp="1"/>
          </p:cNvSpPr>
          <p:nvPr/>
        </p:nvSpPr>
        <p:spPr>
          <a:xfrm xmlns:a="http://schemas.openxmlformats.org/drawingml/2006/main">
            <a:off x="6200775" y="5162550"/>
            <a:ext cx="4953000" cy="838200"/>
          </a:xfrm>
          <a:prstGeom xmlns:a="http://schemas.openxmlformats.org/drawingml/2006/main" prst="roundRect">
            <a:avLst>
              <a:gd name="adj" fmla="val 6818"/>
            </a:avLst>
          </a:prstGeom>
          <a:solidFill xmlns:a="http://schemas.openxmlformats.org/drawingml/2006/main">
            <a:srgbClr val="13283A"/>
          </a:solidFill>
          <a:ln xmlns:a="http://schemas.openxmlformats.org/drawingml/2006/main" w="9525">
            <a:solidFill>
              <a:srgbClr val="315467"/>
            </a:solidFill>
          </a:ln>
        </p:spPr>
      </p:sp>
      <p:sp>
        <p:nvSpPr>
          <p:cNvPr id="40" name="Expanded uncertainty">
            <a:extLst xmlns:a="http://schemas.openxmlformats.org/drawingml/2006/main">
              <a:ext uri="{FF2B5EF4-FFF2-40B4-BE49-F238E27FC236}">
                <a16:creationId xmlns:a16="http://schemas.microsoft.com/office/drawing/2014/main" id="{7FF78E0F-3A27-4B0C-9A6E-63BBCF7BFBD2}"/>
              </a:ext>
            </a:extLst>
          </p:cNvPr>
          <p:cNvSpPr>
            <a:spLocks xmlns:a="http://schemas.openxmlformats.org/drawingml/2006/main" noGrp="1"/>
          </p:cNvSpPr>
          <p:nvPr/>
        </p:nvSpPr>
        <p:spPr>
          <a:xfrm xmlns:a="http://schemas.openxmlformats.org/drawingml/2006/main">
            <a:off x="6334125" y="5286375"/>
            <a:ext cx="468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800" b="1">
                <a:solidFill>
                  <a:srgbClr val="FFFFFF"/>
                </a:solidFill>
              </a:defRPr>
            </a:defPPr>
            <a:lvl1pPr algn="ctr">
              <a:defRPr sz="1800" b="1">
                <a:solidFill>
                  <a:srgbClr val="FFFFFF"/>
                </a:solidFill>
              </a:defRPr>
            </a:lvl1pPr>
            <a:lvl2pPr algn="ctr">
              <a:defRPr sz="1800" b="1">
                <a:solidFill>
                  <a:srgbClr val="FFFFFF"/>
                </a:solidFill>
              </a:defRPr>
            </a:lvl2pPr>
            <a:lvl3pPr algn="ctr">
              <a:defRPr sz="1800" b="1">
                <a:solidFill>
                  <a:srgbClr val="FFFFFF"/>
                </a:solidFill>
              </a:defRPr>
            </a:lvl3pPr>
            <a:lvl4pPr algn="ctr">
              <a:defRPr sz="1800" b="1">
                <a:solidFill>
                  <a:srgbClr val="FFFFFF"/>
                </a:solidFill>
              </a:defRPr>
            </a:lvl4pPr>
            <a:lvl5pPr algn="ctr">
              <a:defRPr sz="1800" b="1">
                <a:solidFill>
                  <a:srgbClr val="FFFFFF"/>
                </a:solidFill>
              </a:defRPr>
            </a:lvl5pPr>
            <a:lvl6pPr algn="ctr">
              <a:defRPr sz="1800" b="1">
                <a:solidFill>
                  <a:srgbClr val="FFFFFF"/>
                </a:solidFill>
              </a:defRPr>
            </a:lvl6pPr>
            <a:lvl7pPr algn="ctr">
              <a:defRPr sz="1800" b="1">
                <a:solidFill>
                  <a:srgbClr val="FFFFFF"/>
                </a:solidFill>
              </a:defRPr>
            </a:lvl7pPr>
            <a:lvl8pPr algn="ctr">
              <a:defRPr sz="1800" b="1">
                <a:solidFill>
                  <a:srgbClr val="FFFFFF"/>
                </a:solidFill>
              </a:defRPr>
            </a:lvl8pPr>
            <a:lvl9pPr algn="ctr">
              <a:defRPr sz="1800" b="1">
                <a:solidFill>
                  <a:srgbClr val="FFFFFF"/>
                </a:solidFill>
              </a:defRPr>
            </a:lvl9pPr>
          </a:lstStyle>
          <a:p xmlns:a="http://schemas.openxmlformats.org/drawingml/2006/main">
            <a:pPr algn="ctr">
              <a:defRPr sz="1800" b="1">
                <a:solidFill>
                  <a:srgbClr val="FFFFFF"/>
                </a:solidFill>
              </a:defRPr>
            </a:pPr>
            <a:r>
              <a:rPr sz="1800" b="1">
                <a:solidFill>
                  <a:srgbClr val="FFFFFF"/>
                </a:solidFill>
              </a:rPr>
              <a:t>Expanded uncertainty</a:t>
            </a:r>
          </a:p>
        </p:txBody>
      </p:sp>
      <p:sp>
        <p:nvSpPr>
          <p:cNvPr id="41" name="Apply the selected coverage factor">
            <a:extLst xmlns:a="http://schemas.openxmlformats.org/drawingml/2006/main">
              <a:ext uri="{FF2B5EF4-FFF2-40B4-BE49-F238E27FC236}">
                <a16:creationId xmlns:a16="http://schemas.microsoft.com/office/drawing/2014/main" id="{8DB97C86-0226-497E-B2EE-91AB33988CAF}"/>
              </a:ext>
            </a:extLst>
          </p:cNvPr>
          <p:cNvSpPr>
            <a:spLocks xmlns:a="http://schemas.openxmlformats.org/drawingml/2006/main" noGrp="1"/>
          </p:cNvSpPr>
          <p:nvPr/>
        </p:nvSpPr>
        <p:spPr>
          <a:xfrm xmlns:a="http://schemas.openxmlformats.org/drawingml/2006/main">
            <a:off x="6334125" y="5638800"/>
            <a:ext cx="46863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0">
                <a:solidFill>
                  <a:srgbClr val="C3D1E2"/>
                </a:solidFill>
              </a:defRPr>
            </a:defPPr>
            <a:lvl1pPr algn="ctr">
              <a:defRPr sz="1350" b="0">
                <a:solidFill>
                  <a:srgbClr val="C3D1E2"/>
                </a:solidFill>
              </a:defRPr>
            </a:lvl1pPr>
            <a:lvl2pPr algn="ctr">
              <a:defRPr sz="1350" b="0">
                <a:solidFill>
                  <a:srgbClr val="C3D1E2"/>
                </a:solidFill>
              </a:defRPr>
            </a:lvl2pPr>
            <a:lvl3pPr algn="ctr">
              <a:defRPr sz="1350" b="0">
                <a:solidFill>
                  <a:srgbClr val="C3D1E2"/>
                </a:solidFill>
              </a:defRPr>
            </a:lvl3pPr>
            <a:lvl4pPr algn="ctr">
              <a:defRPr sz="1350" b="0">
                <a:solidFill>
                  <a:srgbClr val="C3D1E2"/>
                </a:solidFill>
              </a:defRPr>
            </a:lvl4pPr>
            <a:lvl5pPr algn="ctr">
              <a:defRPr sz="1350" b="0">
                <a:solidFill>
                  <a:srgbClr val="C3D1E2"/>
                </a:solidFill>
              </a:defRPr>
            </a:lvl5pPr>
            <a:lvl6pPr algn="ctr">
              <a:defRPr sz="1350" b="0">
                <a:solidFill>
                  <a:srgbClr val="C3D1E2"/>
                </a:solidFill>
              </a:defRPr>
            </a:lvl6pPr>
            <a:lvl7pPr algn="ctr">
              <a:defRPr sz="1350" b="0">
                <a:solidFill>
                  <a:srgbClr val="C3D1E2"/>
                </a:solidFill>
              </a:defRPr>
            </a:lvl7pPr>
            <a:lvl8pPr algn="ctr">
              <a:defRPr sz="1350" b="0">
                <a:solidFill>
                  <a:srgbClr val="C3D1E2"/>
                </a:solidFill>
              </a:defRPr>
            </a:lvl8pPr>
            <a:lvl9pPr algn="ctr">
              <a:defRPr sz="1350" b="0">
                <a:solidFill>
                  <a:srgbClr val="C3D1E2"/>
                </a:solidFill>
              </a:defRPr>
            </a:lvl9pPr>
          </a:lstStyle>
          <a:p xmlns:a="http://schemas.openxmlformats.org/drawingml/2006/main">
            <a:pPr algn="ctr">
              <a:defRPr sz="1350" b="0">
                <a:solidFill>
                  <a:srgbClr val="C3D1E2"/>
                </a:solidFill>
              </a:defRPr>
            </a:pPr>
            <a:r>
              <a:rPr sz="1350" b="0">
                <a:solidFill>
                  <a:srgbClr val="C3D1E2"/>
                </a:solidFill>
              </a:rPr>
              <a:t>Apply the selected coverage factor</a:t>
            </a:r>
          </a:p>
        </p:txBody>
      </p:sp>
      <p:sp>
        <p:nvSpPr>
          <p:cNvPr id="42" name="Review TUR, false acceptance and false rejection risk.">
            <a:extLst xmlns:a="http://schemas.openxmlformats.org/drawingml/2006/main">
              <a:ext uri="{FF2B5EF4-FFF2-40B4-BE49-F238E27FC236}">
                <a16:creationId xmlns:a16="http://schemas.microsoft.com/office/drawing/2014/main" id="{7A5CEC38-62D9-433F-8CB6-FBC2B390F209}"/>
              </a:ext>
            </a:extLst>
          </p:cNvPr>
          <p:cNvSpPr>
            <a:spLocks xmlns:a="http://schemas.openxmlformats.org/drawingml/2006/main" noGrp="1"/>
          </p:cNvSpPr>
          <p:nvPr/>
        </p:nvSpPr>
        <p:spPr>
          <a:xfrm xmlns:a="http://schemas.openxmlformats.org/drawingml/2006/main">
            <a:off x="5619750" y="6296025"/>
            <a:ext cx="6115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350" b="0">
                <a:solidFill>
                  <a:srgbClr val="68D6B1"/>
                </a:solidFill>
              </a:defRPr>
            </a:defPPr>
            <a:lvl1pPr algn="ctr">
              <a:defRPr sz="1350" b="0">
                <a:solidFill>
                  <a:srgbClr val="68D6B1"/>
                </a:solidFill>
              </a:defRPr>
            </a:lvl1pPr>
            <a:lvl2pPr algn="ctr">
              <a:defRPr sz="1350" b="0">
                <a:solidFill>
                  <a:srgbClr val="68D6B1"/>
                </a:solidFill>
              </a:defRPr>
            </a:lvl2pPr>
            <a:lvl3pPr algn="ctr">
              <a:defRPr sz="1350" b="0">
                <a:solidFill>
                  <a:srgbClr val="68D6B1"/>
                </a:solidFill>
              </a:defRPr>
            </a:lvl3pPr>
            <a:lvl4pPr algn="ctr">
              <a:defRPr sz="1350" b="0">
                <a:solidFill>
                  <a:srgbClr val="68D6B1"/>
                </a:solidFill>
              </a:defRPr>
            </a:lvl4pPr>
            <a:lvl5pPr algn="ctr">
              <a:defRPr sz="1350" b="0">
                <a:solidFill>
                  <a:srgbClr val="68D6B1"/>
                </a:solidFill>
              </a:defRPr>
            </a:lvl5pPr>
            <a:lvl6pPr algn="ctr">
              <a:defRPr sz="1350" b="0">
                <a:solidFill>
                  <a:srgbClr val="68D6B1"/>
                </a:solidFill>
              </a:defRPr>
            </a:lvl6pPr>
            <a:lvl7pPr algn="ctr">
              <a:defRPr sz="1350" b="0">
                <a:solidFill>
                  <a:srgbClr val="68D6B1"/>
                </a:solidFill>
              </a:defRPr>
            </a:lvl7pPr>
            <a:lvl8pPr algn="ctr">
              <a:defRPr sz="1350" b="0">
                <a:solidFill>
                  <a:srgbClr val="68D6B1"/>
                </a:solidFill>
              </a:defRPr>
            </a:lvl8pPr>
            <a:lvl9pPr algn="ctr">
              <a:defRPr sz="1350" b="0">
                <a:solidFill>
                  <a:srgbClr val="68D6B1"/>
                </a:solidFill>
              </a:defRPr>
            </a:lvl9pPr>
          </a:lstStyle>
          <a:p xmlns:a="http://schemas.openxmlformats.org/drawingml/2006/main">
            <a:pPr algn="ctr">
              <a:defRPr sz="1350" b="0">
                <a:solidFill>
                  <a:srgbClr val="68D6B1"/>
                </a:solidFill>
              </a:defRPr>
            </a:pPr>
            <a:r>
              <a:rPr sz="1350" b="0">
                <a:solidFill>
                  <a:srgbClr val="68D6B1"/>
                </a:solidFill>
              </a:rPr>
              <a:t>Review TUR, false acceptance and false rejection risk.</a:t>
            </a:r>
          </a:p>
        </p:txBody>
      </p:sp>
    </p:spTree>
    <p:extLst>
      <p:ext uri="{BB962C8B-B14F-4D97-AF65-F5344CB8AC3E}">
        <p14:creationId xmlns:p14="http://schemas.microsoft.com/office/powerpoint/2010/main" val="1120094370"/>
      </p:ext>
    </p:extLst>
  </p:cSld>
</p:sld>
</file>

<file path=ppt/slides/slide5.xml><?xml version="1.0" encoding="utf-8"?>
<p:sld xmlns:p="http://schemas.openxmlformats.org/presentationml/2006/main">
  <p:cSld>
    <p:bg>
      <p:bgPr>
        <a:solidFill xmlns:a="http://schemas.openxmlformats.org/drawingml/2006/main">
          <a:srgbClr val="08142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5749F6-2A4D-45A4-9C47-6FDF28A9A70A}"/>
              </a:ext>
            </a:extLst>
          </p:cNvPr>
          <p:cNvSpPr>
            <a:spLocks xmlns:a="http://schemas.openxmlformats.org/drawingml/2006/main" noGrp="1"/>
          </p:cNvSpPr>
          <p:nvPr/>
        </p:nvSpPr>
        <p:spPr>
          <a:xfrm xmlns:a="http://schemas.openxmlformats.org/drawingml/2006/main">
            <a:off x="457200" y="20955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1">
                <a:solidFill>
                  <a:srgbClr val="65D4EC"/>
                </a:solidFill>
              </a:defRPr>
            </a:defPPr>
            <a:lvl1pPr>
              <a:buNone/>
              <a:defRPr sz="1050" b="1">
                <a:solidFill>
                  <a:srgbClr val="65D4EC"/>
                </a:solidFill>
              </a:defRPr>
            </a:lvl1pPr>
            <a:lvl2pPr>
              <a:buNone/>
              <a:defRPr sz="1050" b="1">
                <a:solidFill>
                  <a:srgbClr val="65D4EC"/>
                </a:solidFill>
              </a:defRPr>
            </a:lvl2pPr>
            <a:lvl3pPr>
              <a:buNone/>
              <a:defRPr sz="1050" b="1">
                <a:solidFill>
                  <a:srgbClr val="65D4EC"/>
                </a:solidFill>
              </a:defRPr>
            </a:lvl3pPr>
            <a:lvl4pPr>
              <a:buNone/>
              <a:defRPr sz="1050" b="1">
                <a:solidFill>
                  <a:srgbClr val="65D4EC"/>
                </a:solidFill>
              </a:defRPr>
            </a:lvl4pPr>
            <a:lvl5pPr>
              <a:buNone/>
              <a:defRPr sz="1050" b="1">
                <a:solidFill>
                  <a:srgbClr val="65D4EC"/>
                </a:solidFill>
              </a:defRPr>
            </a:lvl5pPr>
            <a:lvl6pPr>
              <a:buNone/>
              <a:defRPr sz="1050" b="1">
                <a:solidFill>
                  <a:srgbClr val="65D4EC"/>
                </a:solidFill>
              </a:defRPr>
            </a:lvl6pPr>
            <a:lvl7pPr>
              <a:buNone/>
              <a:defRPr sz="1050" b="1">
                <a:solidFill>
                  <a:srgbClr val="65D4EC"/>
                </a:solidFill>
              </a:defRPr>
            </a:lvl7pPr>
            <a:lvl8pPr>
              <a:buNone/>
              <a:defRPr sz="1050" b="1">
                <a:solidFill>
                  <a:srgbClr val="65D4EC"/>
                </a:solidFill>
              </a:defRPr>
            </a:lvl8pPr>
            <a:lvl9pPr>
              <a:buNone/>
              <a:defRPr sz="1050" b="1">
                <a:solidFill>
                  <a:srgbClr val="65D4EC"/>
                </a:solidFill>
              </a:defRPr>
            </a:lvl9pPr>
          </a:lstStyle>
          <a:p xmlns:a="http://schemas.openxmlformats.org/drawingml/2006/main">
            <a:pPr>
              <a:buNone/>
              <a:defRPr sz="1050" b="1">
                <a:solidFill>
                  <a:srgbClr val="65D4EC"/>
                </a:solidFill>
              </a:defRPr>
            </a:pPr>
            <a:r>
              <a:rPr sz="1050" b="1">
                <a:solidFill>
                  <a:srgbClr val="65D4EC"/>
                </a:solidFill>
              </a:rPr>
              <a:t>METROLOGY WORKBENCH / IN THE SOFTWARE</a:t>
            </a:r>
          </a:p>
        </p:txBody>
      </p:sp>
      <p:sp>
        <p:nvSpPr>
          <p:cNvPr id="2" name="">
            <a:extLst xmlns:a="http://schemas.openxmlformats.org/drawingml/2006/main">
              <a:ext uri="{FF2B5EF4-FFF2-40B4-BE49-F238E27FC236}">
                <a16:creationId xmlns:a16="http://schemas.microsoft.com/office/drawing/2014/main" id="{28EB4F39-0DBC-4EFF-83F5-213104239DBA}"/>
              </a:ext>
            </a:extLst>
          </p:cNvPr>
          <p:cNvSpPr>
            <a:spLocks xmlns:a="http://schemas.openxmlformats.org/drawingml/2006/main" noGrp="1"/>
          </p:cNvSpPr>
          <p:nvPr/>
        </p:nvSpPr>
        <p:spPr>
          <a:xfrm xmlns:a="http://schemas.openxmlformats.org/drawingml/2006/main">
            <a:off x="457200" y="514350"/>
            <a:ext cx="11334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FFFFFF"/>
                </a:solidFill>
              </a:defRPr>
            </a:defPPr>
            <a:lvl1pPr>
              <a:buNone/>
              <a:defRPr sz="2850" b="1">
                <a:solidFill>
                  <a:srgbClr val="FFFFFF"/>
                </a:solidFill>
              </a:defRPr>
            </a:lvl1pPr>
            <a:lvl2pPr>
              <a:buNone/>
              <a:defRPr sz="2850" b="1">
                <a:solidFill>
                  <a:srgbClr val="FFFFFF"/>
                </a:solidFill>
              </a:defRPr>
            </a:lvl2pPr>
            <a:lvl3pPr>
              <a:buNone/>
              <a:defRPr sz="2850" b="1">
                <a:solidFill>
                  <a:srgbClr val="FFFFFF"/>
                </a:solidFill>
              </a:defRPr>
            </a:lvl3pPr>
            <a:lvl4pPr>
              <a:buNone/>
              <a:defRPr sz="2850" b="1">
                <a:solidFill>
                  <a:srgbClr val="FFFFFF"/>
                </a:solidFill>
              </a:defRPr>
            </a:lvl4pPr>
            <a:lvl5pPr>
              <a:buNone/>
              <a:defRPr sz="2850" b="1">
                <a:solidFill>
                  <a:srgbClr val="FFFFFF"/>
                </a:solidFill>
              </a:defRPr>
            </a:lvl5pPr>
            <a:lvl6pPr>
              <a:buNone/>
              <a:defRPr sz="2850" b="1">
                <a:solidFill>
                  <a:srgbClr val="FFFFFF"/>
                </a:solidFill>
              </a:defRPr>
            </a:lvl6pPr>
            <a:lvl7pPr>
              <a:buNone/>
              <a:defRPr sz="2850" b="1">
                <a:solidFill>
                  <a:srgbClr val="FFFFFF"/>
                </a:solidFill>
              </a:defRPr>
            </a:lvl7pPr>
            <a:lvl8pPr>
              <a:buNone/>
              <a:defRPr sz="2850" b="1">
                <a:solidFill>
                  <a:srgbClr val="FFFFFF"/>
                </a:solidFill>
              </a:defRPr>
            </a:lvl8pPr>
            <a:lvl9pPr>
              <a:buNone/>
              <a:defRPr sz="2850" b="1">
                <a:solidFill>
                  <a:srgbClr val="FFFFFF"/>
                </a:solidFill>
              </a:defRPr>
            </a:lvl9pPr>
          </a:lstStyle>
          <a:p xmlns:a="http://schemas.openxmlformats.org/drawingml/2006/main">
            <a:pPr>
              <a:buNone/>
              <a:defRPr sz="2850" b="1">
                <a:solidFill>
                  <a:srgbClr val="FFFFFF"/>
                </a:solidFill>
              </a:defRPr>
            </a:pPr>
            <a:r>
              <a:rPr sz="2850" b="1">
                <a:solidFill>
                  <a:srgbClr val="FFFFFF"/>
                </a:solidFill>
              </a:rPr>
              <a:t>See what contributes to uncertainty</a:t>
            </a:r>
          </a:p>
        </p:txBody>
      </p:sp>
      <p:sp>
        <p:nvSpPr>
          <p:cNvPr id="3" name="">
            <a:extLst xmlns:a="http://schemas.openxmlformats.org/drawingml/2006/main">
              <a:ext uri="{FF2B5EF4-FFF2-40B4-BE49-F238E27FC236}">
                <a16:creationId xmlns:a16="http://schemas.microsoft.com/office/drawing/2014/main" id="{53B870EC-D80B-4A10-8288-BEBE2533F529}"/>
              </a:ext>
            </a:extLst>
          </p:cNvPr>
          <p:cNvSpPr>
            <a:spLocks xmlns:a="http://schemas.openxmlformats.org/drawingml/2006/main" noGrp="1"/>
          </p:cNvSpPr>
          <p:nvPr/>
        </p:nvSpPr>
        <p:spPr>
          <a:xfrm xmlns:a="http://schemas.openxmlformats.org/drawingml/2006/main">
            <a:off x="457200" y="1028700"/>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CAD6E8"/>
                </a:solidFill>
              </a:defRPr>
            </a:defPPr>
            <a:lvl1pPr>
              <a:buNone/>
              <a:defRPr sz="1500" b="0">
                <a:solidFill>
                  <a:srgbClr val="CAD6E8"/>
                </a:solidFill>
              </a:defRPr>
            </a:lvl1pPr>
            <a:lvl2pPr>
              <a:buNone/>
              <a:defRPr sz="1500" b="0">
                <a:solidFill>
                  <a:srgbClr val="CAD6E8"/>
                </a:solidFill>
              </a:defRPr>
            </a:lvl2pPr>
            <a:lvl3pPr>
              <a:buNone/>
              <a:defRPr sz="1500" b="0">
                <a:solidFill>
                  <a:srgbClr val="CAD6E8"/>
                </a:solidFill>
              </a:defRPr>
            </a:lvl3pPr>
            <a:lvl4pPr>
              <a:buNone/>
              <a:defRPr sz="1500" b="0">
                <a:solidFill>
                  <a:srgbClr val="CAD6E8"/>
                </a:solidFill>
              </a:defRPr>
            </a:lvl4pPr>
            <a:lvl5pPr>
              <a:buNone/>
              <a:defRPr sz="1500" b="0">
                <a:solidFill>
                  <a:srgbClr val="CAD6E8"/>
                </a:solidFill>
              </a:defRPr>
            </a:lvl5pPr>
            <a:lvl6pPr>
              <a:buNone/>
              <a:defRPr sz="1500" b="0">
                <a:solidFill>
                  <a:srgbClr val="CAD6E8"/>
                </a:solidFill>
              </a:defRPr>
            </a:lvl6pPr>
            <a:lvl7pPr>
              <a:buNone/>
              <a:defRPr sz="1500" b="0">
                <a:solidFill>
                  <a:srgbClr val="CAD6E8"/>
                </a:solidFill>
              </a:defRPr>
            </a:lvl7pPr>
            <a:lvl8pPr>
              <a:buNone/>
              <a:defRPr sz="1500" b="0">
                <a:solidFill>
                  <a:srgbClr val="CAD6E8"/>
                </a:solidFill>
              </a:defRPr>
            </a:lvl8pPr>
            <a:lvl9pPr>
              <a:buNone/>
              <a:defRPr sz="1500" b="0">
                <a:solidFill>
                  <a:srgbClr val="CAD6E8"/>
                </a:solidFill>
              </a:defRPr>
            </a:lvl9pPr>
          </a:lstStyle>
          <a:p xmlns:a="http://schemas.openxmlformats.org/drawingml/2006/main">
            <a:pPr>
              <a:buNone/>
              <a:defRPr sz="1500" b="0">
                <a:solidFill>
                  <a:srgbClr val="CAD6E8"/>
                </a:solidFill>
              </a:defRPr>
            </a:pPr>
            <a:r>
              <a:rPr sz="1500" b="0">
                <a:solidFill>
                  <a:srgbClr val="CAD6E8"/>
                </a:solidFill>
              </a:rPr>
              <a:t>Review contributors, expanded uncertainty and decision risk at each measurement point.</a:t>
            </a:r>
          </a:p>
        </p:txBody>
      </p:sp>
      <p:sp>
        <p:nvSpPr>
          <p:cNvPr id="4" name="">
            <a:extLst xmlns:a="http://schemas.openxmlformats.org/drawingml/2006/main">
              <a:ext uri="{FF2B5EF4-FFF2-40B4-BE49-F238E27FC236}">
                <a16:creationId xmlns:a16="http://schemas.microsoft.com/office/drawing/2014/main" id="{CC607588-8FA8-4108-AFCF-4EF1D1A96243}"/>
              </a:ext>
            </a:extLst>
          </p:cNvPr>
          <p:cNvSpPr>
            <a:spLocks xmlns:a="http://schemas.openxmlformats.org/drawingml/2006/main" noGrp="1"/>
          </p:cNvSpPr>
          <p:nvPr/>
        </p:nvSpPr>
        <p:spPr>
          <a:xfrm xmlns:a="http://schemas.openxmlformats.org/drawingml/2006/main">
            <a:off x="447675" y="1476375"/>
            <a:ext cx="11296650" cy="4541838"/>
          </a:xfrm>
          <a:prstGeom xmlns:a="http://schemas.openxmlformats.org/drawingml/2006/main" prst="rect">
            <a:avLst/>
          </a:prstGeom>
          <a:solidFill xmlns:a="http://schemas.openxmlformats.org/drawingml/2006/main">
            <a:srgbClr val="0D182A"/>
          </a:solidFill>
          <a:ln xmlns:a="http://schemas.openxmlformats.org/drawingml/2006/main" w="9525">
            <a:solidFill>
              <a:srgbClr val="294560"/>
            </a:solidFill>
          </a:ln>
        </p:spPr>
      </p:sp>
      <p:pic>
        <p:nvPicPr>
          <p:cNvPr id="5" name="">
            <a:extLst xmlns:a="http://schemas.openxmlformats.org/drawingml/2006/main">
              <a:ext uri="{FF2B5EF4-FFF2-40B4-BE49-F238E27FC236}">
                <a16:creationId xmlns:a16="http://schemas.microsoft.com/office/drawing/2014/main" id="{56DFB3A5-B716-4972-8825-3FDD0EE8A001}"/>
              </a:ext>
            </a:extLst>
          </p:cNvPr>
          <p:cNvPicPr>
            <a:picLocks xmlns:a="http://schemas.openxmlformats.org/drawingml/2006/main" noChangeAspect="1"/>
          </p:cNvPicPr>
          <p:nvPr/>
        </p:nvPicPr>
        <p:blipFill>
          <a:blip xmlns:r="http://schemas.openxmlformats.org/officeDocument/2006/relationships" xmlns:a="http://schemas.openxmlformats.org/drawingml/2006/main" r:embed="R8c6e19fe54504656"/>
          <a:stretch xmlns:a="http://schemas.openxmlformats.org/drawingml/2006/main"/>
        </p:blipFill>
        <p:spPr>
          <a:xfrm xmlns:a="http://schemas.openxmlformats.org/drawingml/2006/main">
            <a:off x="457200" y="1485900"/>
            <a:ext cx="11277600" cy="452278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EC53710-F342-4BF1-ADF8-3BAC7A988A1D}"/>
              </a:ext>
            </a:extLst>
          </p:cNvPr>
          <p:cNvSpPr>
            <a:spLocks xmlns:a="http://schemas.openxmlformats.org/drawingml/2006/main" noGrp="1"/>
          </p:cNvSpPr>
          <p:nvPr/>
        </p:nvSpPr>
        <p:spPr>
          <a:xfrm xmlns:a="http://schemas.openxmlformats.org/drawingml/2006/main">
            <a:off x="457200" y="6515100"/>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94AAC5"/>
                </a:solidFill>
              </a:defRPr>
            </a:defPPr>
            <a:lvl1pPr>
              <a:buNone/>
              <a:defRPr sz="1050" b="0">
                <a:solidFill>
                  <a:srgbClr val="94AAC5"/>
                </a:solidFill>
              </a:defRPr>
            </a:lvl1pPr>
            <a:lvl2pPr>
              <a:buNone/>
              <a:defRPr sz="1050" b="0">
                <a:solidFill>
                  <a:srgbClr val="94AAC5"/>
                </a:solidFill>
              </a:defRPr>
            </a:lvl2pPr>
            <a:lvl3pPr>
              <a:buNone/>
              <a:defRPr sz="1050" b="0">
                <a:solidFill>
                  <a:srgbClr val="94AAC5"/>
                </a:solidFill>
              </a:defRPr>
            </a:lvl3pPr>
            <a:lvl4pPr>
              <a:buNone/>
              <a:defRPr sz="1050" b="0">
                <a:solidFill>
                  <a:srgbClr val="94AAC5"/>
                </a:solidFill>
              </a:defRPr>
            </a:lvl4pPr>
            <a:lvl5pPr>
              <a:buNone/>
              <a:defRPr sz="1050" b="0">
                <a:solidFill>
                  <a:srgbClr val="94AAC5"/>
                </a:solidFill>
              </a:defRPr>
            </a:lvl5pPr>
            <a:lvl6pPr>
              <a:buNone/>
              <a:defRPr sz="1050" b="0">
                <a:solidFill>
                  <a:srgbClr val="94AAC5"/>
                </a:solidFill>
              </a:defRPr>
            </a:lvl6pPr>
            <a:lvl7pPr>
              <a:buNone/>
              <a:defRPr sz="1050" b="0">
                <a:solidFill>
                  <a:srgbClr val="94AAC5"/>
                </a:solidFill>
              </a:defRPr>
            </a:lvl7pPr>
            <a:lvl8pPr>
              <a:buNone/>
              <a:defRPr sz="1050" b="0">
                <a:solidFill>
                  <a:srgbClr val="94AAC5"/>
                </a:solidFill>
              </a:defRPr>
            </a:lvl8pPr>
            <a:lvl9pPr>
              <a:buNone/>
              <a:defRPr sz="1050" b="0">
                <a:solidFill>
                  <a:srgbClr val="94AAC5"/>
                </a:solidFill>
              </a:defRPr>
            </a:lvl9pPr>
          </a:lstStyle>
          <a:p xmlns:a="http://schemas.openxmlformats.org/drawingml/2006/main">
            <a:pPr>
              <a:buNone/>
              <a:defRPr sz="1050" b="0">
                <a:solidFill>
                  <a:srgbClr val="94AAC5"/>
                </a:solidFill>
              </a:defRPr>
            </a:pPr>
            <a:r>
              <a:rPr sz="1050" b="0">
                <a:solidFill>
                  <a:srgbClr val="94AAC5"/>
                </a:solidFill>
              </a:rPr>
              <a:t>Actual software using demonstration data  |  Companion video: 02-uncertainty-walkthrough.webm</a:t>
            </a:r>
          </a:p>
        </p:txBody>
      </p:sp>
    </p:spTree>
    <p:extLst>
      <p:ext uri="{BB962C8B-B14F-4D97-AF65-F5344CB8AC3E}">
        <p14:creationId xmlns:p14="http://schemas.microsoft.com/office/powerpoint/2010/main" val="1237447476"/>
      </p:ext>
    </p:extLst>
  </p:cSld>
</p:sld>
</file>

<file path=ppt/slides/slide6.xml><?xml version="1.0" encoding="utf-8"?>
<p:sld xmlns:p="http://schemas.openxmlformats.org/presentationml/2006/main">
  <p:cSld>
    <p:bg>
      <p:bgPr>
        <a:solidFill xmlns:a="http://schemas.openxmlformats.org/drawingml/2006/main">
          <a:srgbClr val="081426"/>
        </a:solidFill>
      </p:bgPr>
    </p:bg>
    <p:spTree>
      <p:nvGrpSpPr>
        <p:cNvPr id="1" name=""/>
        <p:cNvGrpSpPr/>
        <p:nvPr/>
      </p:nvGrpSpPr>
      <p:grpSpPr>
        <a:xfrm xmlns:a="http://schemas.openxmlformats.org/drawingml/2006/main"/>
      </p:grpSpPr>
      <p:sp>
        <p:nvSpPr>
          <p:cNvPr id="34" name="METROLOGY WORKBENCH">
            <a:extLst xmlns:a="http://schemas.openxmlformats.org/drawingml/2006/main">
              <a:ext uri="{FF2B5EF4-FFF2-40B4-BE49-F238E27FC236}">
                <a16:creationId xmlns:a16="http://schemas.microsoft.com/office/drawing/2014/main" id="{BE5A6251-1F8C-4383-B5F4-BDD58BC7E269}"/>
              </a:ext>
            </a:extLst>
          </p:cNvPr>
          <p:cNvSpPr>
            <a:spLocks xmlns:a="http://schemas.openxmlformats.org/drawingml/2006/main" noGrp="1"/>
          </p:cNvSpPr>
          <p:nvPr/>
        </p:nvSpPr>
        <p:spPr>
          <a:xfrm xmlns:a="http://schemas.openxmlformats.org/drawingml/2006/main">
            <a:off x="457200" y="26670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125" b="1">
                <a:solidFill>
                  <a:srgbClr val="F0BF68"/>
                </a:solidFill>
              </a:defRPr>
            </a:defPPr>
            <a:lvl1pPr algn="l">
              <a:defRPr sz="1125" b="1">
                <a:solidFill>
                  <a:srgbClr val="F0BF68"/>
                </a:solidFill>
              </a:defRPr>
            </a:lvl1pPr>
            <a:lvl2pPr algn="l">
              <a:defRPr sz="1125" b="1">
                <a:solidFill>
                  <a:srgbClr val="F0BF68"/>
                </a:solidFill>
              </a:defRPr>
            </a:lvl2pPr>
            <a:lvl3pPr algn="l">
              <a:defRPr sz="1125" b="1">
                <a:solidFill>
                  <a:srgbClr val="F0BF68"/>
                </a:solidFill>
              </a:defRPr>
            </a:lvl3pPr>
            <a:lvl4pPr algn="l">
              <a:defRPr sz="1125" b="1">
                <a:solidFill>
                  <a:srgbClr val="F0BF68"/>
                </a:solidFill>
              </a:defRPr>
            </a:lvl4pPr>
            <a:lvl5pPr algn="l">
              <a:defRPr sz="1125" b="1">
                <a:solidFill>
                  <a:srgbClr val="F0BF68"/>
                </a:solidFill>
              </a:defRPr>
            </a:lvl5pPr>
            <a:lvl6pPr algn="l">
              <a:defRPr sz="1125" b="1">
                <a:solidFill>
                  <a:srgbClr val="F0BF68"/>
                </a:solidFill>
              </a:defRPr>
            </a:lvl6pPr>
            <a:lvl7pPr algn="l">
              <a:defRPr sz="1125" b="1">
                <a:solidFill>
                  <a:srgbClr val="F0BF68"/>
                </a:solidFill>
              </a:defRPr>
            </a:lvl7pPr>
            <a:lvl8pPr algn="l">
              <a:defRPr sz="1125" b="1">
                <a:solidFill>
                  <a:srgbClr val="F0BF68"/>
                </a:solidFill>
              </a:defRPr>
            </a:lvl8pPr>
            <a:lvl9pPr algn="l">
              <a:defRPr sz="1125" b="1">
                <a:solidFill>
                  <a:srgbClr val="F0BF68"/>
                </a:solidFill>
              </a:defRPr>
            </a:lvl9pPr>
          </a:lstStyle>
          <a:p xmlns:a="http://schemas.openxmlformats.org/drawingml/2006/main">
            <a:pPr algn="l">
              <a:defRPr sz="1125" b="1">
                <a:solidFill>
                  <a:srgbClr val="F0BF68"/>
                </a:solidFill>
              </a:defRPr>
            </a:pPr>
            <a:r>
              <a:rPr sz="1125" b="1">
                <a:solidFill>
                  <a:srgbClr val="F0BF68"/>
                </a:solidFill>
              </a:rPr>
              <a:t>METROLOGY WORKBENCH</a:t>
            </a:r>
          </a:p>
        </p:txBody>
      </p:sp>
      <p:sp>
        <p:nvSpPr>
          <p:cNvPr id="2" name="Report of Calibration">
            <a:extLst xmlns:a="http://schemas.openxmlformats.org/drawingml/2006/main">
              <a:ext uri="{FF2B5EF4-FFF2-40B4-BE49-F238E27FC236}">
                <a16:creationId xmlns:a16="http://schemas.microsoft.com/office/drawing/2014/main" id="{4D7B5EE9-9011-44A4-8355-1BE0493DC6D4}"/>
              </a:ext>
            </a:extLst>
          </p:cNvPr>
          <p:cNvSpPr>
            <a:spLocks xmlns:a="http://schemas.openxmlformats.org/drawingml/2006/main" noGrp="1"/>
          </p:cNvSpPr>
          <p:nvPr/>
        </p:nvSpPr>
        <p:spPr>
          <a:xfrm xmlns:a="http://schemas.openxmlformats.org/drawingml/2006/main">
            <a:off x="457200" y="619125"/>
            <a:ext cx="11144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600" b="1">
                <a:solidFill>
                  <a:srgbClr val="FFFFFF"/>
                </a:solidFill>
              </a:defRPr>
            </a:defPPr>
            <a:lvl1pPr algn="l">
              <a:defRPr sz="3600" b="1">
                <a:solidFill>
                  <a:srgbClr val="FFFFFF"/>
                </a:solidFill>
              </a:defRPr>
            </a:lvl1pPr>
            <a:lvl2pPr algn="l">
              <a:defRPr sz="3600" b="1">
                <a:solidFill>
                  <a:srgbClr val="FFFFFF"/>
                </a:solidFill>
              </a:defRPr>
            </a:lvl2pPr>
            <a:lvl3pPr algn="l">
              <a:defRPr sz="3600" b="1">
                <a:solidFill>
                  <a:srgbClr val="FFFFFF"/>
                </a:solidFill>
              </a:defRPr>
            </a:lvl3pPr>
            <a:lvl4pPr algn="l">
              <a:defRPr sz="3600" b="1">
                <a:solidFill>
                  <a:srgbClr val="FFFFFF"/>
                </a:solidFill>
              </a:defRPr>
            </a:lvl4pPr>
            <a:lvl5pPr algn="l">
              <a:defRPr sz="3600" b="1">
                <a:solidFill>
                  <a:srgbClr val="FFFFFF"/>
                </a:solidFill>
              </a:defRPr>
            </a:lvl5pPr>
            <a:lvl6pPr algn="l">
              <a:defRPr sz="3600" b="1">
                <a:solidFill>
                  <a:srgbClr val="FFFFFF"/>
                </a:solidFill>
              </a:defRPr>
            </a:lvl6pPr>
            <a:lvl7pPr algn="l">
              <a:defRPr sz="3600" b="1">
                <a:solidFill>
                  <a:srgbClr val="FFFFFF"/>
                </a:solidFill>
              </a:defRPr>
            </a:lvl7pPr>
            <a:lvl8pPr algn="l">
              <a:defRPr sz="3600" b="1">
                <a:solidFill>
                  <a:srgbClr val="FFFFFF"/>
                </a:solidFill>
              </a:defRPr>
            </a:lvl8pPr>
            <a:lvl9pPr algn="l">
              <a:defRPr sz="3600" b="1">
                <a:solidFill>
                  <a:srgbClr val="FFFFFF"/>
                </a:solidFill>
              </a:defRPr>
            </a:lvl9pPr>
          </a:lstStyle>
          <a:p xmlns:a="http://schemas.openxmlformats.org/drawingml/2006/main">
            <a:pPr algn="l">
              <a:defRPr sz="3600" b="1">
                <a:solidFill>
                  <a:srgbClr val="FFFFFF"/>
                </a:solidFill>
              </a:defRPr>
            </a:pPr>
            <a:r>
              <a:rPr sz="3600" b="1">
                <a:solidFill>
                  <a:srgbClr val="FFFFFF"/>
                </a:solidFill>
              </a:rPr>
              <a:t>Report of Calibration</a:t>
            </a:r>
          </a:p>
        </p:txBody>
      </p:sp>
      <p:sp>
        <p:nvSpPr>
          <p:cNvPr id="3" name="A consistent report built from saved calibration results">
            <a:extLst xmlns:a="http://schemas.openxmlformats.org/drawingml/2006/main">
              <a:ext uri="{FF2B5EF4-FFF2-40B4-BE49-F238E27FC236}">
                <a16:creationId xmlns:a16="http://schemas.microsoft.com/office/drawing/2014/main" id="{77CCBAED-A698-412F-985B-486D39B14D20}"/>
              </a:ext>
            </a:extLst>
          </p:cNvPr>
          <p:cNvSpPr>
            <a:spLocks xmlns:a="http://schemas.openxmlformats.org/drawingml/2006/main" noGrp="1"/>
          </p:cNvSpPr>
          <p:nvPr/>
        </p:nvSpPr>
        <p:spPr>
          <a:xfrm xmlns:a="http://schemas.openxmlformats.org/drawingml/2006/main">
            <a:off x="457200" y="1257300"/>
            <a:ext cx="1114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650" b="0">
                <a:solidFill>
                  <a:srgbClr val="C3D1E2"/>
                </a:solidFill>
              </a:defRPr>
            </a:defPPr>
            <a:lvl1pPr algn="l">
              <a:defRPr sz="1650" b="0">
                <a:solidFill>
                  <a:srgbClr val="C3D1E2"/>
                </a:solidFill>
              </a:defRPr>
            </a:lvl1pPr>
            <a:lvl2pPr algn="l">
              <a:defRPr sz="1650" b="0">
                <a:solidFill>
                  <a:srgbClr val="C3D1E2"/>
                </a:solidFill>
              </a:defRPr>
            </a:lvl2pPr>
            <a:lvl3pPr algn="l">
              <a:defRPr sz="1650" b="0">
                <a:solidFill>
                  <a:srgbClr val="C3D1E2"/>
                </a:solidFill>
              </a:defRPr>
            </a:lvl3pPr>
            <a:lvl4pPr algn="l">
              <a:defRPr sz="1650" b="0">
                <a:solidFill>
                  <a:srgbClr val="C3D1E2"/>
                </a:solidFill>
              </a:defRPr>
            </a:lvl4pPr>
            <a:lvl5pPr algn="l">
              <a:defRPr sz="1650" b="0">
                <a:solidFill>
                  <a:srgbClr val="C3D1E2"/>
                </a:solidFill>
              </a:defRPr>
            </a:lvl5pPr>
            <a:lvl6pPr algn="l">
              <a:defRPr sz="1650" b="0">
                <a:solidFill>
                  <a:srgbClr val="C3D1E2"/>
                </a:solidFill>
              </a:defRPr>
            </a:lvl6pPr>
            <a:lvl7pPr algn="l">
              <a:defRPr sz="1650" b="0">
                <a:solidFill>
                  <a:srgbClr val="C3D1E2"/>
                </a:solidFill>
              </a:defRPr>
            </a:lvl7pPr>
            <a:lvl8pPr algn="l">
              <a:defRPr sz="1650" b="0">
                <a:solidFill>
                  <a:srgbClr val="C3D1E2"/>
                </a:solidFill>
              </a:defRPr>
            </a:lvl8pPr>
            <a:lvl9pPr algn="l">
              <a:defRPr sz="1650" b="0">
                <a:solidFill>
                  <a:srgbClr val="C3D1E2"/>
                </a:solidFill>
              </a:defRPr>
            </a:lvl9pPr>
          </a:lstStyle>
          <a:p xmlns:a="http://schemas.openxmlformats.org/drawingml/2006/main">
            <a:pPr algn="l">
              <a:defRPr sz="1650" b="0">
                <a:solidFill>
                  <a:srgbClr val="C3D1E2"/>
                </a:solidFill>
              </a:defRPr>
            </a:pPr>
            <a:r>
              <a:rPr sz="1650" b="0">
                <a:solidFill>
                  <a:srgbClr val="C3D1E2"/>
                </a:solidFill>
              </a:rPr>
              <a:t>A consistent report built from saved calibration results</a:t>
            </a:r>
          </a:p>
        </p:txBody>
      </p:sp>
      <p:sp>
        <p:nvSpPr>
          <p:cNvPr id="4" name="Layout shape">
            <a:extLst xmlns:a="http://schemas.openxmlformats.org/drawingml/2006/main">
              <a:ext uri="{FF2B5EF4-FFF2-40B4-BE49-F238E27FC236}">
                <a16:creationId xmlns:a16="http://schemas.microsoft.com/office/drawing/2014/main" id="{B77FB0C6-FA81-4E0E-B1C4-A4E251BE9EFD}"/>
              </a:ext>
            </a:extLst>
          </p:cNvPr>
          <p:cNvSpPr>
            <a:spLocks xmlns:a="http://schemas.openxmlformats.org/drawingml/2006/main" noGrp="1"/>
          </p:cNvSpPr>
          <p:nvPr/>
        </p:nvSpPr>
        <p:spPr>
          <a:xfrm xmlns:a="http://schemas.openxmlformats.org/drawingml/2006/main">
            <a:off x="457200" y="1724025"/>
            <a:ext cx="11277600" cy="9525"/>
          </a:xfrm>
          <a:prstGeom xmlns:a="http://schemas.openxmlformats.org/drawingml/2006/main" prst="rect">
            <a:avLst/>
          </a:prstGeom>
          <a:solidFill xmlns:a="http://schemas.openxmlformats.org/drawingml/2006/main">
            <a:srgbClr val="294560"/>
          </a:solidFill>
          <a:ln xmlns:a="http://schemas.openxmlformats.org/drawingml/2006/main" w="0">
            <a:noFill/>
          </a:ln>
        </p:spPr>
      </p:sp>
      <p:sp>
        <p:nvSpPr>
          <p:cNvPr id="5" name="Layout shape">
            <a:extLst xmlns:a="http://schemas.openxmlformats.org/drawingml/2006/main">
              <a:ext uri="{FF2B5EF4-FFF2-40B4-BE49-F238E27FC236}">
                <a16:creationId xmlns:a16="http://schemas.microsoft.com/office/drawing/2014/main" id="{5DB95404-55C3-4F9E-99BF-11692C8A292D}"/>
              </a:ext>
            </a:extLst>
          </p:cNvPr>
          <p:cNvSpPr>
            <a:spLocks xmlns:a="http://schemas.openxmlformats.org/drawingml/2006/main" noGrp="1"/>
          </p:cNvSpPr>
          <p:nvPr/>
        </p:nvSpPr>
        <p:spPr>
          <a:xfrm xmlns:a="http://schemas.openxmlformats.org/drawingml/2006/main">
            <a:off x="457200" y="2066925"/>
            <a:ext cx="28575" cy="657225"/>
          </a:xfrm>
          <a:prstGeom xmlns:a="http://schemas.openxmlformats.org/drawingml/2006/main" prst="rect">
            <a:avLst/>
          </a:prstGeom>
          <a:solidFill xmlns:a="http://schemas.openxmlformats.org/drawingml/2006/main">
            <a:srgbClr val="F0BF68"/>
          </a:solidFill>
          <a:ln xmlns:a="http://schemas.openxmlformats.org/drawingml/2006/main" w="0">
            <a:noFill/>
          </a:ln>
        </p:spPr>
      </p:sp>
      <p:sp>
        <p:nvSpPr>
          <p:cNvPr id="6" name="Populate from saved data">
            <a:extLst xmlns:a="http://schemas.openxmlformats.org/drawingml/2006/main">
              <a:ext uri="{FF2B5EF4-FFF2-40B4-BE49-F238E27FC236}">
                <a16:creationId xmlns:a16="http://schemas.microsoft.com/office/drawing/2014/main" id="{A5581213-77FA-4FF5-B204-769F3550B51E}"/>
              </a:ext>
            </a:extLst>
          </p:cNvPr>
          <p:cNvSpPr>
            <a:spLocks xmlns:a="http://schemas.openxmlformats.org/drawingml/2006/main" noGrp="1"/>
          </p:cNvSpPr>
          <p:nvPr/>
        </p:nvSpPr>
        <p:spPr>
          <a:xfrm xmlns:a="http://schemas.openxmlformats.org/drawingml/2006/main">
            <a:off x="628650" y="200977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Populate from saved data</a:t>
            </a:r>
          </a:p>
        </p:txBody>
      </p:sp>
      <p:sp>
        <p:nvSpPr>
          <p:cNvPr id="7" name="Import calibration results and stored uncertainty values.">
            <a:extLst xmlns:a="http://schemas.openxmlformats.org/drawingml/2006/main">
              <a:ext uri="{FF2B5EF4-FFF2-40B4-BE49-F238E27FC236}">
                <a16:creationId xmlns:a16="http://schemas.microsoft.com/office/drawing/2014/main" id="{5571D2DC-C2EF-4EFB-8BF6-43957CFCFB4D}"/>
              </a:ext>
            </a:extLst>
          </p:cNvPr>
          <p:cNvSpPr>
            <a:spLocks xmlns:a="http://schemas.openxmlformats.org/drawingml/2006/main" noGrp="1"/>
          </p:cNvSpPr>
          <p:nvPr/>
        </p:nvSpPr>
        <p:spPr>
          <a:xfrm xmlns:a="http://schemas.openxmlformats.org/drawingml/2006/main">
            <a:off x="628650" y="23717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C3D1E2"/>
                </a:solidFill>
              </a:defRPr>
            </a:defPPr>
            <a:lvl1pPr algn="l">
              <a:defRPr sz="1500" b="0">
                <a:solidFill>
                  <a:srgbClr val="C3D1E2"/>
                </a:solidFill>
              </a:defRPr>
            </a:lvl1pPr>
            <a:lvl2pPr algn="l">
              <a:defRPr sz="1500" b="0">
                <a:solidFill>
                  <a:srgbClr val="C3D1E2"/>
                </a:solidFill>
              </a:defRPr>
            </a:lvl2pPr>
            <a:lvl3pPr algn="l">
              <a:defRPr sz="1500" b="0">
                <a:solidFill>
                  <a:srgbClr val="C3D1E2"/>
                </a:solidFill>
              </a:defRPr>
            </a:lvl3pPr>
            <a:lvl4pPr algn="l">
              <a:defRPr sz="1500" b="0">
                <a:solidFill>
                  <a:srgbClr val="C3D1E2"/>
                </a:solidFill>
              </a:defRPr>
            </a:lvl4pPr>
            <a:lvl5pPr algn="l">
              <a:defRPr sz="1500" b="0">
                <a:solidFill>
                  <a:srgbClr val="C3D1E2"/>
                </a:solidFill>
              </a:defRPr>
            </a:lvl5pPr>
            <a:lvl6pPr algn="l">
              <a:defRPr sz="1500" b="0">
                <a:solidFill>
                  <a:srgbClr val="C3D1E2"/>
                </a:solidFill>
              </a:defRPr>
            </a:lvl6pPr>
            <a:lvl7pPr algn="l">
              <a:defRPr sz="1500" b="0">
                <a:solidFill>
                  <a:srgbClr val="C3D1E2"/>
                </a:solidFill>
              </a:defRPr>
            </a:lvl7pPr>
            <a:lvl8pPr algn="l">
              <a:defRPr sz="1500" b="0">
                <a:solidFill>
                  <a:srgbClr val="C3D1E2"/>
                </a:solidFill>
              </a:defRPr>
            </a:lvl8pPr>
            <a:lvl9pPr algn="l">
              <a:defRPr sz="1500" b="0">
                <a:solidFill>
                  <a:srgbClr val="C3D1E2"/>
                </a:solidFill>
              </a:defRPr>
            </a:lvl9pPr>
          </a:lstStyle>
          <a:p xmlns:a="http://schemas.openxmlformats.org/drawingml/2006/main">
            <a:pPr algn="l">
              <a:defRPr sz="1500" b="0">
                <a:solidFill>
                  <a:srgbClr val="C3D1E2"/>
                </a:solidFill>
              </a:defRPr>
            </a:pPr>
            <a:r>
              <a:rPr sz="1500" b="0">
                <a:solidFill>
                  <a:srgbClr val="C3D1E2"/>
                </a:solidFill>
              </a:rPr>
              <a:t>Import calibration results and stored</a:t>
            </a:r>
          </a:p>
          <a:p xmlns:a="http://schemas.openxmlformats.org/drawingml/2006/main">
            <a:pPr algn="l">
              <a:defRPr sz="1500" b="0">
                <a:solidFill>
                  <a:srgbClr val="C3D1E2"/>
                </a:solidFill>
              </a:defRPr>
            </a:pPr>
            <a:r>
              <a:rPr sz="1500" b="0">
                <a:solidFill>
                  <a:srgbClr val="C3D1E2"/>
                </a:solidFill>
              </a:rPr>
              <a:t>uncertainty values.</a:t>
            </a:r>
          </a:p>
        </p:txBody>
      </p:sp>
      <p:sp>
        <p:nvSpPr>
          <p:cNvPr id="8" name="Layout shape">
            <a:extLst xmlns:a="http://schemas.openxmlformats.org/drawingml/2006/main">
              <a:ext uri="{FF2B5EF4-FFF2-40B4-BE49-F238E27FC236}">
                <a16:creationId xmlns:a16="http://schemas.microsoft.com/office/drawing/2014/main" id="{A0A9DCFF-5563-4B0E-AA73-F558FD5127C2}"/>
              </a:ext>
            </a:extLst>
          </p:cNvPr>
          <p:cNvSpPr>
            <a:spLocks xmlns:a="http://schemas.openxmlformats.org/drawingml/2006/main" noGrp="1"/>
          </p:cNvSpPr>
          <p:nvPr/>
        </p:nvSpPr>
        <p:spPr>
          <a:xfrm xmlns:a="http://schemas.openxmlformats.org/drawingml/2006/main">
            <a:off x="628650" y="2952750"/>
            <a:ext cx="4533900" cy="9525"/>
          </a:xfrm>
          <a:prstGeom xmlns:a="http://schemas.openxmlformats.org/drawingml/2006/main" prst="rect">
            <a:avLst/>
          </a:prstGeom>
          <a:solidFill xmlns:a="http://schemas.openxmlformats.org/drawingml/2006/main">
            <a:srgbClr val="294560"/>
          </a:solidFill>
          <a:ln xmlns:a="http://schemas.openxmlformats.org/drawingml/2006/main" w="0">
            <a:noFill/>
          </a:ln>
        </p:spPr>
      </p:sp>
      <p:sp>
        <p:nvSpPr>
          <p:cNvPr id="9" name="Layout shape">
            <a:extLst xmlns:a="http://schemas.openxmlformats.org/drawingml/2006/main">
              <a:ext uri="{FF2B5EF4-FFF2-40B4-BE49-F238E27FC236}">
                <a16:creationId xmlns:a16="http://schemas.microsoft.com/office/drawing/2014/main" id="{1BBF7C90-6538-4F35-BAE3-0EAB76A22F07}"/>
              </a:ext>
            </a:extLst>
          </p:cNvPr>
          <p:cNvSpPr>
            <a:spLocks xmlns:a="http://schemas.openxmlformats.org/drawingml/2006/main" noGrp="1"/>
          </p:cNvSpPr>
          <p:nvPr/>
        </p:nvSpPr>
        <p:spPr>
          <a:xfrm xmlns:a="http://schemas.openxmlformats.org/drawingml/2006/main">
            <a:off x="457200" y="3133725"/>
            <a:ext cx="28575" cy="657225"/>
          </a:xfrm>
          <a:prstGeom xmlns:a="http://schemas.openxmlformats.org/drawingml/2006/main" prst="rect">
            <a:avLst/>
          </a:prstGeom>
          <a:solidFill xmlns:a="http://schemas.openxmlformats.org/drawingml/2006/main">
            <a:srgbClr val="F0BF68"/>
          </a:solidFill>
          <a:ln xmlns:a="http://schemas.openxmlformats.org/drawingml/2006/main" w="0">
            <a:noFill/>
          </a:ln>
        </p:spPr>
      </p:sp>
      <p:sp>
        <p:nvSpPr>
          <p:cNvPr id="10" name="Complete the report details">
            <a:extLst xmlns:a="http://schemas.openxmlformats.org/drawingml/2006/main">
              <a:ext uri="{FF2B5EF4-FFF2-40B4-BE49-F238E27FC236}">
                <a16:creationId xmlns:a16="http://schemas.microsoft.com/office/drawing/2014/main" id="{06558C7D-DC5A-4066-8D55-AE19914D8051}"/>
              </a:ext>
            </a:extLst>
          </p:cNvPr>
          <p:cNvSpPr>
            <a:spLocks xmlns:a="http://schemas.openxmlformats.org/drawingml/2006/main" noGrp="1"/>
          </p:cNvSpPr>
          <p:nvPr/>
        </p:nvSpPr>
        <p:spPr>
          <a:xfrm xmlns:a="http://schemas.openxmlformats.org/drawingml/2006/main">
            <a:off x="628650" y="307657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Complete the report details</a:t>
            </a:r>
          </a:p>
        </p:txBody>
      </p:sp>
      <p:sp>
        <p:nvSpPr>
          <p:cNvPr id="11" name="Review customer, instrument, procedure, dates and personnel informatio">
            <a:extLst xmlns:a="http://schemas.openxmlformats.org/drawingml/2006/main">
              <a:ext uri="{FF2B5EF4-FFF2-40B4-BE49-F238E27FC236}">
                <a16:creationId xmlns:a16="http://schemas.microsoft.com/office/drawing/2014/main" id="{4B3D4C1A-9C10-474A-A04E-46B6D3B04485}"/>
              </a:ext>
            </a:extLst>
          </p:cNvPr>
          <p:cNvSpPr>
            <a:spLocks xmlns:a="http://schemas.openxmlformats.org/drawingml/2006/main" noGrp="1"/>
          </p:cNvSpPr>
          <p:nvPr/>
        </p:nvSpPr>
        <p:spPr>
          <a:xfrm xmlns:a="http://schemas.openxmlformats.org/drawingml/2006/main">
            <a:off x="628650" y="34385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C3D1E2"/>
                </a:solidFill>
              </a:defRPr>
            </a:defPPr>
            <a:lvl1pPr algn="l">
              <a:defRPr sz="1500" b="0">
                <a:solidFill>
                  <a:srgbClr val="C3D1E2"/>
                </a:solidFill>
              </a:defRPr>
            </a:lvl1pPr>
            <a:lvl2pPr algn="l">
              <a:defRPr sz="1500" b="0">
                <a:solidFill>
                  <a:srgbClr val="C3D1E2"/>
                </a:solidFill>
              </a:defRPr>
            </a:lvl2pPr>
            <a:lvl3pPr algn="l">
              <a:defRPr sz="1500" b="0">
                <a:solidFill>
                  <a:srgbClr val="C3D1E2"/>
                </a:solidFill>
              </a:defRPr>
            </a:lvl3pPr>
            <a:lvl4pPr algn="l">
              <a:defRPr sz="1500" b="0">
                <a:solidFill>
                  <a:srgbClr val="C3D1E2"/>
                </a:solidFill>
              </a:defRPr>
            </a:lvl4pPr>
            <a:lvl5pPr algn="l">
              <a:defRPr sz="1500" b="0">
                <a:solidFill>
                  <a:srgbClr val="C3D1E2"/>
                </a:solidFill>
              </a:defRPr>
            </a:lvl5pPr>
            <a:lvl6pPr algn="l">
              <a:defRPr sz="1500" b="0">
                <a:solidFill>
                  <a:srgbClr val="C3D1E2"/>
                </a:solidFill>
              </a:defRPr>
            </a:lvl6pPr>
            <a:lvl7pPr algn="l">
              <a:defRPr sz="1500" b="0">
                <a:solidFill>
                  <a:srgbClr val="C3D1E2"/>
                </a:solidFill>
              </a:defRPr>
            </a:lvl7pPr>
            <a:lvl8pPr algn="l">
              <a:defRPr sz="1500" b="0">
                <a:solidFill>
                  <a:srgbClr val="C3D1E2"/>
                </a:solidFill>
              </a:defRPr>
            </a:lvl8pPr>
            <a:lvl9pPr algn="l">
              <a:defRPr sz="1500" b="0">
                <a:solidFill>
                  <a:srgbClr val="C3D1E2"/>
                </a:solidFill>
              </a:defRPr>
            </a:lvl9pPr>
          </a:lstStyle>
          <a:p xmlns:a="http://schemas.openxmlformats.org/drawingml/2006/main">
            <a:pPr algn="l">
              <a:defRPr sz="1500" b="0">
                <a:solidFill>
                  <a:srgbClr val="C3D1E2"/>
                </a:solidFill>
              </a:defRPr>
            </a:pPr>
            <a:r>
              <a:rPr sz="1500" b="0">
                <a:solidFill>
                  <a:srgbClr val="C3D1E2"/>
                </a:solidFill>
              </a:rPr>
              <a:t>Review customer, instrument, procedure,</a:t>
            </a:r>
          </a:p>
          <a:p xmlns:a="http://schemas.openxmlformats.org/drawingml/2006/main">
            <a:pPr algn="l">
              <a:defRPr sz="1500" b="0">
                <a:solidFill>
                  <a:srgbClr val="C3D1E2"/>
                </a:solidFill>
              </a:defRPr>
            </a:pPr>
            <a:r>
              <a:rPr sz="1500" b="0">
                <a:solidFill>
                  <a:srgbClr val="C3D1E2"/>
                </a:solidFill>
              </a:rPr>
              <a:t>dates and personnel information.</a:t>
            </a:r>
          </a:p>
        </p:txBody>
      </p:sp>
      <p:sp>
        <p:nvSpPr>
          <p:cNvPr id="12" name="Layout shape">
            <a:extLst xmlns:a="http://schemas.openxmlformats.org/drawingml/2006/main">
              <a:ext uri="{FF2B5EF4-FFF2-40B4-BE49-F238E27FC236}">
                <a16:creationId xmlns:a16="http://schemas.microsoft.com/office/drawing/2014/main" id="{A23BEC46-FC8F-4BBC-AC8C-7FE3748FB8E5}"/>
              </a:ext>
            </a:extLst>
          </p:cNvPr>
          <p:cNvSpPr>
            <a:spLocks xmlns:a="http://schemas.openxmlformats.org/drawingml/2006/main" noGrp="1"/>
          </p:cNvSpPr>
          <p:nvPr/>
        </p:nvSpPr>
        <p:spPr>
          <a:xfrm xmlns:a="http://schemas.openxmlformats.org/drawingml/2006/main">
            <a:off x="628650" y="4019550"/>
            <a:ext cx="4533900" cy="9525"/>
          </a:xfrm>
          <a:prstGeom xmlns:a="http://schemas.openxmlformats.org/drawingml/2006/main" prst="rect">
            <a:avLst/>
          </a:prstGeom>
          <a:solidFill xmlns:a="http://schemas.openxmlformats.org/drawingml/2006/main">
            <a:srgbClr val="294560"/>
          </a:solidFill>
          <a:ln xmlns:a="http://schemas.openxmlformats.org/drawingml/2006/main" w="0">
            <a:noFill/>
          </a:ln>
        </p:spPr>
      </p:sp>
      <p:sp>
        <p:nvSpPr>
          <p:cNvPr id="13" name="Layout shape">
            <a:extLst xmlns:a="http://schemas.openxmlformats.org/drawingml/2006/main">
              <a:ext uri="{FF2B5EF4-FFF2-40B4-BE49-F238E27FC236}">
                <a16:creationId xmlns:a16="http://schemas.microsoft.com/office/drawing/2014/main" id="{3BA44948-788B-4CE2-B68B-0AE2C4CBAD39}"/>
              </a:ext>
            </a:extLst>
          </p:cNvPr>
          <p:cNvSpPr>
            <a:spLocks xmlns:a="http://schemas.openxmlformats.org/drawingml/2006/main" noGrp="1"/>
          </p:cNvSpPr>
          <p:nvPr/>
        </p:nvSpPr>
        <p:spPr>
          <a:xfrm xmlns:a="http://schemas.openxmlformats.org/drawingml/2006/main">
            <a:off x="457200" y="4200525"/>
            <a:ext cx="28575" cy="657225"/>
          </a:xfrm>
          <a:prstGeom xmlns:a="http://schemas.openxmlformats.org/drawingml/2006/main" prst="rect">
            <a:avLst/>
          </a:prstGeom>
          <a:solidFill xmlns:a="http://schemas.openxmlformats.org/drawingml/2006/main">
            <a:srgbClr val="F0BF68"/>
          </a:solidFill>
          <a:ln xmlns:a="http://schemas.openxmlformats.org/drawingml/2006/main" w="0">
            <a:noFill/>
          </a:ln>
        </p:spPr>
      </p:sp>
      <p:sp>
        <p:nvSpPr>
          <p:cNvPr id="14" name="Organize report content">
            <a:extLst xmlns:a="http://schemas.openxmlformats.org/drawingml/2006/main">
              <a:ext uri="{FF2B5EF4-FFF2-40B4-BE49-F238E27FC236}">
                <a16:creationId xmlns:a16="http://schemas.microsoft.com/office/drawing/2014/main" id="{23F76C3A-6908-4125-9CB8-8859078EFD3E}"/>
              </a:ext>
            </a:extLst>
          </p:cNvPr>
          <p:cNvSpPr>
            <a:spLocks xmlns:a="http://schemas.openxmlformats.org/drawingml/2006/main" noGrp="1"/>
          </p:cNvSpPr>
          <p:nvPr/>
        </p:nvSpPr>
        <p:spPr>
          <a:xfrm xmlns:a="http://schemas.openxmlformats.org/drawingml/2006/main">
            <a:off x="628650" y="414337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Organize report content</a:t>
            </a:r>
          </a:p>
        </p:txBody>
      </p:sp>
      <p:sp>
        <p:nvSpPr>
          <p:cNvPr id="15" name="Arrange report sections, measurement tables and supporting statements.">
            <a:extLst xmlns:a="http://schemas.openxmlformats.org/drawingml/2006/main">
              <a:ext uri="{FF2B5EF4-FFF2-40B4-BE49-F238E27FC236}">
                <a16:creationId xmlns:a16="http://schemas.microsoft.com/office/drawing/2014/main" id="{C0A0827D-ACCF-49CF-98D1-6B4D2B807220}"/>
              </a:ext>
            </a:extLst>
          </p:cNvPr>
          <p:cNvSpPr>
            <a:spLocks xmlns:a="http://schemas.openxmlformats.org/drawingml/2006/main" noGrp="1"/>
          </p:cNvSpPr>
          <p:nvPr/>
        </p:nvSpPr>
        <p:spPr>
          <a:xfrm xmlns:a="http://schemas.openxmlformats.org/drawingml/2006/main">
            <a:off x="628650" y="45053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C3D1E2"/>
                </a:solidFill>
              </a:defRPr>
            </a:defPPr>
            <a:lvl1pPr algn="l">
              <a:defRPr sz="1500" b="0">
                <a:solidFill>
                  <a:srgbClr val="C3D1E2"/>
                </a:solidFill>
              </a:defRPr>
            </a:lvl1pPr>
            <a:lvl2pPr algn="l">
              <a:defRPr sz="1500" b="0">
                <a:solidFill>
                  <a:srgbClr val="C3D1E2"/>
                </a:solidFill>
              </a:defRPr>
            </a:lvl2pPr>
            <a:lvl3pPr algn="l">
              <a:defRPr sz="1500" b="0">
                <a:solidFill>
                  <a:srgbClr val="C3D1E2"/>
                </a:solidFill>
              </a:defRPr>
            </a:lvl3pPr>
            <a:lvl4pPr algn="l">
              <a:defRPr sz="1500" b="0">
                <a:solidFill>
                  <a:srgbClr val="C3D1E2"/>
                </a:solidFill>
              </a:defRPr>
            </a:lvl4pPr>
            <a:lvl5pPr algn="l">
              <a:defRPr sz="1500" b="0">
                <a:solidFill>
                  <a:srgbClr val="C3D1E2"/>
                </a:solidFill>
              </a:defRPr>
            </a:lvl5pPr>
            <a:lvl6pPr algn="l">
              <a:defRPr sz="1500" b="0">
                <a:solidFill>
                  <a:srgbClr val="C3D1E2"/>
                </a:solidFill>
              </a:defRPr>
            </a:lvl6pPr>
            <a:lvl7pPr algn="l">
              <a:defRPr sz="1500" b="0">
                <a:solidFill>
                  <a:srgbClr val="C3D1E2"/>
                </a:solidFill>
              </a:defRPr>
            </a:lvl7pPr>
            <a:lvl8pPr algn="l">
              <a:defRPr sz="1500" b="0">
                <a:solidFill>
                  <a:srgbClr val="C3D1E2"/>
                </a:solidFill>
              </a:defRPr>
            </a:lvl8pPr>
            <a:lvl9pPr algn="l">
              <a:defRPr sz="1500" b="0">
                <a:solidFill>
                  <a:srgbClr val="C3D1E2"/>
                </a:solidFill>
              </a:defRPr>
            </a:lvl9pPr>
          </a:lstStyle>
          <a:p xmlns:a="http://schemas.openxmlformats.org/drawingml/2006/main">
            <a:pPr algn="l">
              <a:defRPr sz="1500" b="0">
                <a:solidFill>
                  <a:srgbClr val="C3D1E2"/>
                </a:solidFill>
              </a:defRPr>
            </a:pPr>
            <a:r>
              <a:rPr sz="1500" b="0">
                <a:solidFill>
                  <a:srgbClr val="C3D1E2"/>
                </a:solidFill>
              </a:rPr>
              <a:t>Arrange report sections, measurement</a:t>
            </a:r>
          </a:p>
          <a:p xmlns:a="http://schemas.openxmlformats.org/drawingml/2006/main">
            <a:pPr algn="l">
              <a:defRPr sz="1500" b="0">
                <a:solidFill>
                  <a:srgbClr val="C3D1E2"/>
                </a:solidFill>
              </a:defRPr>
            </a:pPr>
            <a:r>
              <a:rPr sz="1500" b="0">
                <a:solidFill>
                  <a:srgbClr val="C3D1E2"/>
                </a:solidFill>
              </a:rPr>
              <a:t>tables and supporting statements.</a:t>
            </a:r>
          </a:p>
        </p:txBody>
      </p:sp>
      <p:sp>
        <p:nvSpPr>
          <p:cNvPr id="16" name="Layout shape">
            <a:extLst xmlns:a="http://schemas.openxmlformats.org/drawingml/2006/main">
              <a:ext uri="{FF2B5EF4-FFF2-40B4-BE49-F238E27FC236}">
                <a16:creationId xmlns:a16="http://schemas.microsoft.com/office/drawing/2014/main" id="{DE8E1BF9-9CF3-4E58-B6F7-5A117ADB57EF}"/>
              </a:ext>
            </a:extLst>
          </p:cNvPr>
          <p:cNvSpPr>
            <a:spLocks xmlns:a="http://schemas.openxmlformats.org/drawingml/2006/main" noGrp="1"/>
          </p:cNvSpPr>
          <p:nvPr/>
        </p:nvSpPr>
        <p:spPr>
          <a:xfrm xmlns:a="http://schemas.openxmlformats.org/drawingml/2006/main">
            <a:off x="628650" y="5086350"/>
            <a:ext cx="4533900" cy="9525"/>
          </a:xfrm>
          <a:prstGeom xmlns:a="http://schemas.openxmlformats.org/drawingml/2006/main" prst="rect">
            <a:avLst/>
          </a:prstGeom>
          <a:solidFill xmlns:a="http://schemas.openxmlformats.org/drawingml/2006/main">
            <a:srgbClr val="294560"/>
          </a:solidFill>
          <a:ln xmlns:a="http://schemas.openxmlformats.org/drawingml/2006/main" w="0">
            <a:noFill/>
          </a:ln>
        </p:spPr>
      </p:sp>
      <p:sp>
        <p:nvSpPr>
          <p:cNvPr id="17" name="Layout shape">
            <a:extLst xmlns:a="http://schemas.openxmlformats.org/drawingml/2006/main">
              <a:ext uri="{FF2B5EF4-FFF2-40B4-BE49-F238E27FC236}">
                <a16:creationId xmlns:a16="http://schemas.microsoft.com/office/drawing/2014/main" id="{977F04D7-A014-45A9-AA27-34B2D2C10F16}"/>
              </a:ext>
            </a:extLst>
          </p:cNvPr>
          <p:cNvSpPr>
            <a:spLocks xmlns:a="http://schemas.openxmlformats.org/drawingml/2006/main" noGrp="1"/>
          </p:cNvSpPr>
          <p:nvPr/>
        </p:nvSpPr>
        <p:spPr>
          <a:xfrm xmlns:a="http://schemas.openxmlformats.org/drawingml/2006/main">
            <a:off x="457200" y="5267325"/>
            <a:ext cx="28575" cy="657225"/>
          </a:xfrm>
          <a:prstGeom xmlns:a="http://schemas.openxmlformats.org/drawingml/2006/main" prst="rect">
            <a:avLst/>
          </a:prstGeom>
          <a:solidFill xmlns:a="http://schemas.openxmlformats.org/drawingml/2006/main">
            <a:srgbClr val="F0BF68"/>
          </a:solidFill>
          <a:ln xmlns:a="http://schemas.openxmlformats.org/drawingml/2006/main" w="0">
            <a:noFill/>
          </a:ln>
        </p:spPr>
      </p:sp>
      <p:sp>
        <p:nvSpPr>
          <p:cNvPr id="18" name="Preview and export">
            <a:extLst xmlns:a="http://schemas.openxmlformats.org/drawingml/2006/main">
              <a:ext uri="{FF2B5EF4-FFF2-40B4-BE49-F238E27FC236}">
                <a16:creationId xmlns:a16="http://schemas.microsoft.com/office/drawing/2014/main" id="{547A1F56-D833-4855-8483-2A39CD802C60}"/>
              </a:ext>
            </a:extLst>
          </p:cNvPr>
          <p:cNvSpPr>
            <a:spLocks xmlns:a="http://schemas.openxmlformats.org/drawingml/2006/main" noGrp="1"/>
          </p:cNvSpPr>
          <p:nvPr/>
        </p:nvSpPr>
        <p:spPr>
          <a:xfrm xmlns:a="http://schemas.openxmlformats.org/drawingml/2006/main">
            <a:off x="628650" y="521017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00" b="1">
                <a:solidFill>
                  <a:srgbClr val="FFFFFF"/>
                </a:solidFill>
              </a:defRPr>
            </a:defPPr>
            <a:lvl1pPr algn="l">
              <a:defRPr sz="1800" b="1">
                <a:solidFill>
                  <a:srgbClr val="FFFFFF"/>
                </a:solidFill>
              </a:defRPr>
            </a:lvl1pPr>
            <a:lvl2pPr algn="l">
              <a:defRPr sz="1800" b="1">
                <a:solidFill>
                  <a:srgbClr val="FFFFFF"/>
                </a:solidFill>
              </a:defRPr>
            </a:lvl2pPr>
            <a:lvl3pPr algn="l">
              <a:defRPr sz="1800" b="1">
                <a:solidFill>
                  <a:srgbClr val="FFFFFF"/>
                </a:solidFill>
              </a:defRPr>
            </a:lvl3pPr>
            <a:lvl4pPr algn="l">
              <a:defRPr sz="1800" b="1">
                <a:solidFill>
                  <a:srgbClr val="FFFFFF"/>
                </a:solidFill>
              </a:defRPr>
            </a:lvl4pPr>
            <a:lvl5pPr algn="l">
              <a:defRPr sz="1800" b="1">
                <a:solidFill>
                  <a:srgbClr val="FFFFFF"/>
                </a:solidFill>
              </a:defRPr>
            </a:lvl5pPr>
            <a:lvl6pPr algn="l">
              <a:defRPr sz="1800" b="1">
                <a:solidFill>
                  <a:srgbClr val="FFFFFF"/>
                </a:solidFill>
              </a:defRPr>
            </a:lvl6pPr>
            <a:lvl7pPr algn="l">
              <a:defRPr sz="1800" b="1">
                <a:solidFill>
                  <a:srgbClr val="FFFFFF"/>
                </a:solidFill>
              </a:defRPr>
            </a:lvl7pPr>
            <a:lvl8pPr algn="l">
              <a:defRPr sz="1800" b="1">
                <a:solidFill>
                  <a:srgbClr val="FFFFFF"/>
                </a:solidFill>
              </a:defRPr>
            </a:lvl8pPr>
            <a:lvl9pPr algn="l">
              <a:defRPr sz="1800" b="1">
                <a:solidFill>
                  <a:srgbClr val="FFFFFF"/>
                </a:solidFill>
              </a:defRPr>
            </a:lvl9pPr>
          </a:lstStyle>
          <a:p xmlns:a="http://schemas.openxmlformats.org/drawingml/2006/main">
            <a:pPr algn="l">
              <a:defRPr sz="1800" b="1">
                <a:solidFill>
                  <a:srgbClr val="FFFFFF"/>
                </a:solidFill>
              </a:defRPr>
            </a:pPr>
            <a:r>
              <a:rPr sz="1800" b="1">
                <a:solidFill>
                  <a:srgbClr val="FFFFFF"/>
                </a:solidFill>
              </a:rPr>
              <a:t>Preview and export</a:t>
            </a:r>
          </a:p>
        </p:txBody>
      </p:sp>
      <p:sp>
        <p:nvSpPr>
          <p:cNvPr id="19" name="Inspect the report, then export a PDF or Excel workbook.">
            <a:extLst xmlns:a="http://schemas.openxmlformats.org/drawingml/2006/main">
              <a:ext uri="{FF2B5EF4-FFF2-40B4-BE49-F238E27FC236}">
                <a16:creationId xmlns:a16="http://schemas.microsoft.com/office/drawing/2014/main" id="{F66B3BBE-4EEF-4E6D-BFE5-0178A43776C8}"/>
              </a:ext>
            </a:extLst>
          </p:cNvPr>
          <p:cNvSpPr>
            <a:spLocks xmlns:a="http://schemas.openxmlformats.org/drawingml/2006/main" noGrp="1"/>
          </p:cNvSpPr>
          <p:nvPr/>
        </p:nvSpPr>
        <p:spPr>
          <a:xfrm xmlns:a="http://schemas.openxmlformats.org/drawingml/2006/main">
            <a:off x="628650" y="55721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0">
                <a:solidFill>
                  <a:srgbClr val="C3D1E2"/>
                </a:solidFill>
              </a:defRPr>
            </a:defPPr>
            <a:lvl1pPr algn="l">
              <a:defRPr sz="1500" b="0">
                <a:solidFill>
                  <a:srgbClr val="C3D1E2"/>
                </a:solidFill>
              </a:defRPr>
            </a:lvl1pPr>
            <a:lvl2pPr algn="l">
              <a:defRPr sz="1500" b="0">
                <a:solidFill>
                  <a:srgbClr val="C3D1E2"/>
                </a:solidFill>
              </a:defRPr>
            </a:lvl2pPr>
            <a:lvl3pPr algn="l">
              <a:defRPr sz="1500" b="0">
                <a:solidFill>
                  <a:srgbClr val="C3D1E2"/>
                </a:solidFill>
              </a:defRPr>
            </a:lvl3pPr>
            <a:lvl4pPr algn="l">
              <a:defRPr sz="1500" b="0">
                <a:solidFill>
                  <a:srgbClr val="C3D1E2"/>
                </a:solidFill>
              </a:defRPr>
            </a:lvl4pPr>
            <a:lvl5pPr algn="l">
              <a:defRPr sz="1500" b="0">
                <a:solidFill>
                  <a:srgbClr val="C3D1E2"/>
                </a:solidFill>
              </a:defRPr>
            </a:lvl5pPr>
            <a:lvl6pPr algn="l">
              <a:defRPr sz="1500" b="0">
                <a:solidFill>
                  <a:srgbClr val="C3D1E2"/>
                </a:solidFill>
              </a:defRPr>
            </a:lvl6pPr>
            <a:lvl7pPr algn="l">
              <a:defRPr sz="1500" b="0">
                <a:solidFill>
                  <a:srgbClr val="C3D1E2"/>
                </a:solidFill>
              </a:defRPr>
            </a:lvl7pPr>
            <a:lvl8pPr algn="l">
              <a:defRPr sz="1500" b="0">
                <a:solidFill>
                  <a:srgbClr val="C3D1E2"/>
                </a:solidFill>
              </a:defRPr>
            </a:lvl8pPr>
            <a:lvl9pPr algn="l">
              <a:defRPr sz="1500" b="0">
                <a:solidFill>
                  <a:srgbClr val="C3D1E2"/>
                </a:solidFill>
              </a:defRPr>
            </a:lvl9pPr>
          </a:lstStyle>
          <a:p xmlns:a="http://schemas.openxmlformats.org/drawingml/2006/main">
            <a:pPr algn="l">
              <a:defRPr sz="1500" b="0">
                <a:solidFill>
                  <a:srgbClr val="C3D1E2"/>
                </a:solidFill>
              </a:defRPr>
            </a:pPr>
            <a:r>
              <a:rPr sz="1500" b="0">
                <a:solidFill>
                  <a:srgbClr val="C3D1E2"/>
                </a:solidFill>
              </a:rPr>
              <a:t>Inspect the report, then export</a:t>
            </a:r>
          </a:p>
          <a:p xmlns:a="http://schemas.openxmlformats.org/drawingml/2006/main">
            <a:pPr algn="l">
              <a:defRPr sz="1500" b="0">
                <a:solidFill>
                  <a:srgbClr val="C3D1E2"/>
                </a:solidFill>
              </a:defRPr>
            </a:pPr>
            <a:r>
              <a:rPr sz="1500" b="0">
                <a:solidFill>
                  <a:srgbClr val="C3D1E2"/>
                </a:solidFill>
              </a:rPr>
              <a:t>a PDF or Excel workbook.</a:t>
            </a:r>
          </a:p>
        </p:txBody>
      </p:sp>
      <p:sp>
        <p:nvSpPr>
          <p:cNvPr id="20" name="Editable report document">
            <a:extLst xmlns:a="http://schemas.openxmlformats.org/drawingml/2006/main">
              <a:ext uri="{FF2B5EF4-FFF2-40B4-BE49-F238E27FC236}">
                <a16:creationId xmlns:a16="http://schemas.microsoft.com/office/drawing/2014/main" id="{F112CA2D-AA8D-475A-BC53-77219272C5FD}"/>
              </a:ext>
            </a:extLst>
          </p:cNvPr>
          <p:cNvSpPr>
            <a:spLocks xmlns:a="http://schemas.openxmlformats.org/drawingml/2006/main" noGrp="1"/>
          </p:cNvSpPr>
          <p:nvPr/>
        </p:nvSpPr>
        <p:spPr>
          <a:xfrm xmlns:a="http://schemas.openxmlformats.org/drawingml/2006/main">
            <a:off x="6286500" y="1971675"/>
            <a:ext cx="5210175" cy="3990975"/>
          </a:xfrm>
          <a:prstGeom xmlns:a="http://schemas.openxmlformats.org/drawingml/2006/main" prst="roundRect">
            <a:avLst>
              <a:gd name="adj" fmla="val 716"/>
            </a:avLst>
          </a:prstGeom>
          <a:solidFill xmlns:a="http://schemas.openxmlformats.org/drawingml/2006/main">
            <a:srgbClr val="F6F8FB"/>
          </a:solidFill>
          <a:ln xmlns:a="http://schemas.openxmlformats.org/drawingml/2006/main" w="9525">
            <a:solidFill>
              <a:srgbClr val="B5C5D6"/>
            </a:solidFill>
          </a:ln>
        </p:spPr>
      </p:sp>
      <p:sp>
        <p:nvSpPr>
          <p:cNvPr id="21" name="REPORT OF CALIBRATION">
            <a:extLst xmlns:a="http://schemas.openxmlformats.org/drawingml/2006/main">
              <a:ext uri="{FF2B5EF4-FFF2-40B4-BE49-F238E27FC236}">
                <a16:creationId xmlns:a16="http://schemas.microsoft.com/office/drawing/2014/main" id="{87A93B71-DCEC-4206-94D4-7A0144AC4528}"/>
              </a:ext>
            </a:extLst>
          </p:cNvPr>
          <p:cNvSpPr>
            <a:spLocks xmlns:a="http://schemas.openxmlformats.org/drawingml/2006/main" noGrp="1"/>
          </p:cNvSpPr>
          <p:nvPr/>
        </p:nvSpPr>
        <p:spPr>
          <a:xfrm xmlns:a="http://schemas.openxmlformats.org/drawingml/2006/main">
            <a:off x="6534150" y="2190750"/>
            <a:ext cx="4714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025" b="1">
                <a:solidFill>
                  <a:srgbClr val="132C45"/>
                </a:solidFill>
              </a:defRPr>
            </a:defPPr>
            <a:lvl1pPr algn="l">
              <a:defRPr sz="2025" b="1">
                <a:solidFill>
                  <a:srgbClr val="132C45"/>
                </a:solidFill>
              </a:defRPr>
            </a:lvl1pPr>
            <a:lvl2pPr algn="l">
              <a:defRPr sz="2025" b="1">
                <a:solidFill>
                  <a:srgbClr val="132C45"/>
                </a:solidFill>
              </a:defRPr>
            </a:lvl2pPr>
            <a:lvl3pPr algn="l">
              <a:defRPr sz="2025" b="1">
                <a:solidFill>
                  <a:srgbClr val="132C45"/>
                </a:solidFill>
              </a:defRPr>
            </a:lvl3pPr>
            <a:lvl4pPr algn="l">
              <a:defRPr sz="2025" b="1">
                <a:solidFill>
                  <a:srgbClr val="132C45"/>
                </a:solidFill>
              </a:defRPr>
            </a:lvl4pPr>
            <a:lvl5pPr algn="l">
              <a:defRPr sz="2025" b="1">
                <a:solidFill>
                  <a:srgbClr val="132C45"/>
                </a:solidFill>
              </a:defRPr>
            </a:lvl5pPr>
            <a:lvl6pPr algn="l">
              <a:defRPr sz="2025" b="1">
                <a:solidFill>
                  <a:srgbClr val="132C45"/>
                </a:solidFill>
              </a:defRPr>
            </a:lvl6pPr>
            <a:lvl7pPr algn="l">
              <a:defRPr sz="2025" b="1">
                <a:solidFill>
                  <a:srgbClr val="132C45"/>
                </a:solidFill>
              </a:defRPr>
            </a:lvl7pPr>
            <a:lvl8pPr algn="l">
              <a:defRPr sz="2025" b="1">
                <a:solidFill>
                  <a:srgbClr val="132C45"/>
                </a:solidFill>
              </a:defRPr>
            </a:lvl8pPr>
            <a:lvl9pPr algn="l">
              <a:defRPr sz="2025" b="1">
                <a:solidFill>
                  <a:srgbClr val="132C45"/>
                </a:solidFill>
              </a:defRPr>
            </a:lvl9pPr>
          </a:lstStyle>
          <a:p xmlns:a="http://schemas.openxmlformats.org/drawingml/2006/main">
            <a:pPr algn="l">
              <a:defRPr sz="2025" b="1">
                <a:solidFill>
                  <a:srgbClr val="132C45"/>
                </a:solidFill>
              </a:defRPr>
            </a:pPr>
            <a:r>
              <a:rPr sz="2025" b="1">
                <a:solidFill>
                  <a:srgbClr val="132C45"/>
                </a:solidFill>
              </a:rPr>
              <a:t>REPORT OF CALIBRATION</a:t>
            </a:r>
          </a:p>
        </p:txBody>
      </p:sp>
      <p:sp>
        <p:nvSpPr>
          <p:cNvPr id="22" name="Layout shape">
            <a:extLst xmlns:a="http://schemas.openxmlformats.org/drawingml/2006/main">
              <a:ext uri="{FF2B5EF4-FFF2-40B4-BE49-F238E27FC236}">
                <a16:creationId xmlns:a16="http://schemas.microsoft.com/office/drawing/2014/main" id="{0577C54A-6323-48C8-881B-03CB26ABC9C3}"/>
              </a:ext>
            </a:extLst>
          </p:cNvPr>
          <p:cNvSpPr>
            <a:spLocks xmlns:a="http://schemas.openxmlformats.org/drawingml/2006/main" noGrp="1"/>
          </p:cNvSpPr>
          <p:nvPr/>
        </p:nvSpPr>
        <p:spPr>
          <a:xfrm xmlns:a="http://schemas.openxmlformats.org/drawingml/2006/main">
            <a:off x="6534150" y="2647950"/>
            <a:ext cx="4714875" cy="28575"/>
          </a:xfrm>
          <a:prstGeom xmlns:a="http://schemas.openxmlformats.org/drawingml/2006/main" prst="rect">
            <a:avLst/>
          </a:prstGeom>
          <a:solidFill xmlns:a="http://schemas.openxmlformats.org/drawingml/2006/main">
            <a:srgbClr val="C79844"/>
          </a:solidFill>
          <a:ln xmlns:a="http://schemas.openxmlformats.org/drawingml/2006/main" w="0">
            <a:noFill/>
          </a:ln>
        </p:spPr>
      </p:sp>
      <p:sp>
        <p:nvSpPr>
          <p:cNvPr id="23" name="Instrument and serial number">
            <a:extLst xmlns:a="http://schemas.openxmlformats.org/drawingml/2006/main">
              <a:ext uri="{FF2B5EF4-FFF2-40B4-BE49-F238E27FC236}">
                <a16:creationId xmlns:a16="http://schemas.microsoft.com/office/drawing/2014/main" id="{F89A0342-A19F-48CE-B483-B179DED76AE6}"/>
              </a:ext>
            </a:extLst>
          </p:cNvPr>
          <p:cNvSpPr>
            <a:spLocks xmlns:a="http://schemas.openxmlformats.org/drawingml/2006/main" noGrp="1"/>
          </p:cNvSpPr>
          <p:nvPr/>
        </p:nvSpPr>
        <p:spPr>
          <a:xfrm xmlns:a="http://schemas.openxmlformats.org/drawingml/2006/main">
            <a:off x="6534150" y="2838450"/>
            <a:ext cx="471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500" b="1">
                <a:solidFill>
                  <a:srgbClr val="233F59"/>
                </a:solidFill>
              </a:defRPr>
            </a:defPPr>
            <a:lvl1pPr algn="l">
              <a:defRPr sz="1500" b="1">
                <a:solidFill>
                  <a:srgbClr val="233F59"/>
                </a:solidFill>
              </a:defRPr>
            </a:lvl1pPr>
            <a:lvl2pPr algn="l">
              <a:defRPr sz="1500" b="1">
                <a:solidFill>
                  <a:srgbClr val="233F59"/>
                </a:solidFill>
              </a:defRPr>
            </a:lvl2pPr>
            <a:lvl3pPr algn="l">
              <a:defRPr sz="1500" b="1">
                <a:solidFill>
                  <a:srgbClr val="233F59"/>
                </a:solidFill>
              </a:defRPr>
            </a:lvl3pPr>
            <a:lvl4pPr algn="l">
              <a:defRPr sz="1500" b="1">
                <a:solidFill>
                  <a:srgbClr val="233F59"/>
                </a:solidFill>
              </a:defRPr>
            </a:lvl4pPr>
            <a:lvl5pPr algn="l">
              <a:defRPr sz="1500" b="1">
                <a:solidFill>
                  <a:srgbClr val="233F59"/>
                </a:solidFill>
              </a:defRPr>
            </a:lvl5pPr>
            <a:lvl6pPr algn="l">
              <a:defRPr sz="1500" b="1">
                <a:solidFill>
                  <a:srgbClr val="233F59"/>
                </a:solidFill>
              </a:defRPr>
            </a:lvl6pPr>
            <a:lvl7pPr algn="l">
              <a:defRPr sz="1500" b="1">
                <a:solidFill>
                  <a:srgbClr val="233F59"/>
                </a:solidFill>
              </a:defRPr>
            </a:lvl7pPr>
            <a:lvl8pPr algn="l">
              <a:defRPr sz="1500" b="1">
                <a:solidFill>
                  <a:srgbClr val="233F59"/>
                </a:solidFill>
              </a:defRPr>
            </a:lvl8pPr>
            <a:lvl9pPr algn="l">
              <a:defRPr sz="1500" b="1">
                <a:solidFill>
                  <a:srgbClr val="233F59"/>
                </a:solidFill>
              </a:defRPr>
            </a:lvl9pPr>
          </a:lstStyle>
          <a:p xmlns:a="http://schemas.openxmlformats.org/drawingml/2006/main">
            <a:pPr algn="l">
              <a:defRPr sz="1500" b="1">
                <a:solidFill>
                  <a:srgbClr val="233F59"/>
                </a:solidFill>
              </a:defRPr>
            </a:pPr>
            <a:r>
              <a:rPr sz="1500" b="1">
                <a:solidFill>
                  <a:srgbClr val="233F59"/>
                </a:solidFill>
              </a:rPr>
              <a:t>Instrument and serial number</a:t>
            </a:r>
          </a:p>
        </p:txBody>
      </p:sp>
      <p:sp>
        <p:nvSpPr>
          <p:cNvPr id="24" name="Customer  /  Procedure  /  Dates  /  Personnel">
            <a:extLst xmlns:a="http://schemas.openxmlformats.org/drawingml/2006/main">
              <a:ext uri="{FF2B5EF4-FFF2-40B4-BE49-F238E27FC236}">
                <a16:creationId xmlns:a16="http://schemas.microsoft.com/office/drawing/2014/main" id="{AA68142D-0DC7-4A89-8302-AEDA05E8D221}"/>
              </a:ext>
            </a:extLst>
          </p:cNvPr>
          <p:cNvSpPr>
            <a:spLocks xmlns:a="http://schemas.openxmlformats.org/drawingml/2006/main" noGrp="1"/>
          </p:cNvSpPr>
          <p:nvPr/>
        </p:nvSpPr>
        <p:spPr>
          <a:xfrm xmlns:a="http://schemas.openxmlformats.org/drawingml/2006/main">
            <a:off x="6534150" y="3171825"/>
            <a:ext cx="471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0">
                <a:solidFill>
                  <a:srgbClr val="53687B"/>
                </a:solidFill>
              </a:defRPr>
            </a:defPPr>
            <a:lvl1pPr algn="l">
              <a:defRPr sz="1275" b="0">
                <a:solidFill>
                  <a:srgbClr val="53687B"/>
                </a:solidFill>
              </a:defRPr>
            </a:lvl1pPr>
            <a:lvl2pPr algn="l">
              <a:defRPr sz="1275" b="0">
                <a:solidFill>
                  <a:srgbClr val="53687B"/>
                </a:solidFill>
              </a:defRPr>
            </a:lvl2pPr>
            <a:lvl3pPr algn="l">
              <a:defRPr sz="1275" b="0">
                <a:solidFill>
                  <a:srgbClr val="53687B"/>
                </a:solidFill>
              </a:defRPr>
            </a:lvl3pPr>
            <a:lvl4pPr algn="l">
              <a:defRPr sz="1275" b="0">
                <a:solidFill>
                  <a:srgbClr val="53687B"/>
                </a:solidFill>
              </a:defRPr>
            </a:lvl4pPr>
            <a:lvl5pPr algn="l">
              <a:defRPr sz="1275" b="0">
                <a:solidFill>
                  <a:srgbClr val="53687B"/>
                </a:solidFill>
              </a:defRPr>
            </a:lvl5pPr>
            <a:lvl6pPr algn="l">
              <a:defRPr sz="1275" b="0">
                <a:solidFill>
                  <a:srgbClr val="53687B"/>
                </a:solidFill>
              </a:defRPr>
            </a:lvl6pPr>
            <a:lvl7pPr algn="l">
              <a:defRPr sz="1275" b="0">
                <a:solidFill>
                  <a:srgbClr val="53687B"/>
                </a:solidFill>
              </a:defRPr>
            </a:lvl7pPr>
            <a:lvl8pPr algn="l">
              <a:defRPr sz="1275" b="0">
                <a:solidFill>
                  <a:srgbClr val="53687B"/>
                </a:solidFill>
              </a:defRPr>
            </a:lvl8pPr>
            <a:lvl9pPr algn="l">
              <a:defRPr sz="1275" b="0">
                <a:solidFill>
                  <a:srgbClr val="53687B"/>
                </a:solidFill>
              </a:defRPr>
            </a:lvl9pPr>
          </a:lstStyle>
          <a:p xmlns:a="http://schemas.openxmlformats.org/drawingml/2006/main">
            <a:pPr algn="l">
              <a:defRPr sz="1275" b="0">
                <a:solidFill>
                  <a:srgbClr val="53687B"/>
                </a:solidFill>
              </a:defRPr>
            </a:pPr>
            <a:r>
              <a:rPr sz="1275" b="0">
                <a:solidFill>
                  <a:srgbClr val="53687B"/>
                </a:solidFill>
              </a:rPr>
              <a:t>Customer  /  Procedure  /  Dates  /  Personnel</a:t>
            </a:r>
          </a:p>
        </p:txBody>
      </p:sp>
      <p:graphicFrame>
        <p:nvGraphicFramePr>
          <p:cNvPr id="25" name="">
            <a:extLst xmlns:a="http://schemas.openxmlformats.org/drawingml/2006/main">
              <a:ext uri="{FF2B5EF4-FFF2-40B4-BE49-F238E27FC236}">
                <a16:creationId xmlns:a16="http://schemas.microsoft.com/office/drawing/2014/main" id="{387F8BAD-056C-4FF1-ABDB-02015D33D7F6}"/>
              </a:ext>
            </a:extLst>
          </p:cNvPr>
          <p:cNvGraphicFramePr/>
          <p:nvPr/>
        </p:nvGraphicFramePr>
        <p:xfrm>
          <a:off xmlns:a="http://schemas.openxmlformats.org/drawingml/2006/main" x="6534150" y="3629025"/>
          <a:ext xmlns:a="http://schemas.openxmlformats.org/drawingml/2006/main" cx="4714875" cy="990600"/>
        </p:xfrm>
        <a:graphic xmlns:a="http://schemas.openxmlformats.org/drawingml/2006/main">
          <a:graphicData uri="http://schemas.openxmlformats.org/drawingml/2006/table">
            <a:tbl>
              <a:tblPr/>
              <a:tblGrid>
                <a:gridCol w="1571625"/>
                <a:gridCol w="1571625"/>
                <a:gridCol w="1571625"/>
              </a:tblGrid>
              <a:tr h="495300">
                <a:tc>
                  <a:txBody>
                    <a:bodyPr lIns="95250" tIns="95250" rIns="95250" bIns="95250"/>
                    <a:lstStyle/>
                    <a:p>
                      <a:pPr algn="l"/>
                      <a:r>
                        <a:rPr sz="1350" b="1">
                          <a:solidFill>
                            <a:srgbClr val="FFFFFF"/>
                          </a:solidFill>
                        </a:rPr>
                        <a:t>Measurement</a:t>
                      </a:r>
                    </a:p>
                  </a:txBody>
                  <a:tcPr marL="91440" marR="91440" marT="45720" marB="45720" anchor="ctr">
                    <a:lnL w="9525">
                      <a:solidFill>
                        <a:srgbClr val="B8C8D9"/>
                      </a:solidFill>
                      <a:prstDash val="solid"/>
                    </a:lnL>
                    <a:lnR w="9525">
                      <a:solidFill>
                        <a:srgbClr val="B8C8D9"/>
                      </a:solidFill>
                      <a:prstDash val="solid"/>
                    </a:lnR>
                    <a:lnT w="9525">
                      <a:solidFill>
                        <a:srgbClr val="B8C8D9"/>
                      </a:solidFill>
                      <a:prstDash val="solid"/>
                    </a:lnT>
                    <a:lnB w="9525">
                      <a:solidFill>
                        <a:srgbClr val="B8C8D9"/>
                      </a:solidFill>
                      <a:prstDash val="solid"/>
                    </a:lnB>
                    <a:solidFill>
                      <a:srgbClr val="173852"/>
                    </a:solidFill>
                  </a:tcPr>
                </a:tc>
                <a:tc>
                  <a:txBody>
                    <a:bodyPr lIns="95250" tIns="95250" rIns="95250" bIns="95250"/>
                    <a:lstStyle/>
                    <a:p>
                      <a:pPr algn="l"/>
                      <a:r>
                        <a:rPr sz="1350" b="1">
                          <a:solidFill>
                            <a:srgbClr val="FFFFFF"/>
                          </a:solidFill>
                        </a:rPr>
                        <a:t>Result</a:t>
                      </a:r>
                    </a:p>
                  </a:txBody>
                  <a:tcPr marL="91440" marR="91440" marT="45720" marB="45720" anchor="ctr">
                    <a:lnR w="9525">
                      <a:solidFill>
                        <a:srgbClr val="B8C8D9"/>
                      </a:solidFill>
                      <a:prstDash val="solid"/>
                    </a:lnR>
                    <a:lnT w="9525">
                      <a:solidFill>
                        <a:srgbClr val="B8C8D9"/>
                      </a:solidFill>
                      <a:prstDash val="solid"/>
                    </a:lnT>
                    <a:lnB w="9525">
                      <a:solidFill>
                        <a:srgbClr val="B8C8D9"/>
                      </a:solidFill>
                      <a:prstDash val="solid"/>
                    </a:lnB>
                    <a:solidFill>
                      <a:srgbClr val="173852"/>
                    </a:solidFill>
                  </a:tcPr>
                </a:tc>
                <a:tc>
                  <a:txBody>
                    <a:bodyPr lIns="95250" tIns="95250" rIns="95250" bIns="95250"/>
                    <a:lstStyle/>
                    <a:p>
                      <a:pPr algn="l"/>
                      <a:r>
                        <a:rPr sz="1350" b="1">
                          <a:solidFill>
                            <a:srgbClr val="FFFFFF"/>
                          </a:solidFill>
                        </a:rPr>
                        <a:t>Uncertainty</a:t>
                      </a:r>
                    </a:p>
                  </a:txBody>
                  <a:tcPr marL="91440" marR="91440" marT="45720" marB="45720" anchor="ctr">
                    <a:lnR w="9525">
                      <a:solidFill>
                        <a:srgbClr val="B8C8D9"/>
                      </a:solidFill>
                      <a:prstDash val="solid"/>
                    </a:lnR>
                    <a:lnT w="9525">
                      <a:solidFill>
                        <a:srgbClr val="B8C8D9"/>
                      </a:solidFill>
                      <a:prstDash val="solid"/>
                    </a:lnT>
                    <a:lnB w="9525">
                      <a:solidFill>
                        <a:srgbClr val="B8C8D9"/>
                      </a:solidFill>
                      <a:prstDash val="solid"/>
                    </a:lnB>
                    <a:solidFill>
                      <a:srgbClr val="173852"/>
                    </a:solidFill>
                  </a:tcPr>
                </a:tc>
              </a:tr>
              <a:tr h="495300">
                <a:tc>
                  <a:txBody>
                    <a:bodyPr lIns="95250" tIns="95250" rIns="95250" bIns="95250"/>
                    <a:lstStyle/>
                    <a:p>
                      <a:pPr algn="l"/>
                      <a:r>
                        <a:rPr sz="1350" b="0">
                          <a:solidFill>
                            <a:srgbClr val="36516A"/>
                          </a:solidFill>
                        </a:rPr>
                        <a:t>Test point</a:t>
                      </a:r>
                    </a:p>
                  </a:txBody>
                  <a:tcPr marL="91440" marR="91440" marT="45720" marB="45720" anchor="ctr">
                    <a:lnL w="9525">
                      <a:solidFill>
                        <a:srgbClr val="B8C8D9"/>
                      </a:solidFill>
                      <a:prstDash val="solid"/>
                    </a:lnL>
                    <a:lnR w="9525">
                      <a:solidFill>
                        <a:srgbClr val="B8C8D9"/>
                      </a:solidFill>
                      <a:prstDash val="solid"/>
                    </a:lnR>
                    <a:lnB w="9525">
                      <a:solidFill>
                        <a:srgbClr val="B8C8D9"/>
                      </a:solidFill>
                      <a:prstDash val="solid"/>
                    </a:lnB>
                    <a:solidFill>
                      <a:srgbClr val="FFFFFF"/>
                    </a:solidFill>
                  </a:tcPr>
                </a:tc>
                <a:tc>
                  <a:txBody>
                    <a:bodyPr lIns="95250" tIns="95250" rIns="95250" bIns="95250"/>
                    <a:lstStyle/>
                    <a:p>
                      <a:pPr algn="l"/>
                      <a:r>
                        <a:rPr sz="1350" b="0">
                          <a:solidFill>
                            <a:srgbClr val="36516A"/>
                          </a:solidFill>
                        </a:rPr>
                        <a:t>Saved value</a:t>
                      </a:r>
                    </a:p>
                  </a:txBody>
                  <a:tcPr marL="91440" marR="91440" marT="45720" marB="45720" anchor="ctr">
                    <a:lnR w="9525">
                      <a:solidFill>
                        <a:srgbClr val="B8C8D9"/>
                      </a:solidFill>
                      <a:prstDash val="solid"/>
                    </a:lnR>
                    <a:lnB w="9525">
                      <a:solidFill>
                        <a:srgbClr val="B8C8D9"/>
                      </a:solidFill>
                      <a:prstDash val="solid"/>
                    </a:lnB>
                    <a:solidFill>
                      <a:srgbClr val="FFFFFF"/>
                    </a:solidFill>
                  </a:tcPr>
                </a:tc>
                <a:tc>
                  <a:txBody>
                    <a:bodyPr lIns="95250" tIns="95250" rIns="95250" bIns="95250"/>
                    <a:lstStyle/>
                    <a:p>
                      <a:pPr algn="l"/>
                      <a:r>
                        <a:rPr sz="1350" b="0">
                          <a:solidFill>
                            <a:srgbClr val="36516A"/>
                          </a:solidFill>
                        </a:rPr>
                        <a:t>Stored value</a:t>
                      </a:r>
                    </a:p>
                  </a:txBody>
                  <a:tcPr marL="91440" marR="91440" marT="45720" marB="45720" anchor="ctr">
                    <a:lnR w="9525">
                      <a:solidFill>
                        <a:srgbClr val="B8C8D9"/>
                      </a:solidFill>
                      <a:prstDash val="solid"/>
                    </a:lnR>
                    <a:lnB w="9525">
                      <a:solidFill>
                        <a:srgbClr val="B8C8D9"/>
                      </a:solidFill>
                      <a:prstDash val="solid"/>
                    </a:lnB>
                    <a:solidFill>
                      <a:srgbClr val="FFFFFF"/>
                    </a:solidFill>
                  </a:tcPr>
                </a:tc>
              </a:tr>
            </a:tbl>
          </a:graphicData>
        </a:graphic>
      </p:graphicFrame>
      <p:sp>
        <p:nvSpPr>
          <p:cNvPr id="26" name="Supporting statements and measurement conditions">
            <a:extLst xmlns:a="http://schemas.openxmlformats.org/drawingml/2006/main">
              <a:ext uri="{FF2B5EF4-FFF2-40B4-BE49-F238E27FC236}">
                <a16:creationId xmlns:a16="http://schemas.microsoft.com/office/drawing/2014/main" id="{405E8E39-A5EA-4B35-8C32-3020C342A9F0}"/>
              </a:ext>
            </a:extLst>
          </p:cNvPr>
          <p:cNvSpPr>
            <a:spLocks xmlns:a="http://schemas.openxmlformats.org/drawingml/2006/main" noGrp="1"/>
          </p:cNvSpPr>
          <p:nvPr/>
        </p:nvSpPr>
        <p:spPr>
          <a:xfrm xmlns:a="http://schemas.openxmlformats.org/drawingml/2006/main">
            <a:off x="6534150" y="4857750"/>
            <a:ext cx="471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275" b="0">
                <a:solidFill>
                  <a:srgbClr val="53687B"/>
                </a:solidFill>
              </a:defRPr>
            </a:defPPr>
            <a:lvl1pPr algn="l">
              <a:defRPr sz="1275" b="0">
                <a:solidFill>
                  <a:srgbClr val="53687B"/>
                </a:solidFill>
              </a:defRPr>
            </a:lvl1pPr>
            <a:lvl2pPr algn="l">
              <a:defRPr sz="1275" b="0">
                <a:solidFill>
                  <a:srgbClr val="53687B"/>
                </a:solidFill>
              </a:defRPr>
            </a:lvl2pPr>
            <a:lvl3pPr algn="l">
              <a:defRPr sz="1275" b="0">
                <a:solidFill>
                  <a:srgbClr val="53687B"/>
                </a:solidFill>
              </a:defRPr>
            </a:lvl3pPr>
            <a:lvl4pPr algn="l">
              <a:defRPr sz="1275" b="0">
                <a:solidFill>
                  <a:srgbClr val="53687B"/>
                </a:solidFill>
              </a:defRPr>
            </a:lvl4pPr>
            <a:lvl5pPr algn="l">
              <a:defRPr sz="1275" b="0">
                <a:solidFill>
                  <a:srgbClr val="53687B"/>
                </a:solidFill>
              </a:defRPr>
            </a:lvl5pPr>
            <a:lvl6pPr algn="l">
              <a:defRPr sz="1275" b="0">
                <a:solidFill>
                  <a:srgbClr val="53687B"/>
                </a:solidFill>
              </a:defRPr>
            </a:lvl6pPr>
            <a:lvl7pPr algn="l">
              <a:defRPr sz="1275" b="0">
                <a:solidFill>
                  <a:srgbClr val="53687B"/>
                </a:solidFill>
              </a:defRPr>
            </a:lvl7pPr>
            <a:lvl8pPr algn="l">
              <a:defRPr sz="1275" b="0">
                <a:solidFill>
                  <a:srgbClr val="53687B"/>
                </a:solidFill>
              </a:defRPr>
            </a:lvl8pPr>
            <a:lvl9pPr algn="l">
              <a:defRPr sz="1275" b="0">
                <a:solidFill>
                  <a:srgbClr val="53687B"/>
                </a:solidFill>
              </a:defRPr>
            </a:lvl9pPr>
          </a:lstStyle>
          <a:p xmlns:a="http://schemas.openxmlformats.org/drawingml/2006/main">
            <a:pPr algn="l">
              <a:defRPr sz="1275" b="0">
                <a:solidFill>
                  <a:srgbClr val="53687B"/>
                </a:solidFill>
              </a:defRPr>
            </a:pPr>
            <a:r>
              <a:rPr sz="1275" b="0">
                <a:solidFill>
                  <a:srgbClr val="53687B"/>
                </a:solidFill>
              </a:rPr>
              <a:t>Supporting statements and measurement conditions</a:t>
            </a:r>
          </a:p>
        </p:txBody>
      </p:sp>
      <p:sp>
        <p:nvSpPr>
          <p:cNvPr id="27" name="Layout shape">
            <a:extLst xmlns:a="http://schemas.openxmlformats.org/drawingml/2006/main">
              <a:ext uri="{FF2B5EF4-FFF2-40B4-BE49-F238E27FC236}">
                <a16:creationId xmlns:a16="http://schemas.microsoft.com/office/drawing/2014/main" id="{9E997FF4-A885-4CCA-B060-C477F315E659}"/>
              </a:ext>
            </a:extLst>
          </p:cNvPr>
          <p:cNvSpPr>
            <a:spLocks xmlns:a="http://schemas.openxmlformats.org/drawingml/2006/main" noGrp="1"/>
          </p:cNvSpPr>
          <p:nvPr/>
        </p:nvSpPr>
        <p:spPr>
          <a:xfrm xmlns:a="http://schemas.openxmlformats.org/drawingml/2006/main">
            <a:off x="6534150" y="5276850"/>
            <a:ext cx="4714875" cy="9525"/>
          </a:xfrm>
          <a:prstGeom xmlns:a="http://schemas.openxmlformats.org/drawingml/2006/main" prst="rect">
            <a:avLst/>
          </a:prstGeom>
          <a:solidFill xmlns:a="http://schemas.openxmlformats.org/drawingml/2006/main">
            <a:srgbClr val="B8C8D9"/>
          </a:solidFill>
          <a:ln xmlns:a="http://schemas.openxmlformats.org/drawingml/2006/main" w="0">
            <a:noFill/>
          </a:ln>
        </p:spPr>
      </p:sp>
      <p:sp>
        <p:nvSpPr>
          <p:cNvPr id="28" name="Technical review and approval">
            <a:extLst xmlns:a="http://schemas.openxmlformats.org/drawingml/2006/main">
              <a:ext uri="{FF2B5EF4-FFF2-40B4-BE49-F238E27FC236}">
                <a16:creationId xmlns:a16="http://schemas.microsoft.com/office/drawing/2014/main" id="{A5838F91-22FA-467A-94B4-B3018DE7F286}"/>
              </a:ext>
            </a:extLst>
          </p:cNvPr>
          <p:cNvSpPr>
            <a:spLocks xmlns:a="http://schemas.openxmlformats.org/drawingml/2006/main" noGrp="1"/>
          </p:cNvSpPr>
          <p:nvPr/>
        </p:nvSpPr>
        <p:spPr>
          <a:xfrm xmlns:a="http://schemas.openxmlformats.org/drawingml/2006/main">
            <a:off x="6534150" y="5448300"/>
            <a:ext cx="4714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350" b="1">
                <a:solidFill>
                  <a:srgbClr val="233F59"/>
                </a:solidFill>
              </a:defRPr>
            </a:defPPr>
            <a:lvl1pPr algn="l">
              <a:defRPr sz="1350" b="1">
                <a:solidFill>
                  <a:srgbClr val="233F59"/>
                </a:solidFill>
              </a:defRPr>
            </a:lvl1pPr>
            <a:lvl2pPr algn="l">
              <a:defRPr sz="1350" b="1">
                <a:solidFill>
                  <a:srgbClr val="233F59"/>
                </a:solidFill>
              </a:defRPr>
            </a:lvl2pPr>
            <a:lvl3pPr algn="l">
              <a:defRPr sz="1350" b="1">
                <a:solidFill>
                  <a:srgbClr val="233F59"/>
                </a:solidFill>
              </a:defRPr>
            </a:lvl3pPr>
            <a:lvl4pPr algn="l">
              <a:defRPr sz="1350" b="1">
                <a:solidFill>
                  <a:srgbClr val="233F59"/>
                </a:solidFill>
              </a:defRPr>
            </a:lvl4pPr>
            <a:lvl5pPr algn="l">
              <a:defRPr sz="1350" b="1">
                <a:solidFill>
                  <a:srgbClr val="233F59"/>
                </a:solidFill>
              </a:defRPr>
            </a:lvl5pPr>
            <a:lvl6pPr algn="l">
              <a:defRPr sz="1350" b="1">
                <a:solidFill>
                  <a:srgbClr val="233F59"/>
                </a:solidFill>
              </a:defRPr>
            </a:lvl6pPr>
            <a:lvl7pPr algn="l">
              <a:defRPr sz="1350" b="1">
                <a:solidFill>
                  <a:srgbClr val="233F59"/>
                </a:solidFill>
              </a:defRPr>
            </a:lvl7pPr>
            <a:lvl8pPr algn="l">
              <a:defRPr sz="1350" b="1">
                <a:solidFill>
                  <a:srgbClr val="233F59"/>
                </a:solidFill>
              </a:defRPr>
            </a:lvl8pPr>
            <a:lvl9pPr algn="l">
              <a:defRPr sz="1350" b="1">
                <a:solidFill>
                  <a:srgbClr val="233F59"/>
                </a:solidFill>
              </a:defRPr>
            </a:lvl9pPr>
          </a:lstStyle>
          <a:p xmlns:a="http://schemas.openxmlformats.org/drawingml/2006/main">
            <a:pPr algn="l">
              <a:defRPr sz="1350" b="1">
                <a:solidFill>
                  <a:srgbClr val="233F59"/>
                </a:solidFill>
              </a:defRPr>
            </a:pPr>
            <a:r>
              <a:rPr sz="1350" b="1">
                <a:solidFill>
                  <a:srgbClr val="233F59"/>
                </a:solidFill>
              </a:rPr>
              <a:t>Technical review and approval</a:t>
            </a:r>
          </a:p>
        </p:txBody>
      </p:sp>
      <p:sp>
        <p:nvSpPr>
          <p:cNvPr id="29" name="Layout shape">
            <a:extLst xmlns:a="http://schemas.openxmlformats.org/drawingml/2006/main">
              <a:ext uri="{FF2B5EF4-FFF2-40B4-BE49-F238E27FC236}">
                <a16:creationId xmlns:a16="http://schemas.microsoft.com/office/drawing/2014/main" id="{414DD930-38B1-4DE4-B978-BFE125507E8C}"/>
              </a:ext>
            </a:extLst>
          </p:cNvPr>
          <p:cNvSpPr>
            <a:spLocks xmlns:a="http://schemas.openxmlformats.org/drawingml/2006/main" noGrp="1"/>
          </p:cNvSpPr>
          <p:nvPr/>
        </p:nvSpPr>
        <p:spPr>
          <a:xfrm xmlns:a="http://schemas.openxmlformats.org/drawingml/2006/main">
            <a:off x="7096125" y="6172200"/>
            <a:ext cx="1466850" cy="400050"/>
          </a:xfrm>
          <a:prstGeom xmlns:a="http://schemas.openxmlformats.org/drawingml/2006/main" prst="roundRect">
            <a:avLst>
              <a:gd name="adj" fmla="val 11905"/>
            </a:avLst>
          </a:prstGeom>
          <a:solidFill xmlns:a="http://schemas.openxmlformats.org/drawingml/2006/main">
            <a:srgbClr val="153047"/>
          </a:solidFill>
          <a:ln xmlns:a="http://schemas.openxmlformats.org/drawingml/2006/main" w="9525">
            <a:solidFill>
              <a:srgbClr val="3D5367"/>
            </a:solidFill>
          </a:ln>
        </p:spPr>
      </p:sp>
      <p:sp>
        <p:nvSpPr>
          <p:cNvPr id="30" name="PDF">
            <a:extLst xmlns:a="http://schemas.openxmlformats.org/drawingml/2006/main">
              <a:ext uri="{FF2B5EF4-FFF2-40B4-BE49-F238E27FC236}">
                <a16:creationId xmlns:a16="http://schemas.microsoft.com/office/drawing/2014/main" id="{7F5DC620-CDFF-444B-AD00-3753A06AE755}"/>
              </a:ext>
            </a:extLst>
          </p:cNvPr>
          <p:cNvSpPr>
            <a:spLocks xmlns:a="http://schemas.openxmlformats.org/drawingml/2006/main" noGrp="1"/>
          </p:cNvSpPr>
          <p:nvPr/>
        </p:nvSpPr>
        <p:spPr>
          <a:xfrm xmlns:a="http://schemas.openxmlformats.org/drawingml/2006/main">
            <a:off x="7096125" y="621982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F0BF68"/>
                </a:solidFill>
              </a:defRPr>
            </a:defPPr>
            <a:lvl1pPr algn="ctr">
              <a:defRPr sz="1500" b="1">
                <a:solidFill>
                  <a:srgbClr val="F0BF68"/>
                </a:solidFill>
              </a:defRPr>
            </a:lvl1pPr>
            <a:lvl2pPr algn="ctr">
              <a:defRPr sz="1500" b="1">
                <a:solidFill>
                  <a:srgbClr val="F0BF68"/>
                </a:solidFill>
              </a:defRPr>
            </a:lvl2pPr>
            <a:lvl3pPr algn="ctr">
              <a:defRPr sz="1500" b="1">
                <a:solidFill>
                  <a:srgbClr val="F0BF68"/>
                </a:solidFill>
              </a:defRPr>
            </a:lvl3pPr>
            <a:lvl4pPr algn="ctr">
              <a:defRPr sz="1500" b="1">
                <a:solidFill>
                  <a:srgbClr val="F0BF68"/>
                </a:solidFill>
              </a:defRPr>
            </a:lvl4pPr>
            <a:lvl5pPr algn="ctr">
              <a:defRPr sz="1500" b="1">
                <a:solidFill>
                  <a:srgbClr val="F0BF68"/>
                </a:solidFill>
              </a:defRPr>
            </a:lvl5pPr>
            <a:lvl6pPr algn="ctr">
              <a:defRPr sz="1500" b="1">
                <a:solidFill>
                  <a:srgbClr val="F0BF68"/>
                </a:solidFill>
              </a:defRPr>
            </a:lvl6pPr>
            <a:lvl7pPr algn="ctr">
              <a:defRPr sz="1500" b="1">
                <a:solidFill>
                  <a:srgbClr val="F0BF68"/>
                </a:solidFill>
              </a:defRPr>
            </a:lvl7pPr>
            <a:lvl8pPr algn="ctr">
              <a:defRPr sz="1500" b="1">
                <a:solidFill>
                  <a:srgbClr val="F0BF68"/>
                </a:solidFill>
              </a:defRPr>
            </a:lvl8pPr>
            <a:lvl9pPr algn="ctr">
              <a:defRPr sz="1500" b="1">
                <a:solidFill>
                  <a:srgbClr val="F0BF68"/>
                </a:solidFill>
              </a:defRPr>
            </a:lvl9pPr>
          </a:lstStyle>
          <a:p xmlns:a="http://schemas.openxmlformats.org/drawingml/2006/main">
            <a:pPr algn="ctr">
              <a:defRPr sz="1500" b="1">
                <a:solidFill>
                  <a:srgbClr val="F0BF68"/>
                </a:solidFill>
              </a:defRPr>
            </a:pPr>
            <a:r>
              <a:rPr sz="1500" b="1">
                <a:solidFill>
                  <a:srgbClr val="F0BF68"/>
                </a:solidFill>
              </a:rPr>
              <a:t>PDF</a:t>
            </a:r>
          </a:p>
        </p:txBody>
      </p:sp>
      <p:sp>
        <p:nvSpPr>
          <p:cNvPr id="31" name="Layout shape">
            <a:extLst xmlns:a="http://schemas.openxmlformats.org/drawingml/2006/main">
              <a:ext uri="{FF2B5EF4-FFF2-40B4-BE49-F238E27FC236}">
                <a16:creationId xmlns:a16="http://schemas.microsoft.com/office/drawing/2014/main" id="{FF3A71C7-8723-4BFD-ADFF-B12CDE1373CC}"/>
              </a:ext>
            </a:extLst>
          </p:cNvPr>
          <p:cNvSpPr>
            <a:spLocks xmlns:a="http://schemas.openxmlformats.org/drawingml/2006/main" noGrp="1"/>
          </p:cNvSpPr>
          <p:nvPr/>
        </p:nvSpPr>
        <p:spPr>
          <a:xfrm xmlns:a="http://schemas.openxmlformats.org/drawingml/2006/main">
            <a:off x="9182100" y="6172200"/>
            <a:ext cx="1466850" cy="400050"/>
          </a:xfrm>
          <a:prstGeom xmlns:a="http://schemas.openxmlformats.org/drawingml/2006/main" prst="roundRect">
            <a:avLst>
              <a:gd name="adj" fmla="val 11905"/>
            </a:avLst>
          </a:prstGeom>
          <a:solidFill xmlns:a="http://schemas.openxmlformats.org/drawingml/2006/main">
            <a:srgbClr val="153047"/>
          </a:solidFill>
          <a:ln xmlns:a="http://schemas.openxmlformats.org/drawingml/2006/main" w="9525">
            <a:solidFill>
              <a:srgbClr val="3D5367"/>
            </a:solidFill>
          </a:ln>
        </p:spPr>
      </p:sp>
      <p:sp>
        <p:nvSpPr>
          <p:cNvPr id="32" name="Excel">
            <a:extLst xmlns:a="http://schemas.openxmlformats.org/drawingml/2006/main">
              <a:ext uri="{FF2B5EF4-FFF2-40B4-BE49-F238E27FC236}">
                <a16:creationId xmlns:a16="http://schemas.microsoft.com/office/drawing/2014/main" id="{B21D7944-3E88-4587-8E4F-764A5F60A02E}"/>
              </a:ext>
            </a:extLst>
          </p:cNvPr>
          <p:cNvSpPr>
            <a:spLocks xmlns:a="http://schemas.openxmlformats.org/drawingml/2006/main" noGrp="1"/>
          </p:cNvSpPr>
          <p:nvPr/>
        </p:nvSpPr>
        <p:spPr>
          <a:xfrm xmlns:a="http://schemas.openxmlformats.org/drawingml/2006/main">
            <a:off x="9182100" y="6219825"/>
            <a:ext cx="146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ctr">
              <a:defRPr sz="1500" b="1">
                <a:solidFill>
                  <a:srgbClr val="F0BF68"/>
                </a:solidFill>
              </a:defRPr>
            </a:defPPr>
            <a:lvl1pPr algn="ctr">
              <a:defRPr sz="1500" b="1">
                <a:solidFill>
                  <a:srgbClr val="F0BF68"/>
                </a:solidFill>
              </a:defRPr>
            </a:lvl1pPr>
            <a:lvl2pPr algn="ctr">
              <a:defRPr sz="1500" b="1">
                <a:solidFill>
                  <a:srgbClr val="F0BF68"/>
                </a:solidFill>
              </a:defRPr>
            </a:lvl2pPr>
            <a:lvl3pPr algn="ctr">
              <a:defRPr sz="1500" b="1">
                <a:solidFill>
                  <a:srgbClr val="F0BF68"/>
                </a:solidFill>
              </a:defRPr>
            </a:lvl3pPr>
            <a:lvl4pPr algn="ctr">
              <a:defRPr sz="1500" b="1">
                <a:solidFill>
                  <a:srgbClr val="F0BF68"/>
                </a:solidFill>
              </a:defRPr>
            </a:lvl4pPr>
            <a:lvl5pPr algn="ctr">
              <a:defRPr sz="1500" b="1">
                <a:solidFill>
                  <a:srgbClr val="F0BF68"/>
                </a:solidFill>
              </a:defRPr>
            </a:lvl5pPr>
            <a:lvl6pPr algn="ctr">
              <a:defRPr sz="1500" b="1">
                <a:solidFill>
                  <a:srgbClr val="F0BF68"/>
                </a:solidFill>
              </a:defRPr>
            </a:lvl6pPr>
            <a:lvl7pPr algn="ctr">
              <a:defRPr sz="1500" b="1">
                <a:solidFill>
                  <a:srgbClr val="F0BF68"/>
                </a:solidFill>
              </a:defRPr>
            </a:lvl7pPr>
            <a:lvl8pPr algn="ctr">
              <a:defRPr sz="1500" b="1">
                <a:solidFill>
                  <a:srgbClr val="F0BF68"/>
                </a:solidFill>
              </a:defRPr>
            </a:lvl8pPr>
            <a:lvl9pPr algn="ctr">
              <a:defRPr sz="1500" b="1">
                <a:solidFill>
                  <a:srgbClr val="F0BF68"/>
                </a:solidFill>
              </a:defRPr>
            </a:lvl9pPr>
          </a:lstStyle>
          <a:p xmlns:a="http://schemas.openxmlformats.org/drawingml/2006/main">
            <a:pPr algn="ctr">
              <a:defRPr sz="1500" b="1">
                <a:solidFill>
                  <a:srgbClr val="F0BF68"/>
                </a:solidFill>
              </a:defRPr>
            </a:pPr>
            <a:r>
              <a:rPr sz="1500" b="1">
                <a:solidFill>
                  <a:srgbClr val="F0BF68"/>
                </a:solidFill>
              </a:rPr>
              <a:t>Excel</a:t>
            </a:r>
          </a:p>
        </p:txBody>
      </p:sp>
      <p:sp>
        <p:nvSpPr>
          <p:cNvPr id="33" name="Illustrative report structure">
            <a:extLst xmlns:a="http://schemas.openxmlformats.org/drawingml/2006/main">
              <a:ext uri="{FF2B5EF4-FFF2-40B4-BE49-F238E27FC236}">
                <a16:creationId xmlns:a16="http://schemas.microsoft.com/office/drawing/2014/main" id="{717A797A-9070-49B4-BA93-77A993E0E753}"/>
              </a:ext>
            </a:extLst>
          </p:cNvPr>
          <p:cNvSpPr>
            <a:spLocks xmlns:a="http://schemas.openxmlformats.org/drawingml/2006/main" noGrp="1"/>
          </p:cNvSpPr>
          <p:nvPr/>
        </p:nvSpPr>
        <p:spPr>
          <a:xfrm xmlns:a="http://schemas.openxmlformats.org/drawingml/2006/main">
            <a:off x="6286500" y="6600825"/>
            <a:ext cx="52101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900" b="0">
                <a:solidFill>
                  <a:srgbClr val="8DA5C0"/>
                </a:solidFill>
              </a:defRPr>
            </a:defPPr>
            <a:lvl1pPr algn="l">
              <a:defRPr sz="900" b="0">
                <a:solidFill>
                  <a:srgbClr val="8DA5C0"/>
                </a:solidFill>
              </a:defRPr>
            </a:lvl1pPr>
            <a:lvl2pPr algn="l">
              <a:defRPr sz="900" b="0">
                <a:solidFill>
                  <a:srgbClr val="8DA5C0"/>
                </a:solidFill>
              </a:defRPr>
            </a:lvl2pPr>
            <a:lvl3pPr algn="l">
              <a:defRPr sz="900" b="0">
                <a:solidFill>
                  <a:srgbClr val="8DA5C0"/>
                </a:solidFill>
              </a:defRPr>
            </a:lvl3pPr>
            <a:lvl4pPr algn="l">
              <a:defRPr sz="900" b="0">
                <a:solidFill>
                  <a:srgbClr val="8DA5C0"/>
                </a:solidFill>
              </a:defRPr>
            </a:lvl4pPr>
            <a:lvl5pPr algn="l">
              <a:defRPr sz="900" b="0">
                <a:solidFill>
                  <a:srgbClr val="8DA5C0"/>
                </a:solidFill>
              </a:defRPr>
            </a:lvl5pPr>
            <a:lvl6pPr algn="l">
              <a:defRPr sz="900" b="0">
                <a:solidFill>
                  <a:srgbClr val="8DA5C0"/>
                </a:solidFill>
              </a:defRPr>
            </a:lvl6pPr>
            <a:lvl7pPr algn="l">
              <a:defRPr sz="900" b="0">
                <a:solidFill>
                  <a:srgbClr val="8DA5C0"/>
                </a:solidFill>
              </a:defRPr>
            </a:lvl7pPr>
            <a:lvl8pPr algn="l">
              <a:defRPr sz="900" b="0">
                <a:solidFill>
                  <a:srgbClr val="8DA5C0"/>
                </a:solidFill>
              </a:defRPr>
            </a:lvl8pPr>
            <a:lvl9pPr algn="l">
              <a:defRPr sz="900" b="0">
                <a:solidFill>
                  <a:srgbClr val="8DA5C0"/>
                </a:solidFill>
              </a:defRPr>
            </a:lvl9pPr>
          </a:lstStyle>
          <a:p xmlns:a="http://schemas.openxmlformats.org/drawingml/2006/main">
            <a:pPr algn="l">
              <a:defRPr sz="900" b="0">
                <a:solidFill>
                  <a:srgbClr val="8DA5C0"/>
                </a:solidFill>
              </a:defRPr>
            </a:pPr>
            <a:r>
              <a:rPr sz="900" b="0">
                <a:solidFill>
                  <a:srgbClr val="8DA5C0"/>
                </a:solidFill>
              </a:rPr>
              <a:t>Illustrative report structure</a:t>
            </a:r>
          </a:p>
        </p:txBody>
      </p:sp>
    </p:spTree>
    <p:extLst>
      <p:ext uri="{BB962C8B-B14F-4D97-AF65-F5344CB8AC3E}">
        <p14:creationId xmlns:p14="http://schemas.microsoft.com/office/powerpoint/2010/main" val="686518599"/>
      </p:ext>
    </p:extLst>
  </p:cSld>
</p:sld>
</file>

<file path=ppt/slides/slide7.xml><?xml version="1.0" encoding="utf-8"?>
<p:sld xmlns:p="http://schemas.openxmlformats.org/presentationml/2006/main">
  <p:cSld>
    <p:bg>
      <p:bgPr>
        <a:solidFill xmlns:a="http://schemas.openxmlformats.org/drawingml/2006/main">
          <a:srgbClr val="08142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448D90-C72D-4511-9F1A-8D9891FCED79}"/>
              </a:ext>
            </a:extLst>
          </p:cNvPr>
          <p:cNvSpPr>
            <a:spLocks xmlns:a="http://schemas.openxmlformats.org/drawingml/2006/main" noGrp="1"/>
          </p:cNvSpPr>
          <p:nvPr/>
        </p:nvSpPr>
        <p:spPr>
          <a:xfrm xmlns:a="http://schemas.openxmlformats.org/drawingml/2006/main">
            <a:off x="457200" y="20955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1">
                <a:solidFill>
                  <a:srgbClr val="65D4EC"/>
                </a:solidFill>
              </a:defRPr>
            </a:defPPr>
            <a:lvl1pPr>
              <a:buNone/>
              <a:defRPr sz="1050" b="1">
                <a:solidFill>
                  <a:srgbClr val="65D4EC"/>
                </a:solidFill>
              </a:defRPr>
            </a:lvl1pPr>
            <a:lvl2pPr>
              <a:buNone/>
              <a:defRPr sz="1050" b="1">
                <a:solidFill>
                  <a:srgbClr val="65D4EC"/>
                </a:solidFill>
              </a:defRPr>
            </a:lvl2pPr>
            <a:lvl3pPr>
              <a:buNone/>
              <a:defRPr sz="1050" b="1">
                <a:solidFill>
                  <a:srgbClr val="65D4EC"/>
                </a:solidFill>
              </a:defRPr>
            </a:lvl3pPr>
            <a:lvl4pPr>
              <a:buNone/>
              <a:defRPr sz="1050" b="1">
                <a:solidFill>
                  <a:srgbClr val="65D4EC"/>
                </a:solidFill>
              </a:defRPr>
            </a:lvl4pPr>
            <a:lvl5pPr>
              <a:buNone/>
              <a:defRPr sz="1050" b="1">
                <a:solidFill>
                  <a:srgbClr val="65D4EC"/>
                </a:solidFill>
              </a:defRPr>
            </a:lvl5pPr>
            <a:lvl6pPr>
              <a:buNone/>
              <a:defRPr sz="1050" b="1">
                <a:solidFill>
                  <a:srgbClr val="65D4EC"/>
                </a:solidFill>
              </a:defRPr>
            </a:lvl6pPr>
            <a:lvl7pPr>
              <a:buNone/>
              <a:defRPr sz="1050" b="1">
                <a:solidFill>
                  <a:srgbClr val="65D4EC"/>
                </a:solidFill>
              </a:defRPr>
            </a:lvl7pPr>
            <a:lvl8pPr>
              <a:buNone/>
              <a:defRPr sz="1050" b="1">
                <a:solidFill>
                  <a:srgbClr val="65D4EC"/>
                </a:solidFill>
              </a:defRPr>
            </a:lvl8pPr>
            <a:lvl9pPr>
              <a:buNone/>
              <a:defRPr sz="1050" b="1">
                <a:solidFill>
                  <a:srgbClr val="65D4EC"/>
                </a:solidFill>
              </a:defRPr>
            </a:lvl9pPr>
          </a:lstStyle>
          <a:p xmlns:a="http://schemas.openxmlformats.org/drawingml/2006/main">
            <a:pPr>
              <a:buNone/>
              <a:defRPr sz="1050" b="1">
                <a:solidFill>
                  <a:srgbClr val="65D4EC"/>
                </a:solidFill>
              </a:defRPr>
            </a:pPr>
            <a:r>
              <a:rPr sz="1050" b="1">
                <a:solidFill>
                  <a:srgbClr val="65D4EC"/>
                </a:solidFill>
              </a:rPr>
              <a:t>METROLOGY WORKBENCH / IN THE SOFTWARE</a:t>
            </a:r>
          </a:p>
        </p:txBody>
      </p:sp>
      <p:sp>
        <p:nvSpPr>
          <p:cNvPr id="2" name="">
            <a:extLst xmlns:a="http://schemas.openxmlformats.org/drawingml/2006/main">
              <a:ext uri="{FF2B5EF4-FFF2-40B4-BE49-F238E27FC236}">
                <a16:creationId xmlns:a16="http://schemas.microsoft.com/office/drawing/2014/main" id="{5326F779-1F87-46C1-B455-1C8C0E0D08FA}"/>
              </a:ext>
            </a:extLst>
          </p:cNvPr>
          <p:cNvSpPr>
            <a:spLocks xmlns:a="http://schemas.openxmlformats.org/drawingml/2006/main" noGrp="1"/>
          </p:cNvSpPr>
          <p:nvPr/>
        </p:nvSpPr>
        <p:spPr>
          <a:xfrm xmlns:a="http://schemas.openxmlformats.org/drawingml/2006/main">
            <a:off x="457200" y="514350"/>
            <a:ext cx="11334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850" b="1">
                <a:solidFill>
                  <a:srgbClr val="FFFFFF"/>
                </a:solidFill>
              </a:defRPr>
            </a:defPPr>
            <a:lvl1pPr>
              <a:buNone/>
              <a:defRPr sz="2850" b="1">
                <a:solidFill>
                  <a:srgbClr val="FFFFFF"/>
                </a:solidFill>
              </a:defRPr>
            </a:lvl1pPr>
            <a:lvl2pPr>
              <a:buNone/>
              <a:defRPr sz="2850" b="1">
                <a:solidFill>
                  <a:srgbClr val="FFFFFF"/>
                </a:solidFill>
              </a:defRPr>
            </a:lvl2pPr>
            <a:lvl3pPr>
              <a:buNone/>
              <a:defRPr sz="2850" b="1">
                <a:solidFill>
                  <a:srgbClr val="FFFFFF"/>
                </a:solidFill>
              </a:defRPr>
            </a:lvl3pPr>
            <a:lvl4pPr>
              <a:buNone/>
              <a:defRPr sz="2850" b="1">
                <a:solidFill>
                  <a:srgbClr val="FFFFFF"/>
                </a:solidFill>
              </a:defRPr>
            </a:lvl4pPr>
            <a:lvl5pPr>
              <a:buNone/>
              <a:defRPr sz="2850" b="1">
                <a:solidFill>
                  <a:srgbClr val="FFFFFF"/>
                </a:solidFill>
              </a:defRPr>
            </a:lvl5pPr>
            <a:lvl6pPr>
              <a:buNone/>
              <a:defRPr sz="2850" b="1">
                <a:solidFill>
                  <a:srgbClr val="FFFFFF"/>
                </a:solidFill>
              </a:defRPr>
            </a:lvl6pPr>
            <a:lvl7pPr>
              <a:buNone/>
              <a:defRPr sz="2850" b="1">
                <a:solidFill>
                  <a:srgbClr val="FFFFFF"/>
                </a:solidFill>
              </a:defRPr>
            </a:lvl7pPr>
            <a:lvl8pPr>
              <a:buNone/>
              <a:defRPr sz="2850" b="1">
                <a:solidFill>
                  <a:srgbClr val="FFFFFF"/>
                </a:solidFill>
              </a:defRPr>
            </a:lvl8pPr>
            <a:lvl9pPr>
              <a:buNone/>
              <a:defRPr sz="2850" b="1">
                <a:solidFill>
                  <a:srgbClr val="FFFFFF"/>
                </a:solidFill>
              </a:defRPr>
            </a:lvl9pPr>
          </a:lstStyle>
          <a:p xmlns:a="http://schemas.openxmlformats.org/drawingml/2006/main">
            <a:pPr>
              <a:buNone/>
              <a:defRPr sz="2850" b="1">
                <a:solidFill>
                  <a:srgbClr val="FFFFFF"/>
                </a:solidFill>
              </a:defRPr>
            </a:pPr>
            <a:r>
              <a:rPr sz="2850" b="1">
                <a:solidFill>
                  <a:srgbClr val="FFFFFF"/>
                </a:solidFill>
              </a:rPr>
              <a:t>Review the report before export</a:t>
            </a:r>
          </a:p>
        </p:txBody>
      </p:sp>
      <p:sp>
        <p:nvSpPr>
          <p:cNvPr id="3" name="">
            <a:extLst xmlns:a="http://schemas.openxmlformats.org/drawingml/2006/main">
              <a:ext uri="{FF2B5EF4-FFF2-40B4-BE49-F238E27FC236}">
                <a16:creationId xmlns:a16="http://schemas.microsoft.com/office/drawing/2014/main" id="{2751CB3D-3943-430F-A649-0C0833028233}"/>
              </a:ext>
            </a:extLst>
          </p:cNvPr>
          <p:cNvSpPr>
            <a:spLocks xmlns:a="http://schemas.openxmlformats.org/drawingml/2006/main" noGrp="1"/>
          </p:cNvSpPr>
          <p:nvPr/>
        </p:nvSpPr>
        <p:spPr>
          <a:xfrm xmlns:a="http://schemas.openxmlformats.org/drawingml/2006/main">
            <a:off x="457200" y="1028700"/>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500" b="0">
                <a:solidFill>
                  <a:srgbClr val="CAD6E8"/>
                </a:solidFill>
              </a:defRPr>
            </a:defPPr>
            <a:lvl1pPr>
              <a:buNone/>
              <a:defRPr sz="1500" b="0">
                <a:solidFill>
                  <a:srgbClr val="CAD6E8"/>
                </a:solidFill>
              </a:defRPr>
            </a:lvl1pPr>
            <a:lvl2pPr>
              <a:buNone/>
              <a:defRPr sz="1500" b="0">
                <a:solidFill>
                  <a:srgbClr val="CAD6E8"/>
                </a:solidFill>
              </a:defRPr>
            </a:lvl2pPr>
            <a:lvl3pPr>
              <a:buNone/>
              <a:defRPr sz="1500" b="0">
                <a:solidFill>
                  <a:srgbClr val="CAD6E8"/>
                </a:solidFill>
              </a:defRPr>
            </a:lvl3pPr>
            <a:lvl4pPr>
              <a:buNone/>
              <a:defRPr sz="1500" b="0">
                <a:solidFill>
                  <a:srgbClr val="CAD6E8"/>
                </a:solidFill>
              </a:defRPr>
            </a:lvl4pPr>
            <a:lvl5pPr>
              <a:buNone/>
              <a:defRPr sz="1500" b="0">
                <a:solidFill>
                  <a:srgbClr val="CAD6E8"/>
                </a:solidFill>
              </a:defRPr>
            </a:lvl5pPr>
            <a:lvl6pPr>
              <a:buNone/>
              <a:defRPr sz="1500" b="0">
                <a:solidFill>
                  <a:srgbClr val="CAD6E8"/>
                </a:solidFill>
              </a:defRPr>
            </a:lvl6pPr>
            <a:lvl7pPr>
              <a:buNone/>
              <a:defRPr sz="1500" b="0">
                <a:solidFill>
                  <a:srgbClr val="CAD6E8"/>
                </a:solidFill>
              </a:defRPr>
            </a:lvl7pPr>
            <a:lvl8pPr>
              <a:buNone/>
              <a:defRPr sz="1500" b="0">
                <a:solidFill>
                  <a:srgbClr val="CAD6E8"/>
                </a:solidFill>
              </a:defRPr>
            </a:lvl8pPr>
            <a:lvl9pPr>
              <a:buNone/>
              <a:defRPr sz="1500" b="0">
                <a:solidFill>
                  <a:srgbClr val="CAD6E8"/>
                </a:solidFill>
              </a:defRPr>
            </a:lvl9pPr>
          </a:lstStyle>
          <a:p xmlns:a="http://schemas.openxmlformats.org/drawingml/2006/main">
            <a:pPr>
              <a:buNone/>
              <a:defRPr sz="1500" b="0">
                <a:solidFill>
                  <a:srgbClr val="CAD6E8"/>
                </a:solidFill>
              </a:defRPr>
            </a:pPr>
            <a:r>
              <a:rPr sz="1500" b="0">
                <a:solidFill>
                  <a:srgbClr val="CAD6E8"/>
                </a:solidFill>
              </a:rPr>
              <a:t>Organize report sections, inspect the PDF preview and export the completed document.</a:t>
            </a:r>
          </a:p>
        </p:txBody>
      </p:sp>
      <p:sp>
        <p:nvSpPr>
          <p:cNvPr id="4" name="">
            <a:extLst xmlns:a="http://schemas.openxmlformats.org/drawingml/2006/main">
              <a:ext uri="{FF2B5EF4-FFF2-40B4-BE49-F238E27FC236}">
                <a16:creationId xmlns:a16="http://schemas.microsoft.com/office/drawing/2014/main" id="{2ADA2710-D755-4467-ABB9-00E0B7FD4F31}"/>
              </a:ext>
            </a:extLst>
          </p:cNvPr>
          <p:cNvSpPr>
            <a:spLocks xmlns:a="http://schemas.openxmlformats.org/drawingml/2006/main" noGrp="1"/>
          </p:cNvSpPr>
          <p:nvPr/>
        </p:nvSpPr>
        <p:spPr>
          <a:xfrm xmlns:a="http://schemas.openxmlformats.org/drawingml/2006/main">
            <a:off x="1347207" y="1476375"/>
            <a:ext cx="9497587" cy="4876800"/>
          </a:xfrm>
          <a:prstGeom xmlns:a="http://schemas.openxmlformats.org/drawingml/2006/main" prst="rect">
            <a:avLst/>
          </a:prstGeom>
          <a:solidFill xmlns:a="http://schemas.openxmlformats.org/drawingml/2006/main">
            <a:srgbClr val="0D182A"/>
          </a:solidFill>
          <a:ln xmlns:a="http://schemas.openxmlformats.org/drawingml/2006/main" w="9525">
            <a:solidFill>
              <a:srgbClr val="294560"/>
            </a:solidFill>
          </a:ln>
        </p:spPr>
      </p:sp>
      <p:pic>
        <p:nvPicPr>
          <p:cNvPr id="5" name="">
            <a:extLst xmlns:a="http://schemas.openxmlformats.org/drawingml/2006/main">
              <a:ext uri="{FF2B5EF4-FFF2-40B4-BE49-F238E27FC236}">
                <a16:creationId xmlns:a16="http://schemas.microsoft.com/office/drawing/2014/main" id="{139EE859-5175-4C4F-B958-CBAE1237950B}"/>
              </a:ext>
            </a:extLst>
          </p:cNvPr>
          <p:cNvPicPr>
            <a:picLocks xmlns:a="http://schemas.openxmlformats.org/drawingml/2006/main" noChangeAspect="1"/>
          </p:cNvPicPr>
          <p:nvPr/>
        </p:nvPicPr>
        <p:blipFill>
          <a:blip xmlns:r="http://schemas.openxmlformats.org/officeDocument/2006/relationships" xmlns:a="http://schemas.openxmlformats.org/drawingml/2006/main" r:embed="R0dd015ca305248ae"/>
          <a:stretch xmlns:a="http://schemas.openxmlformats.org/drawingml/2006/main"/>
        </p:blipFill>
        <p:spPr>
          <a:xfrm xmlns:a="http://schemas.openxmlformats.org/drawingml/2006/main">
            <a:off x="1356732" y="1485900"/>
            <a:ext cx="9478537" cy="4857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3D80C81-510B-4557-8BE6-42DD7BFFBC0C}"/>
              </a:ext>
            </a:extLst>
          </p:cNvPr>
          <p:cNvSpPr>
            <a:spLocks xmlns:a="http://schemas.openxmlformats.org/drawingml/2006/main" noGrp="1"/>
          </p:cNvSpPr>
          <p:nvPr/>
        </p:nvSpPr>
        <p:spPr>
          <a:xfrm xmlns:a="http://schemas.openxmlformats.org/drawingml/2006/main">
            <a:off x="457200" y="6515100"/>
            <a:ext cx="11277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50" b="0">
                <a:solidFill>
                  <a:srgbClr val="94AAC5"/>
                </a:solidFill>
              </a:defRPr>
            </a:defPPr>
            <a:lvl1pPr>
              <a:buNone/>
              <a:defRPr sz="1050" b="0">
                <a:solidFill>
                  <a:srgbClr val="94AAC5"/>
                </a:solidFill>
              </a:defRPr>
            </a:lvl1pPr>
            <a:lvl2pPr>
              <a:buNone/>
              <a:defRPr sz="1050" b="0">
                <a:solidFill>
                  <a:srgbClr val="94AAC5"/>
                </a:solidFill>
              </a:defRPr>
            </a:lvl2pPr>
            <a:lvl3pPr>
              <a:buNone/>
              <a:defRPr sz="1050" b="0">
                <a:solidFill>
                  <a:srgbClr val="94AAC5"/>
                </a:solidFill>
              </a:defRPr>
            </a:lvl3pPr>
            <a:lvl4pPr>
              <a:buNone/>
              <a:defRPr sz="1050" b="0">
                <a:solidFill>
                  <a:srgbClr val="94AAC5"/>
                </a:solidFill>
              </a:defRPr>
            </a:lvl4pPr>
            <a:lvl5pPr>
              <a:buNone/>
              <a:defRPr sz="1050" b="0">
                <a:solidFill>
                  <a:srgbClr val="94AAC5"/>
                </a:solidFill>
              </a:defRPr>
            </a:lvl5pPr>
            <a:lvl6pPr>
              <a:buNone/>
              <a:defRPr sz="1050" b="0">
                <a:solidFill>
                  <a:srgbClr val="94AAC5"/>
                </a:solidFill>
              </a:defRPr>
            </a:lvl6pPr>
            <a:lvl7pPr>
              <a:buNone/>
              <a:defRPr sz="1050" b="0">
                <a:solidFill>
                  <a:srgbClr val="94AAC5"/>
                </a:solidFill>
              </a:defRPr>
            </a:lvl7pPr>
            <a:lvl8pPr>
              <a:buNone/>
              <a:defRPr sz="1050" b="0">
                <a:solidFill>
                  <a:srgbClr val="94AAC5"/>
                </a:solidFill>
              </a:defRPr>
            </a:lvl8pPr>
            <a:lvl9pPr>
              <a:buNone/>
              <a:defRPr sz="1050" b="0">
                <a:solidFill>
                  <a:srgbClr val="94AAC5"/>
                </a:solidFill>
              </a:defRPr>
            </a:lvl9pPr>
          </a:lstStyle>
          <a:p xmlns:a="http://schemas.openxmlformats.org/drawingml/2006/main">
            <a:pPr>
              <a:buNone/>
              <a:defRPr sz="1050" b="0">
                <a:solidFill>
                  <a:srgbClr val="94AAC5"/>
                </a:solidFill>
              </a:defRPr>
            </a:pPr>
            <a:r>
              <a:rPr sz="1050" b="0">
                <a:solidFill>
                  <a:srgbClr val="94AAC5"/>
                </a:solidFill>
              </a:rPr>
              <a:t>Actual software using demonstration data  |  Companion video: 03-report-walkthrough.webm</a:t>
            </a:r>
          </a:p>
        </p:txBody>
      </p:sp>
    </p:spTree>
    <p:extLst>
      <p:ext uri="{BB962C8B-B14F-4D97-AF65-F5344CB8AC3E}">
        <p14:creationId xmlns:p14="http://schemas.microsoft.com/office/powerpoint/2010/main" val="6847906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2026-10-21T18:16:25.9060000Z</dcterms:created>
  <dcterms:modified xsi:type="dcterms:W3CDTF">2026-10-21T18:16:25.9070000Z</dcterms:modified>
</coreProperties>
</file>